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12.xml" ContentType="application/vnd.openxmlformats-officedocument.theme+xml"/>
  <Override PartName="/ppt/presentation.xml" ContentType="application/vnd.openxmlformats-officedocument.presentationml.presentation.main+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media/image7.svg" ContentType="image/svg"/>
  <Override PartName="/ppt/media/image5.svg" ContentType="image/svg"/>
  <Override PartName="/ppt/media/image9.svg" ContentType="image/svg"/>
  <Override PartName="/ppt/media/image25.svg" ContentType="image/svg"/>
  <Override PartName="/ppt/media/image20.svg" ContentType="image/svg"/>
  <Override PartName="/ppt/media/image30.svg" ContentType="image/svg"/>
  <Override PartName="/ppt/media/image28.svg" ContentType="image/svg"/>
  <Override PartName="/ppt/media/image33.svg" ContentType="image/svg"/>
  <Override PartName="/ppt/slideMasters/slideMaster1.xml" ContentType="application/vnd.openxmlformats-officedocument.presentationml.slideMaster+xml"/>
  <Override PartName="/ppt/notesSlides/notesSlide17.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4.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16.xml" ContentType="application/vnd.openxmlformats-officedocument.presentationml.notesSlide+xml"/>
  <Override PartName="/ppt/notesSlides/notesSlide19.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embedTrueTypeFonts="1">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Lst>
  <p:sldSz cx="14630400" cy="8229600"/>
  <p:notesSz cx="8229600" cy="14630400"/>
  <p:embeddedFontLst>
    <p:embeddedFont>
      <p:font typeface="Calibri Light"/>
    </p:embeddedFont>
    <p:embeddedFont>
      <p:font typeface="Inter"/>
      <p:bold r:id="rId24"/>
    </p:embeddedFont>
    <p:embeddedFont>
      <p:font typeface="Inter bold"/>
    </p:embeddedFont>
    <p:embeddedFont>
      <p:font typeface="Consolas"/>
      <p:regular r:id="rId25"/>
      <p:bold r:id="rId26"/>
      <p:italic r:id="rId27"/>
      <p:boldItalic r:id="rId28"/>
    </p:embeddedFont>
    <p:embeddedFont>
      <p:font typeface="Inter Bold"/>
    </p:embeddedFont>
    <p:embeddedFont>
      <p:font typeface="Microsoft YaHei"/>
    </p:embeddedFont>
    <p:embeddedFont>
      <p:font typeface="Lucida Sans"/>
    </p:embeddedFont>
  </p:embeddedFont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font" Target="fonts/Font_1_Inter_Bold.fntdata"/><Relationship Id="rId25" Type="http://schemas.openxmlformats.org/officeDocument/2006/relationships/font" Target="fonts/Font_2_Consolas_Regular.fntdata"/><Relationship Id="rId26" Type="http://schemas.openxmlformats.org/officeDocument/2006/relationships/font" Target="fonts/Font_3_Consolas_Bold.fntdata"/><Relationship Id="rId27" Type="http://schemas.openxmlformats.org/officeDocument/2006/relationships/font" Target="fonts/Font_4_Consolas_Italic.fntdata"/><Relationship Id="rId28" Type="http://schemas.openxmlformats.org/officeDocument/2006/relationships/font" Target="fonts/Font_5_Consolas_BoldItalic.fntdata"/><Relationship Id="rId2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PlaceHolder 1"/>
          <p:cNvSpPr>
            <a:spLocks noGrp="1"/>
          </p:cNvSpPr>
          <p:nvPr>
            <p:ph type="sldImg"/>
          </p:nvPr>
        </p:nvSpPr>
        <p:spPr>
          <a:xfrm>
            <a:off x="0" y="764280"/>
            <a:ext cx="0" cy="0"/>
          </a:xfrm>
          <a:prstGeom prst="rect">
            <a:avLst/>
          </a:prstGeom>
          <a:noFill/>
          <a:ln w="0">
            <a:noFill/>
          </a:ln>
        </p:spPr>
        <p:txBody>
          <a:bodyPr lIns="0" rIns="0" tIns="0" bIns="0" anchor="ctr">
            <a:noAutofit/>
          </a:bodyPr>
          <a:p>
            <a:pPr algn="ctr"/>
            <a:r>
              <a:rPr lang="en-US" sz="4400" b="0" u="none" strike="noStrike">
                <a:solidFill>
                  <a:srgbClr val="000000"/>
                </a:solidFill>
                <a:effectLst/>
                <a:uFillTx/>
                <a:latin typeface="Arial"/>
              </a:rPr>
              <a:t>Click to move the slide</a:t>
            </a:r>
            <a:endParaRPr lang="en-US" sz="4400" b="0" u="none" strike="noStrike">
              <a:solidFill>
                <a:srgbClr val="000000"/>
              </a:solidFill>
              <a:effectLst/>
              <a:uFillTx/>
              <a:latin typeface="Arial"/>
            </a:endParaRPr>
          </a:p>
        </p:txBody>
      </p:sp>
      <p:sp>
        <p:nvSpPr>
          <p:cNvPr id="53"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54"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55"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56"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7"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CD209E59-AA3A-4303-8FA8-F734B033CA9A}"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PlaceHolder 1"/>
          <p:cNvSpPr>
            <a:spLocks noGrp="1"/>
          </p:cNvSpPr>
          <p:nvPr>
            <p:ph type="sldImg"/>
          </p:nvPr>
        </p:nvSpPr>
        <p:spPr>
          <a:xfrm>
            <a:off x="685800" y="1143000"/>
            <a:ext cx="5484600" cy="3084480"/>
          </a:xfrm>
          <a:prstGeom prst="rect">
            <a:avLst/>
          </a:prstGeom>
          <a:ln w="0">
            <a:noFill/>
          </a:ln>
        </p:spPr>
      </p:sp>
      <p:sp>
        <p:nvSpPr>
          <p:cNvPr id="278"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279" name="PlaceHolder 3"/>
          <p:cNvSpPr>
            <a:spLocks noGrp="1"/>
          </p:cNvSpPr>
          <p:nvPr>
            <p:ph type="sldNum" idx="4"/>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5ABB660A-436C-4A47-9294-5E5ADA51126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sldImg"/>
          </p:nvPr>
        </p:nvSpPr>
        <p:spPr>
          <a:xfrm>
            <a:off x="685800" y="1143000"/>
            <a:ext cx="5484600" cy="3084480"/>
          </a:xfrm>
          <a:prstGeom prst="rect">
            <a:avLst/>
          </a:prstGeom>
          <a:ln w="0">
            <a:noFill/>
          </a:ln>
        </p:spPr>
      </p:sp>
      <p:sp>
        <p:nvSpPr>
          <p:cNvPr id="281"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282" name="PlaceHolder 3"/>
          <p:cNvSpPr>
            <a:spLocks noGrp="1"/>
          </p:cNvSpPr>
          <p:nvPr>
            <p:ph type="sldNum" idx="5"/>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73A60CC6-4DD6-43A3-AB52-CAED7A3E2DA0}"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PlaceHolder 1"/>
          <p:cNvSpPr>
            <a:spLocks noGrp="1"/>
          </p:cNvSpPr>
          <p:nvPr>
            <p:ph type="sldImg"/>
          </p:nvPr>
        </p:nvSpPr>
        <p:spPr>
          <a:xfrm>
            <a:off x="685800" y="1143000"/>
            <a:ext cx="5484600" cy="3084480"/>
          </a:xfrm>
          <a:prstGeom prst="rect">
            <a:avLst/>
          </a:prstGeom>
          <a:ln w="0">
            <a:noFill/>
          </a:ln>
        </p:spPr>
      </p:sp>
      <p:sp>
        <p:nvSpPr>
          <p:cNvPr id="284"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285" name="PlaceHolder 3"/>
          <p:cNvSpPr>
            <a:spLocks noGrp="1"/>
          </p:cNvSpPr>
          <p:nvPr>
            <p:ph type="sldNum" idx="6"/>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7E2DDFF1-DA9A-4EAC-8A4F-B2DEDF3981F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PlaceHolder 1"/>
          <p:cNvSpPr>
            <a:spLocks noGrp="1"/>
          </p:cNvSpPr>
          <p:nvPr>
            <p:ph type="sldImg"/>
          </p:nvPr>
        </p:nvSpPr>
        <p:spPr>
          <a:xfrm>
            <a:off x="685800" y="1143000"/>
            <a:ext cx="5484600" cy="3084480"/>
          </a:xfrm>
          <a:prstGeom prst="rect">
            <a:avLst/>
          </a:prstGeom>
          <a:ln w="0">
            <a:noFill/>
          </a:ln>
        </p:spPr>
      </p:sp>
      <p:sp>
        <p:nvSpPr>
          <p:cNvPr id="287"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288" name="PlaceHolder 3"/>
          <p:cNvSpPr>
            <a:spLocks noGrp="1"/>
          </p:cNvSpPr>
          <p:nvPr>
            <p:ph type="sldNum" idx="7"/>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0BF0346E-00C6-44C7-BA81-31813DC2AA6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PlaceHolder 1"/>
          <p:cNvSpPr>
            <a:spLocks noGrp="1"/>
          </p:cNvSpPr>
          <p:nvPr>
            <p:ph type="sldImg"/>
          </p:nvPr>
        </p:nvSpPr>
        <p:spPr>
          <a:xfrm>
            <a:off x="685800" y="1143000"/>
            <a:ext cx="5484600" cy="3084480"/>
          </a:xfrm>
          <a:prstGeom prst="rect">
            <a:avLst/>
          </a:prstGeom>
          <a:ln w="0">
            <a:noFill/>
          </a:ln>
        </p:spPr>
      </p:sp>
      <p:sp>
        <p:nvSpPr>
          <p:cNvPr id="290"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291" name="PlaceHolder 3"/>
          <p:cNvSpPr>
            <a:spLocks noGrp="1"/>
          </p:cNvSpPr>
          <p:nvPr>
            <p:ph type="sldNum" idx="8"/>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C90CDD3D-A6EE-497D-B0AF-0755DAFD9C2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PlaceHolder 1"/>
          <p:cNvSpPr>
            <a:spLocks noGrp="1"/>
          </p:cNvSpPr>
          <p:nvPr>
            <p:ph type="sldImg"/>
          </p:nvPr>
        </p:nvSpPr>
        <p:spPr>
          <a:xfrm>
            <a:off x="685800" y="1143000"/>
            <a:ext cx="5484600" cy="3084480"/>
          </a:xfrm>
          <a:prstGeom prst="rect">
            <a:avLst/>
          </a:prstGeom>
          <a:ln w="0">
            <a:noFill/>
          </a:ln>
        </p:spPr>
      </p:sp>
      <p:sp>
        <p:nvSpPr>
          <p:cNvPr id="293"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294" name="PlaceHolder 3"/>
          <p:cNvSpPr>
            <a:spLocks noGrp="1"/>
          </p:cNvSpPr>
          <p:nvPr>
            <p:ph type="sldNum" idx="9"/>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A11A7338-F53B-473B-AF3E-89655EFB1AE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PlaceHolder 1"/>
          <p:cNvSpPr>
            <a:spLocks noGrp="1"/>
          </p:cNvSpPr>
          <p:nvPr>
            <p:ph type="sldImg"/>
          </p:nvPr>
        </p:nvSpPr>
        <p:spPr>
          <a:xfrm>
            <a:off x="685800" y="1143000"/>
            <a:ext cx="5484600" cy="3084480"/>
          </a:xfrm>
          <a:prstGeom prst="rect">
            <a:avLst/>
          </a:prstGeom>
          <a:ln w="0">
            <a:noFill/>
          </a:ln>
        </p:spPr>
      </p:sp>
      <p:sp>
        <p:nvSpPr>
          <p:cNvPr id="296"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297" name="PlaceHolder 3"/>
          <p:cNvSpPr>
            <a:spLocks noGrp="1"/>
          </p:cNvSpPr>
          <p:nvPr>
            <p:ph type="sldNum" idx="10"/>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4FB4535B-EC4A-454C-9702-AFCAA6296D7D}"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PlaceHolder 1"/>
          <p:cNvSpPr>
            <a:spLocks noGrp="1"/>
          </p:cNvSpPr>
          <p:nvPr>
            <p:ph type="sldImg"/>
          </p:nvPr>
        </p:nvSpPr>
        <p:spPr>
          <a:xfrm>
            <a:off x="685800" y="1143000"/>
            <a:ext cx="5484600" cy="3084480"/>
          </a:xfrm>
          <a:prstGeom prst="rect">
            <a:avLst/>
          </a:prstGeom>
          <a:ln w="0">
            <a:noFill/>
          </a:ln>
        </p:spPr>
      </p:sp>
      <p:sp>
        <p:nvSpPr>
          <p:cNvPr id="299"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300" name="PlaceHolder 3"/>
          <p:cNvSpPr>
            <a:spLocks noGrp="1"/>
          </p:cNvSpPr>
          <p:nvPr>
            <p:ph type="sldNum" idx="11"/>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0A304428-1651-43AF-8C23-FBE88D8D7280}"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 name="PlaceHolder 1"/>
          <p:cNvSpPr>
            <a:spLocks noGrp="1"/>
          </p:cNvSpPr>
          <p:nvPr>
            <p:ph type="sldImg"/>
          </p:nvPr>
        </p:nvSpPr>
        <p:spPr>
          <a:xfrm>
            <a:off x="685800" y="1143000"/>
            <a:ext cx="5484600" cy="3084480"/>
          </a:xfrm>
          <a:prstGeom prst="rect">
            <a:avLst/>
          </a:prstGeom>
          <a:ln w="0">
            <a:noFill/>
          </a:ln>
        </p:spPr>
      </p:sp>
      <p:sp>
        <p:nvSpPr>
          <p:cNvPr id="302"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303" name="PlaceHolder 3"/>
          <p:cNvSpPr>
            <a:spLocks noGrp="1"/>
          </p:cNvSpPr>
          <p:nvPr>
            <p:ph type="sldNum" idx="12"/>
          </p:nvPr>
        </p:nvSpPr>
        <p:spPr>
          <a:xfrm>
            <a:off x="3884760" y="8685360"/>
            <a:ext cx="2970000" cy="45684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382BCA19-40B0-4610-989D-9C8FCBA4545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8 master">
    <p:spTree>
      <p:nvGrpSpPr>
        <p:cNvPr id="1" name=""/>
        <p:cNvGrpSpPr/>
        <p:nvPr/>
      </p:nvGrpSpPr>
      <p:grpSpPr>
        <a:xfrm>
          <a:off x="0" y="0"/>
          <a:ext cx="0" cy="0"/>
          <a:chOff x="0" y="0"/>
          <a:chExt cx="0" cy="0"/>
        </a:xfrm>
      </p:grpSpPr>
      <p:sp>
        <p:nvSpPr>
          <p:cNvPr id="2" name="Shape 0"/>
          <p:cNvSpPr/>
          <p:nvPr/>
        </p:nvSpPr>
        <p:spPr>
          <a:xfrm>
            <a:off x="0" y="0"/>
            <a:ext cx="14628600" cy="8227800"/>
          </a:xfrm>
          <a:prstGeom prst="rect">
            <a:avLst/>
          </a:prstGeom>
          <a:solidFill>
            <a:srgbClr val="f6f4f4"/>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3" name="Shape 1"/>
          <p:cNvSpPr/>
          <p:nvPr/>
        </p:nvSpPr>
        <p:spPr>
          <a:xfrm>
            <a:off x="0" y="0"/>
            <a:ext cx="14628600" cy="822780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pic>
        <p:nvPicPr>
          <p:cNvPr id="4" name="Image 0" descr="preencoded.png">
            <a:hlinkClick r:id="rId2"/>
          </p:cNvPr>
          <p:cNvPicPr/>
          <p:nvPr/>
        </p:nvPicPr>
        <p:blipFill>
          <a:blip r:embed="rId3"/>
          <a:stretch/>
        </p:blipFill>
        <p:spPr>
          <a:xfrm>
            <a:off x="12839040" y="7749720"/>
            <a:ext cx="1720800" cy="409680"/>
          </a:xfrm>
          <a:prstGeom prst="rect">
            <a:avLst/>
          </a:prstGeom>
          <a:noFill/>
          <a:ln w="0">
            <a:noFill/>
          </a:ln>
        </p:spPr>
      </p:pic>
      <p:sp>
        <p:nvSpPr>
          <p:cNvPr id="5" name="PlaceHolder 1"/>
          <p:cNvSpPr>
            <a:spLocks noGrp="1"/>
          </p:cNvSpPr>
          <p:nvPr>
            <p:ph type="title"/>
          </p:nvPr>
        </p:nvSpPr>
        <p:spPr>
          <a:xfrm>
            <a:off x="731520" y="328320"/>
            <a:ext cx="13165560" cy="1372320"/>
          </a:xfrm>
          <a:prstGeom prst="rect">
            <a:avLst/>
          </a:prstGeom>
          <a:noFill/>
          <a:ln w="0">
            <a:noFill/>
          </a:ln>
        </p:spPr>
        <p:txBody>
          <a:bodyPr lIns="0" rIns="0" tIns="0" bIns="0" anchor="ctr">
            <a:noAutofit/>
          </a:bodyPr>
          <a:p>
            <a:pPr indent="0" algn="ctr">
              <a:lnSpc>
                <a:spcPct val="100000"/>
              </a:lnSpc>
              <a:buNone/>
              <a:tabLst>
                <a:tab algn="l" pos="0"/>
              </a:tabLst>
            </a:pPr>
            <a:r>
              <a:rPr lang="en-US" sz="4400" b="0" u="none" strike="noStrike">
                <a:solidFill>
                  <a:schemeClr val="dk1"/>
                </a:solidFill>
                <a:effectLst/>
                <a:uFillTx/>
                <a:latin typeface="Calibri Light"/>
              </a:rPr>
              <a:t>Click to edit the title text format</a:t>
            </a:r>
            <a:endParaRPr lang="en-US" sz="4400" b="0" u="none" strike="noStrike">
              <a:solidFill>
                <a:srgbClr val="000000"/>
              </a:solidFill>
              <a:effectLst/>
              <a:uFillTx/>
              <a:latin typeface="Arial"/>
            </a:endParaRPr>
          </a:p>
        </p:txBody>
      </p:sp>
      <p:sp>
        <p:nvSpPr>
          <p:cNvPr id="6" name="PlaceHolder 2"/>
          <p:cNvSpPr>
            <a:spLocks noGrp="1"/>
          </p:cNvSpPr>
          <p:nvPr>
            <p:ph type="body"/>
          </p:nvPr>
        </p:nvSpPr>
        <p:spPr>
          <a:xfrm>
            <a:off x="731520" y="1925640"/>
            <a:ext cx="13165560" cy="47710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9 master">
    <p:spTree>
      <p:nvGrpSpPr>
        <p:cNvPr id="1" name=""/>
        <p:cNvGrpSpPr/>
        <p:nvPr/>
      </p:nvGrpSpPr>
      <p:grpSpPr>
        <a:xfrm>
          <a:off x="0" y="0"/>
          <a:ext cx="0" cy="0"/>
          <a:chOff x="0" y="0"/>
          <a:chExt cx="0" cy="0"/>
        </a:xfrm>
      </p:grpSpPr>
      <p:sp>
        <p:nvSpPr>
          <p:cNvPr id="7" name="Shape 0"/>
          <p:cNvSpPr/>
          <p:nvPr/>
        </p:nvSpPr>
        <p:spPr>
          <a:xfrm>
            <a:off x="0" y="0"/>
            <a:ext cx="14628600" cy="8227800"/>
          </a:xfrm>
          <a:prstGeom prst="rect">
            <a:avLst/>
          </a:prstGeom>
          <a:solidFill>
            <a:srgbClr val="f6f4f4"/>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8" name="Shape 1"/>
          <p:cNvSpPr/>
          <p:nvPr/>
        </p:nvSpPr>
        <p:spPr>
          <a:xfrm>
            <a:off x="0" y="0"/>
            <a:ext cx="14628600" cy="822780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pic>
        <p:nvPicPr>
          <p:cNvPr id="9" name="Image 0" descr="preencoded.png">
            <a:hlinkClick r:id="rId2"/>
          </p:cNvPr>
          <p:cNvPicPr/>
          <p:nvPr/>
        </p:nvPicPr>
        <p:blipFill>
          <a:blip r:embed="rId3"/>
          <a:stretch/>
        </p:blipFill>
        <p:spPr>
          <a:xfrm>
            <a:off x="12839040" y="7749720"/>
            <a:ext cx="1720800" cy="409680"/>
          </a:xfrm>
          <a:prstGeom prst="rect">
            <a:avLst/>
          </a:prstGeom>
          <a:noFill/>
          <a:ln w="0">
            <a:noFill/>
          </a:ln>
        </p:spPr>
      </p:pic>
      <p:sp>
        <p:nvSpPr>
          <p:cNvPr id="10" name="PlaceHolder 1"/>
          <p:cNvSpPr>
            <a:spLocks noGrp="1"/>
          </p:cNvSpPr>
          <p:nvPr>
            <p:ph type="title"/>
          </p:nvPr>
        </p:nvSpPr>
        <p:spPr>
          <a:xfrm>
            <a:off x="731520" y="328320"/>
            <a:ext cx="13165560" cy="1372320"/>
          </a:xfrm>
          <a:prstGeom prst="rect">
            <a:avLst/>
          </a:prstGeom>
          <a:noFill/>
          <a:ln w="0">
            <a:noFill/>
          </a:ln>
        </p:spPr>
        <p:txBody>
          <a:bodyPr lIns="0" rIns="0" tIns="0" bIns="0" anchor="ctr">
            <a:noAutofit/>
          </a:bodyPr>
          <a:p>
            <a:pPr indent="0" algn="ctr">
              <a:lnSpc>
                <a:spcPct val="100000"/>
              </a:lnSpc>
              <a:buNone/>
              <a:tabLst>
                <a:tab algn="l" pos="0"/>
              </a:tabLst>
            </a:pPr>
            <a:r>
              <a:rPr lang="en-US" sz="4400" b="0" u="none" strike="noStrike">
                <a:solidFill>
                  <a:schemeClr val="dk1"/>
                </a:solidFill>
                <a:effectLst/>
                <a:uFillTx/>
                <a:latin typeface="Calibri Light"/>
              </a:rPr>
              <a:t>Click to edit the title text format</a:t>
            </a:r>
            <a:endParaRPr lang="en-US" sz="4400" b="0" u="none" strike="noStrike">
              <a:solidFill>
                <a:srgbClr val="000000"/>
              </a:solidFill>
              <a:effectLst/>
              <a:uFillTx/>
              <a:latin typeface="Arial"/>
            </a:endParaRPr>
          </a:p>
        </p:txBody>
      </p:sp>
      <p:sp>
        <p:nvSpPr>
          <p:cNvPr id="11" name="PlaceHolder 2"/>
          <p:cNvSpPr>
            <a:spLocks noGrp="1"/>
          </p:cNvSpPr>
          <p:nvPr>
            <p:ph type="body"/>
          </p:nvPr>
        </p:nvSpPr>
        <p:spPr>
          <a:xfrm>
            <a:off x="731520" y="1925640"/>
            <a:ext cx="13165560" cy="47710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0 master">
    <p:spTree>
      <p:nvGrpSpPr>
        <p:cNvPr id="1" name=""/>
        <p:cNvGrpSpPr/>
        <p:nvPr/>
      </p:nvGrpSpPr>
      <p:grpSpPr>
        <a:xfrm>
          <a:off x="0" y="0"/>
          <a:ext cx="0" cy="0"/>
          <a:chOff x="0" y="0"/>
          <a:chExt cx="0" cy="0"/>
        </a:xfrm>
      </p:grpSpPr>
      <p:sp>
        <p:nvSpPr>
          <p:cNvPr id="12" name="Shape 0"/>
          <p:cNvSpPr/>
          <p:nvPr/>
        </p:nvSpPr>
        <p:spPr>
          <a:xfrm>
            <a:off x="0" y="0"/>
            <a:ext cx="14628600" cy="8227800"/>
          </a:xfrm>
          <a:prstGeom prst="rect">
            <a:avLst/>
          </a:prstGeom>
          <a:solidFill>
            <a:srgbClr val="f6f4f4"/>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13" name="Shape 1"/>
          <p:cNvSpPr/>
          <p:nvPr/>
        </p:nvSpPr>
        <p:spPr>
          <a:xfrm>
            <a:off x="0" y="0"/>
            <a:ext cx="14628600" cy="822780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pic>
        <p:nvPicPr>
          <p:cNvPr id="14" name="Image 0" descr="preencoded.png">
            <a:hlinkClick r:id="rId2"/>
          </p:cNvPr>
          <p:cNvPicPr/>
          <p:nvPr/>
        </p:nvPicPr>
        <p:blipFill>
          <a:blip r:embed="rId3"/>
          <a:stretch/>
        </p:blipFill>
        <p:spPr>
          <a:xfrm>
            <a:off x="12839040" y="7749720"/>
            <a:ext cx="1720800" cy="409680"/>
          </a:xfrm>
          <a:prstGeom prst="rect">
            <a:avLst/>
          </a:prstGeom>
          <a:noFill/>
          <a:ln w="0">
            <a:noFill/>
          </a:ln>
        </p:spPr>
      </p:pic>
      <p:sp>
        <p:nvSpPr>
          <p:cNvPr id="15" name="PlaceHolder 1"/>
          <p:cNvSpPr>
            <a:spLocks noGrp="1"/>
          </p:cNvSpPr>
          <p:nvPr>
            <p:ph type="title"/>
          </p:nvPr>
        </p:nvSpPr>
        <p:spPr>
          <a:xfrm>
            <a:off x="731520" y="328320"/>
            <a:ext cx="13166640" cy="1373400"/>
          </a:xfrm>
          <a:prstGeom prst="rect">
            <a:avLst/>
          </a:prstGeom>
          <a:noFill/>
          <a:ln w="0">
            <a:noFill/>
          </a:ln>
        </p:spPr>
        <p:txBody>
          <a:bodyPr lIns="0" rIns="0" tIns="0" bIns="0" anchor="ctr">
            <a:noAutofit/>
          </a:bodyPr>
          <a:p>
            <a:pPr indent="0" algn="ctr">
              <a:lnSpc>
                <a:spcPct val="100000"/>
              </a:lnSpc>
              <a:buNone/>
              <a:tabLst>
                <a:tab algn="l" pos="0"/>
              </a:tabLst>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16" name="PlaceHolder 2"/>
          <p:cNvSpPr>
            <a:spLocks noGrp="1"/>
          </p:cNvSpPr>
          <p:nvPr>
            <p:ph type="body"/>
          </p:nvPr>
        </p:nvSpPr>
        <p:spPr>
          <a:xfrm>
            <a:off x="731520" y="1925640"/>
            <a:ext cx="13166640" cy="47721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 master">
    <p:spTree>
      <p:nvGrpSpPr>
        <p:cNvPr id="1" name=""/>
        <p:cNvGrpSpPr/>
        <p:nvPr/>
      </p:nvGrpSpPr>
      <p:grpSpPr>
        <a:xfrm>
          <a:off x="0" y="0"/>
          <a:ext cx="0" cy="0"/>
          <a:chOff x="0" y="0"/>
          <a:chExt cx="0" cy="0"/>
        </a:xfrm>
      </p:grpSpPr>
      <p:sp>
        <p:nvSpPr>
          <p:cNvPr id="17" name="Shape 0"/>
          <p:cNvSpPr/>
          <p:nvPr/>
        </p:nvSpPr>
        <p:spPr>
          <a:xfrm>
            <a:off x="0" y="0"/>
            <a:ext cx="14628600" cy="8227800"/>
          </a:xfrm>
          <a:prstGeom prst="rect">
            <a:avLst/>
          </a:prstGeom>
          <a:solidFill>
            <a:srgbClr val="f6f4f4"/>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18" name="Shape 1"/>
          <p:cNvSpPr/>
          <p:nvPr/>
        </p:nvSpPr>
        <p:spPr>
          <a:xfrm>
            <a:off x="0" y="0"/>
            <a:ext cx="14628600" cy="822780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pic>
        <p:nvPicPr>
          <p:cNvPr id="19" name="Image 0" descr="preencoded.png">
            <a:hlinkClick r:id="rId2"/>
          </p:cNvPr>
          <p:cNvPicPr/>
          <p:nvPr/>
        </p:nvPicPr>
        <p:blipFill>
          <a:blip r:embed="rId3"/>
          <a:stretch/>
        </p:blipFill>
        <p:spPr>
          <a:xfrm>
            <a:off x="12839040" y="7749720"/>
            <a:ext cx="1720800" cy="409680"/>
          </a:xfrm>
          <a:prstGeom prst="rect">
            <a:avLst/>
          </a:prstGeom>
          <a:noFill/>
          <a:ln w="0">
            <a:noFill/>
          </a:ln>
        </p:spPr>
      </p:pic>
      <p:sp>
        <p:nvSpPr>
          <p:cNvPr id="20" name="PlaceHolder 1"/>
          <p:cNvSpPr>
            <a:spLocks noGrp="1"/>
          </p:cNvSpPr>
          <p:nvPr>
            <p:ph type="title"/>
          </p:nvPr>
        </p:nvSpPr>
        <p:spPr>
          <a:xfrm>
            <a:off x="731520" y="328320"/>
            <a:ext cx="13165560" cy="1372320"/>
          </a:xfrm>
          <a:prstGeom prst="rect">
            <a:avLst/>
          </a:prstGeom>
          <a:noFill/>
          <a:ln w="0">
            <a:noFill/>
          </a:ln>
        </p:spPr>
        <p:txBody>
          <a:bodyPr lIns="0" rIns="0" tIns="0" bIns="0" anchor="ctr">
            <a:noAutofit/>
          </a:bodyPr>
          <a:p>
            <a:pPr indent="0" algn="ctr">
              <a:lnSpc>
                <a:spcPct val="100000"/>
              </a:lnSpc>
              <a:buNone/>
              <a:tabLst>
                <a:tab algn="l" pos="0"/>
              </a:tabLst>
            </a:pPr>
            <a:r>
              <a:rPr lang="en-US" sz="4400" b="0" u="none" strike="noStrike">
                <a:solidFill>
                  <a:schemeClr val="dk1"/>
                </a:solidFill>
                <a:effectLst/>
                <a:uFillTx/>
                <a:latin typeface="Calibri Light"/>
              </a:rPr>
              <a:t>Click to edit the title text format</a:t>
            </a:r>
            <a:endParaRPr lang="en-US" sz="4400" b="0" u="none" strike="noStrike">
              <a:solidFill>
                <a:srgbClr val="000000"/>
              </a:solidFill>
              <a:effectLst/>
              <a:uFillTx/>
              <a:latin typeface="Arial"/>
            </a:endParaRPr>
          </a:p>
        </p:txBody>
      </p:sp>
      <p:sp>
        <p:nvSpPr>
          <p:cNvPr id="21" name="PlaceHolder 2"/>
          <p:cNvSpPr>
            <a:spLocks noGrp="1"/>
          </p:cNvSpPr>
          <p:nvPr>
            <p:ph type="body"/>
          </p:nvPr>
        </p:nvSpPr>
        <p:spPr>
          <a:xfrm>
            <a:off x="731520" y="1925640"/>
            <a:ext cx="13165560" cy="47710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2 master">
    <p:spTree>
      <p:nvGrpSpPr>
        <p:cNvPr id="1" name=""/>
        <p:cNvGrpSpPr/>
        <p:nvPr/>
      </p:nvGrpSpPr>
      <p:grpSpPr>
        <a:xfrm>
          <a:off x="0" y="0"/>
          <a:ext cx="0" cy="0"/>
          <a:chOff x="0" y="0"/>
          <a:chExt cx="0" cy="0"/>
        </a:xfrm>
      </p:grpSpPr>
      <p:sp>
        <p:nvSpPr>
          <p:cNvPr id="22" name="Shape 0"/>
          <p:cNvSpPr/>
          <p:nvPr/>
        </p:nvSpPr>
        <p:spPr>
          <a:xfrm>
            <a:off x="0" y="0"/>
            <a:ext cx="14628600" cy="8227800"/>
          </a:xfrm>
          <a:prstGeom prst="rect">
            <a:avLst/>
          </a:prstGeom>
          <a:solidFill>
            <a:srgbClr val="f6f4f4"/>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23" name="Shape 1"/>
          <p:cNvSpPr/>
          <p:nvPr/>
        </p:nvSpPr>
        <p:spPr>
          <a:xfrm>
            <a:off x="0" y="0"/>
            <a:ext cx="14628600" cy="822780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pic>
        <p:nvPicPr>
          <p:cNvPr id="24" name="Image 0" descr="preencoded.png">
            <a:hlinkClick r:id="rId2"/>
          </p:cNvPr>
          <p:cNvPicPr/>
          <p:nvPr/>
        </p:nvPicPr>
        <p:blipFill>
          <a:blip r:embed="rId3"/>
          <a:stretch/>
        </p:blipFill>
        <p:spPr>
          <a:xfrm>
            <a:off x="12839040" y="7749720"/>
            <a:ext cx="1720800" cy="409680"/>
          </a:xfrm>
          <a:prstGeom prst="rect">
            <a:avLst/>
          </a:prstGeom>
          <a:noFill/>
          <a:ln w="0">
            <a:noFill/>
          </a:ln>
        </p:spPr>
      </p:pic>
      <p:sp>
        <p:nvSpPr>
          <p:cNvPr id="25" name="PlaceHolder 1"/>
          <p:cNvSpPr>
            <a:spLocks noGrp="1"/>
          </p:cNvSpPr>
          <p:nvPr>
            <p:ph type="title"/>
          </p:nvPr>
        </p:nvSpPr>
        <p:spPr>
          <a:xfrm>
            <a:off x="731520" y="328320"/>
            <a:ext cx="13165560" cy="1372320"/>
          </a:xfrm>
          <a:prstGeom prst="rect">
            <a:avLst/>
          </a:prstGeom>
          <a:noFill/>
          <a:ln w="0">
            <a:noFill/>
          </a:ln>
        </p:spPr>
        <p:txBody>
          <a:bodyPr lIns="0" rIns="0" tIns="0" bIns="0" anchor="ctr">
            <a:noAutofit/>
          </a:bodyPr>
          <a:p>
            <a:pPr indent="0" algn="ctr">
              <a:lnSpc>
                <a:spcPct val="100000"/>
              </a:lnSpc>
              <a:buNone/>
              <a:tabLst>
                <a:tab algn="l" pos="0"/>
              </a:tabLst>
            </a:pPr>
            <a:r>
              <a:rPr lang="en-US" sz="4400" b="0" u="none" strike="noStrike">
                <a:solidFill>
                  <a:schemeClr val="dk1"/>
                </a:solidFill>
                <a:effectLst/>
                <a:uFillTx/>
                <a:latin typeface="Calibri Light"/>
              </a:rPr>
              <a:t>Click to edit the title text format</a:t>
            </a:r>
            <a:endParaRPr lang="en-US" sz="4400" b="0" u="none" strike="noStrike">
              <a:solidFill>
                <a:srgbClr val="000000"/>
              </a:solidFill>
              <a:effectLst/>
              <a:uFillTx/>
              <a:latin typeface="Arial"/>
            </a:endParaRPr>
          </a:p>
        </p:txBody>
      </p:sp>
      <p:sp>
        <p:nvSpPr>
          <p:cNvPr id="26" name="PlaceHolder 2"/>
          <p:cNvSpPr>
            <a:spLocks noGrp="1"/>
          </p:cNvSpPr>
          <p:nvPr>
            <p:ph type="body"/>
          </p:nvPr>
        </p:nvSpPr>
        <p:spPr>
          <a:xfrm>
            <a:off x="731520" y="1925640"/>
            <a:ext cx="13165560" cy="47710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3 master">
    <p:spTree>
      <p:nvGrpSpPr>
        <p:cNvPr id="1" name=""/>
        <p:cNvGrpSpPr/>
        <p:nvPr/>
      </p:nvGrpSpPr>
      <p:grpSpPr>
        <a:xfrm>
          <a:off x="0" y="0"/>
          <a:ext cx="0" cy="0"/>
          <a:chOff x="0" y="0"/>
          <a:chExt cx="0" cy="0"/>
        </a:xfrm>
      </p:grpSpPr>
      <p:sp>
        <p:nvSpPr>
          <p:cNvPr id="27" name="Shape 0"/>
          <p:cNvSpPr/>
          <p:nvPr/>
        </p:nvSpPr>
        <p:spPr>
          <a:xfrm>
            <a:off x="0" y="0"/>
            <a:ext cx="14628600" cy="8227800"/>
          </a:xfrm>
          <a:prstGeom prst="rect">
            <a:avLst/>
          </a:prstGeom>
          <a:solidFill>
            <a:srgbClr val="f6f4f4"/>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28" name="Shape 1"/>
          <p:cNvSpPr/>
          <p:nvPr/>
        </p:nvSpPr>
        <p:spPr>
          <a:xfrm>
            <a:off x="0" y="0"/>
            <a:ext cx="14628600" cy="822780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pic>
        <p:nvPicPr>
          <p:cNvPr id="29" name="Image 0" descr="preencoded.png">
            <a:hlinkClick r:id="rId2"/>
          </p:cNvPr>
          <p:cNvPicPr/>
          <p:nvPr/>
        </p:nvPicPr>
        <p:blipFill>
          <a:blip r:embed="rId3"/>
          <a:stretch/>
        </p:blipFill>
        <p:spPr>
          <a:xfrm>
            <a:off x="12839040" y="7749720"/>
            <a:ext cx="1720800" cy="409680"/>
          </a:xfrm>
          <a:prstGeom prst="rect">
            <a:avLst/>
          </a:prstGeom>
          <a:noFill/>
          <a:ln w="0">
            <a:noFill/>
          </a:ln>
        </p:spPr>
      </p:pic>
      <p:sp>
        <p:nvSpPr>
          <p:cNvPr id="30" name="PlaceHolder 1"/>
          <p:cNvSpPr>
            <a:spLocks noGrp="1"/>
          </p:cNvSpPr>
          <p:nvPr>
            <p:ph type="title"/>
          </p:nvPr>
        </p:nvSpPr>
        <p:spPr>
          <a:xfrm>
            <a:off x="731520" y="328320"/>
            <a:ext cx="13165560" cy="1372320"/>
          </a:xfrm>
          <a:prstGeom prst="rect">
            <a:avLst/>
          </a:prstGeom>
          <a:noFill/>
          <a:ln w="0">
            <a:noFill/>
          </a:ln>
        </p:spPr>
        <p:txBody>
          <a:bodyPr lIns="0" rIns="0" tIns="0" bIns="0" anchor="ctr">
            <a:noAutofit/>
          </a:bodyPr>
          <a:p>
            <a:pPr indent="0" algn="ctr">
              <a:lnSpc>
                <a:spcPct val="100000"/>
              </a:lnSpc>
              <a:buNone/>
              <a:tabLst>
                <a:tab algn="l" pos="0"/>
              </a:tabLst>
            </a:pPr>
            <a:r>
              <a:rPr lang="en-US" sz="4400" b="0" u="none" strike="noStrike">
                <a:solidFill>
                  <a:schemeClr val="dk1"/>
                </a:solidFill>
                <a:effectLst/>
                <a:uFillTx/>
                <a:latin typeface="Calibri Light"/>
              </a:rPr>
              <a:t>Click to edit the title text format</a:t>
            </a:r>
            <a:endParaRPr lang="en-US" sz="4400" b="0" u="none" strike="noStrike">
              <a:solidFill>
                <a:srgbClr val="000000"/>
              </a:solidFill>
              <a:effectLst/>
              <a:uFillTx/>
              <a:latin typeface="Arial"/>
            </a:endParaRPr>
          </a:p>
        </p:txBody>
      </p:sp>
      <p:sp>
        <p:nvSpPr>
          <p:cNvPr id="31" name="PlaceHolder 2"/>
          <p:cNvSpPr>
            <a:spLocks noGrp="1"/>
          </p:cNvSpPr>
          <p:nvPr>
            <p:ph type="body"/>
          </p:nvPr>
        </p:nvSpPr>
        <p:spPr>
          <a:xfrm>
            <a:off x="731520" y="1925640"/>
            <a:ext cx="13165560" cy="47710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rgbClr val="000000"/>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4 master">
    <p:spTree>
      <p:nvGrpSpPr>
        <p:cNvPr id="1" name=""/>
        <p:cNvGrpSpPr/>
        <p:nvPr/>
      </p:nvGrpSpPr>
      <p:grpSpPr>
        <a:xfrm>
          <a:off x="0" y="0"/>
          <a:ext cx="0" cy="0"/>
          <a:chOff x="0" y="0"/>
          <a:chExt cx="0" cy="0"/>
        </a:xfrm>
      </p:grpSpPr>
      <p:sp>
        <p:nvSpPr>
          <p:cNvPr id="32" name="Shape 0"/>
          <p:cNvSpPr/>
          <p:nvPr/>
        </p:nvSpPr>
        <p:spPr>
          <a:xfrm>
            <a:off x="0" y="0"/>
            <a:ext cx="14628600" cy="8227800"/>
          </a:xfrm>
          <a:prstGeom prst="rect">
            <a:avLst/>
          </a:prstGeom>
          <a:solidFill>
            <a:srgbClr val="f6f4f4"/>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33" name="Shape 1"/>
          <p:cNvSpPr/>
          <p:nvPr/>
        </p:nvSpPr>
        <p:spPr>
          <a:xfrm>
            <a:off x="0" y="0"/>
            <a:ext cx="14628600" cy="822780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pic>
        <p:nvPicPr>
          <p:cNvPr id="34" name="Image 0" descr="preencoded.png">
            <a:hlinkClick r:id="rId2"/>
          </p:cNvPr>
          <p:cNvPicPr/>
          <p:nvPr/>
        </p:nvPicPr>
        <p:blipFill>
          <a:blip r:embed="rId3"/>
          <a:stretch/>
        </p:blipFill>
        <p:spPr>
          <a:xfrm>
            <a:off x="12839040" y="7749720"/>
            <a:ext cx="1720800" cy="409680"/>
          </a:xfrm>
          <a:prstGeom prst="rect">
            <a:avLst/>
          </a:prstGeom>
          <a:noFill/>
          <a:ln w="0">
            <a:noFill/>
          </a:ln>
        </p:spPr>
      </p:pic>
      <p:sp>
        <p:nvSpPr>
          <p:cNvPr id="35" name="PlaceHolder 1"/>
          <p:cNvSpPr>
            <a:spLocks noGrp="1"/>
          </p:cNvSpPr>
          <p:nvPr>
            <p:ph type="title"/>
          </p:nvPr>
        </p:nvSpPr>
        <p:spPr>
          <a:xfrm>
            <a:off x="731520" y="328320"/>
            <a:ext cx="13165560" cy="1372320"/>
          </a:xfrm>
          <a:prstGeom prst="rect">
            <a:avLst/>
          </a:prstGeom>
          <a:noFill/>
          <a:ln w="0">
            <a:noFill/>
          </a:ln>
        </p:spPr>
        <p:txBody>
          <a:bodyPr lIns="0" rIns="0" tIns="0" bIns="0" anchor="ctr">
            <a:noAutofit/>
          </a:bodyPr>
          <a:p>
            <a:pPr indent="0" algn="ctr">
              <a:lnSpc>
                <a:spcPct val="100000"/>
              </a:lnSpc>
              <a:buNone/>
              <a:tabLst>
                <a:tab algn="l" pos="0"/>
              </a:tabLst>
            </a:pPr>
            <a:r>
              <a:rPr lang="en-US" sz="4400" b="0" u="none" strike="noStrike">
                <a:solidFill>
                  <a:schemeClr val="dk1"/>
                </a:solidFill>
                <a:effectLst/>
                <a:uFillTx/>
                <a:latin typeface="Calibri Light"/>
              </a:rPr>
              <a:t>Click to edit the title text format</a:t>
            </a:r>
            <a:endParaRPr lang="en-US" sz="4400" b="0" u="none" strike="noStrike">
              <a:solidFill>
                <a:srgbClr val="000000"/>
              </a:solidFill>
              <a:effectLst/>
              <a:uFillTx/>
              <a:latin typeface="Arial"/>
            </a:endParaRPr>
          </a:p>
        </p:txBody>
      </p:sp>
      <p:sp>
        <p:nvSpPr>
          <p:cNvPr id="36" name="PlaceHolder 2"/>
          <p:cNvSpPr>
            <a:spLocks noGrp="1"/>
          </p:cNvSpPr>
          <p:nvPr>
            <p:ph type="body"/>
          </p:nvPr>
        </p:nvSpPr>
        <p:spPr>
          <a:xfrm>
            <a:off x="731520" y="1925640"/>
            <a:ext cx="13165560" cy="47710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rgbClr val="000000"/>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5 master">
    <p:spTree>
      <p:nvGrpSpPr>
        <p:cNvPr id="1" name=""/>
        <p:cNvGrpSpPr/>
        <p:nvPr/>
      </p:nvGrpSpPr>
      <p:grpSpPr>
        <a:xfrm>
          <a:off x="0" y="0"/>
          <a:ext cx="0" cy="0"/>
          <a:chOff x="0" y="0"/>
          <a:chExt cx="0" cy="0"/>
        </a:xfrm>
      </p:grpSpPr>
      <p:sp>
        <p:nvSpPr>
          <p:cNvPr id="37" name="Shape 0"/>
          <p:cNvSpPr/>
          <p:nvPr/>
        </p:nvSpPr>
        <p:spPr>
          <a:xfrm>
            <a:off x="0" y="0"/>
            <a:ext cx="14628600" cy="8227800"/>
          </a:xfrm>
          <a:prstGeom prst="rect">
            <a:avLst/>
          </a:prstGeom>
          <a:solidFill>
            <a:srgbClr val="f6f4f4"/>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38" name="Shape 1"/>
          <p:cNvSpPr/>
          <p:nvPr/>
        </p:nvSpPr>
        <p:spPr>
          <a:xfrm>
            <a:off x="0" y="0"/>
            <a:ext cx="14628600" cy="822780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pic>
        <p:nvPicPr>
          <p:cNvPr id="39" name="Image 0" descr="preencoded.png">
            <a:hlinkClick r:id="rId2"/>
          </p:cNvPr>
          <p:cNvPicPr/>
          <p:nvPr/>
        </p:nvPicPr>
        <p:blipFill>
          <a:blip r:embed="rId3"/>
          <a:stretch/>
        </p:blipFill>
        <p:spPr>
          <a:xfrm>
            <a:off x="12839040" y="7749720"/>
            <a:ext cx="1720800" cy="409680"/>
          </a:xfrm>
          <a:prstGeom prst="rect">
            <a:avLst/>
          </a:prstGeom>
          <a:noFill/>
          <a:ln w="0">
            <a:noFill/>
          </a:ln>
        </p:spPr>
      </p:pic>
      <p:sp>
        <p:nvSpPr>
          <p:cNvPr id="40" name="PlaceHolder 1"/>
          <p:cNvSpPr>
            <a:spLocks noGrp="1"/>
          </p:cNvSpPr>
          <p:nvPr>
            <p:ph type="title"/>
          </p:nvPr>
        </p:nvSpPr>
        <p:spPr>
          <a:xfrm>
            <a:off x="731520" y="328320"/>
            <a:ext cx="13165560" cy="1372320"/>
          </a:xfrm>
          <a:prstGeom prst="rect">
            <a:avLst/>
          </a:prstGeom>
          <a:noFill/>
          <a:ln w="0">
            <a:noFill/>
          </a:ln>
        </p:spPr>
        <p:txBody>
          <a:bodyPr lIns="0" rIns="0" tIns="0" bIns="0" anchor="ctr">
            <a:noAutofit/>
          </a:bodyPr>
          <a:p>
            <a:pPr indent="0" algn="ctr">
              <a:lnSpc>
                <a:spcPct val="100000"/>
              </a:lnSpc>
              <a:buNone/>
              <a:tabLst>
                <a:tab algn="l" pos="0"/>
              </a:tabLst>
            </a:pPr>
            <a:r>
              <a:rPr lang="en-US" sz="4400" b="0" u="none" strike="noStrike">
                <a:solidFill>
                  <a:schemeClr val="dk1"/>
                </a:solidFill>
                <a:effectLst/>
                <a:uFillTx/>
                <a:latin typeface="Calibri Light"/>
              </a:rPr>
              <a:t>Click to edit the title text format</a:t>
            </a:r>
            <a:endParaRPr lang="en-US" sz="4400" b="0" u="none" strike="noStrike">
              <a:solidFill>
                <a:srgbClr val="000000"/>
              </a:solidFill>
              <a:effectLst/>
              <a:uFillTx/>
              <a:latin typeface="Arial"/>
            </a:endParaRPr>
          </a:p>
        </p:txBody>
      </p:sp>
      <p:sp>
        <p:nvSpPr>
          <p:cNvPr id="41" name="PlaceHolder 2"/>
          <p:cNvSpPr>
            <a:spLocks noGrp="1"/>
          </p:cNvSpPr>
          <p:nvPr>
            <p:ph type="body"/>
          </p:nvPr>
        </p:nvSpPr>
        <p:spPr>
          <a:xfrm>
            <a:off x="731520" y="1925640"/>
            <a:ext cx="13165560" cy="47710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rgbClr val="000000"/>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6 master">
    <p:spTree>
      <p:nvGrpSpPr>
        <p:cNvPr id="1" name=""/>
        <p:cNvGrpSpPr/>
        <p:nvPr/>
      </p:nvGrpSpPr>
      <p:grpSpPr>
        <a:xfrm>
          <a:off x="0" y="0"/>
          <a:ext cx="0" cy="0"/>
          <a:chOff x="0" y="0"/>
          <a:chExt cx="0" cy="0"/>
        </a:xfrm>
      </p:grpSpPr>
      <p:sp>
        <p:nvSpPr>
          <p:cNvPr id="42" name="Shape 0"/>
          <p:cNvSpPr/>
          <p:nvPr/>
        </p:nvSpPr>
        <p:spPr>
          <a:xfrm>
            <a:off x="0" y="0"/>
            <a:ext cx="14628600" cy="8227800"/>
          </a:xfrm>
          <a:prstGeom prst="rect">
            <a:avLst/>
          </a:prstGeom>
          <a:solidFill>
            <a:srgbClr val="f6f4f4"/>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43" name="Shape 1"/>
          <p:cNvSpPr/>
          <p:nvPr/>
        </p:nvSpPr>
        <p:spPr>
          <a:xfrm>
            <a:off x="0" y="0"/>
            <a:ext cx="14628600" cy="822780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pic>
        <p:nvPicPr>
          <p:cNvPr id="44" name="Image 0" descr="preencoded.png">
            <a:hlinkClick r:id="rId2"/>
          </p:cNvPr>
          <p:cNvPicPr/>
          <p:nvPr/>
        </p:nvPicPr>
        <p:blipFill>
          <a:blip r:embed="rId3"/>
          <a:stretch/>
        </p:blipFill>
        <p:spPr>
          <a:xfrm>
            <a:off x="12839040" y="7749720"/>
            <a:ext cx="1720800" cy="409680"/>
          </a:xfrm>
          <a:prstGeom prst="rect">
            <a:avLst/>
          </a:prstGeom>
          <a:noFill/>
          <a:ln w="0">
            <a:noFill/>
          </a:ln>
        </p:spPr>
      </p:pic>
      <p:sp>
        <p:nvSpPr>
          <p:cNvPr id="45" name="PlaceHolder 1"/>
          <p:cNvSpPr>
            <a:spLocks noGrp="1"/>
          </p:cNvSpPr>
          <p:nvPr>
            <p:ph type="title"/>
          </p:nvPr>
        </p:nvSpPr>
        <p:spPr>
          <a:xfrm>
            <a:off x="731520" y="328320"/>
            <a:ext cx="13165560" cy="1372320"/>
          </a:xfrm>
          <a:prstGeom prst="rect">
            <a:avLst/>
          </a:prstGeom>
          <a:noFill/>
          <a:ln w="0">
            <a:noFill/>
          </a:ln>
        </p:spPr>
        <p:txBody>
          <a:bodyPr lIns="0" rIns="0" tIns="0" bIns="0" anchor="ctr">
            <a:noAutofit/>
          </a:bodyPr>
          <a:p>
            <a:pPr indent="0" algn="ctr">
              <a:lnSpc>
                <a:spcPct val="100000"/>
              </a:lnSpc>
              <a:buNone/>
              <a:tabLst>
                <a:tab algn="l" pos="0"/>
              </a:tabLst>
            </a:pPr>
            <a:r>
              <a:rPr lang="en-US" sz="4400" b="0" u="none" strike="noStrike">
                <a:solidFill>
                  <a:schemeClr val="dk1"/>
                </a:solidFill>
                <a:effectLst/>
                <a:uFillTx/>
                <a:latin typeface="Calibri Light"/>
              </a:rPr>
              <a:t>Click to edit the title text format</a:t>
            </a:r>
            <a:endParaRPr lang="en-US" sz="4400" b="0" u="none" strike="noStrike">
              <a:solidFill>
                <a:srgbClr val="000000"/>
              </a:solidFill>
              <a:effectLst/>
              <a:uFillTx/>
              <a:latin typeface="Arial"/>
            </a:endParaRPr>
          </a:p>
        </p:txBody>
      </p:sp>
      <p:sp>
        <p:nvSpPr>
          <p:cNvPr id="46" name="PlaceHolder 2"/>
          <p:cNvSpPr>
            <a:spLocks noGrp="1"/>
          </p:cNvSpPr>
          <p:nvPr>
            <p:ph type="body"/>
          </p:nvPr>
        </p:nvSpPr>
        <p:spPr>
          <a:xfrm>
            <a:off x="731520" y="1925640"/>
            <a:ext cx="13165560" cy="47710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rgbClr val="000000"/>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7 master">
    <p:spTree>
      <p:nvGrpSpPr>
        <p:cNvPr id="1" name=""/>
        <p:cNvGrpSpPr/>
        <p:nvPr/>
      </p:nvGrpSpPr>
      <p:grpSpPr>
        <a:xfrm>
          <a:off x="0" y="0"/>
          <a:ext cx="0" cy="0"/>
          <a:chOff x="0" y="0"/>
          <a:chExt cx="0" cy="0"/>
        </a:xfrm>
      </p:grpSpPr>
      <p:sp>
        <p:nvSpPr>
          <p:cNvPr id="47" name="Shape 0"/>
          <p:cNvSpPr/>
          <p:nvPr/>
        </p:nvSpPr>
        <p:spPr>
          <a:xfrm>
            <a:off x="0" y="0"/>
            <a:ext cx="14628600" cy="8227800"/>
          </a:xfrm>
          <a:prstGeom prst="rect">
            <a:avLst/>
          </a:prstGeom>
          <a:solidFill>
            <a:srgbClr val="f6f4f4"/>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48" name="Shape 1"/>
          <p:cNvSpPr/>
          <p:nvPr/>
        </p:nvSpPr>
        <p:spPr>
          <a:xfrm>
            <a:off x="0" y="0"/>
            <a:ext cx="14628600" cy="822780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pic>
        <p:nvPicPr>
          <p:cNvPr id="49" name="Image 0" descr="preencoded.png">
            <a:hlinkClick r:id="rId2"/>
          </p:cNvPr>
          <p:cNvPicPr/>
          <p:nvPr/>
        </p:nvPicPr>
        <p:blipFill>
          <a:blip r:embed="rId3"/>
          <a:stretch/>
        </p:blipFill>
        <p:spPr>
          <a:xfrm>
            <a:off x="12839040" y="7749720"/>
            <a:ext cx="1720800" cy="409680"/>
          </a:xfrm>
          <a:prstGeom prst="rect">
            <a:avLst/>
          </a:prstGeom>
          <a:noFill/>
          <a:ln w="0">
            <a:noFill/>
          </a:ln>
        </p:spPr>
      </p:pic>
      <p:sp>
        <p:nvSpPr>
          <p:cNvPr id="50" name="PlaceHolder 1"/>
          <p:cNvSpPr>
            <a:spLocks noGrp="1"/>
          </p:cNvSpPr>
          <p:nvPr>
            <p:ph type="title"/>
          </p:nvPr>
        </p:nvSpPr>
        <p:spPr>
          <a:xfrm>
            <a:off x="731520" y="328320"/>
            <a:ext cx="13165560" cy="1372320"/>
          </a:xfrm>
          <a:prstGeom prst="rect">
            <a:avLst/>
          </a:prstGeom>
          <a:noFill/>
          <a:ln w="0">
            <a:noFill/>
          </a:ln>
        </p:spPr>
        <p:txBody>
          <a:bodyPr lIns="0" rIns="0" tIns="0" bIns="0" anchor="ctr">
            <a:noAutofit/>
          </a:bodyPr>
          <a:p>
            <a:pPr indent="0" algn="ctr">
              <a:lnSpc>
                <a:spcPct val="100000"/>
              </a:lnSpc>
              <a:buNone/>
              <a:tabLst>
                <a:tab algn="l" pos="0"/>
              </a:tabLst>
            </a:pPr>
            <a:r>
              <a:rPr lang="en-US" sz="4400" b="0" u="none" strike="noStrike">
                <a:solidFill>
                  <a:schemeClr val="dk1"/>
                </a:solidFill>
                <a:effectLst/>
                <a:uFillTx/>
                <a:latin typeface="Calibri Light"/>
              </a:rPr>
              <a:t>Click to edit the title text format</a:t>
            </a:r>
            <a:endParaRPr lang="en-US" sz="4400" b="0" u="none" strike="noStrike">
              <a:solidFill>
                <a:srgbClr val="000000"/>
              </a:solidFill>
              <a:effectLst/>
              <a:uFillTx/>
              <a:latin typeface="Arial"/>
            </a:endParaRPr>
          </a:p>
        </p:txBody>
      </p:sp>
      <p:sp>
        <p:nvSpPr>
          <p:cNvPr id="51" name="PlaceHolder 2"/>
          <p:cNvSpPr>
            <a:spLocks noGrp="1"/>
          </p:cNvSpPr>
          <p:nvPr>
            <p:ph type="body"/>
          </p:nvPr>
        </p:nvSpPr>
        <p:spPr>
          <a:xfrm>
            <a:off x="731520" y="1925640"/>
            <a:ext cx="13165560" cy="47710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5.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svg"/><Relationship Id="rId3" Type="http://schemas.openxmlformats.org/officeDocument/2006/relationships/image" Target="../media/image6.png"/><Relationship Id="rId4" Type="http://schemas.openxmlformats.org/officeDocument/2006/relationships/image" Target="../media/image7.svg"/><Relationship Id="rId5" Type="http://schemas.openxmlformats.org/officeDocument/2006/relationships/image" Target="../media/image8.png"/><Relationship Id="rId6" Type="http://schemas.openxmlformats.org/officeDocument/2006/relationships/image" Target="../media/image9.svg"/><Relationship Id="rId7" Type="http://schemas.openxmlformats.org/officeDocument/2006/relationships/slideLayout" Target="../slideLayouts/slideLayout6.xml"/><Relationship Id="rId8"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3.xml"/>
</Relationships>
</file>

<file path=ppt/slides/_rels/slide10.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
</Relationships>
</file>

<file path=ppt/slides/_rels/slide11.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3.xml"/>
</Relationships>
</file>

<file path=ppt/slides/_rels/slide12.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
</Relationships>
</file>

<file path=ppt/slides/_rels/slide13.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slideLayout" Target="../slideLayouts/slideLayout9.xml"/><Relationship Id="rId7"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sv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slideLayout" Target="../slideLayouts/slideLayout8.xml"/><Relationship Id="rId6"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10.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svg"/><Relationship Id="rId3" Type="http://schemas.openxmlformats.org/officeDocument/2006/relationships/image" Target="../media/image26.png"/><Relationship Id="rId4" Type="http://schemas.openxmlformats.org/officeDocument/2006/relationships/slideLayout" Target="../slideLayouts/slideLayout11.xml"/><Relationship Id="rId5"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8.svg"/><Relationship Id="rId3" Type="http://schemas.openxmlformats.org/officeDocument/2006/relationships/image" Target="../media/image29.png"/><Relationship Id="rId4" Type="http://schemas.openxmlformats.org/officeDocument/2006/relationships/image" Target="../media/image30.svg"/><Relationship Id="rId5" Type="http://schemas.openxmlformats.org/officeDocument/2006/relationships/image" Target="../media/image31.png"/><Relationship Id="rId6" Type="http://schemas.openxmlformats.org/officeDocument/2006/relationships/slideLayout" Target="../slideLayouts/slideLayout1.xml"/><Relationship Id="rId7"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9.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33.svg"/><Relationship Id="rId3" Type="http://schemas.openxmlformats.org/officeDocument/2006/relationships/image" Target="../media/image34.png"/><Relationship Id="rId4" Type="http://schemas.openxmlformats.org/officeDocument/2006/relationships/slideLayout" Target="../slideLayouts/slideLayout4.xml"/><Relationship Id="rId5"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8" name="Image 0" descr="preencoded.png"/>
          <p:cNvPicPr/>
          <p:nvPr/>
        </p:nvPicPr>
        <p:blipFill>
          <a:blip r:embed="rId1"/>
          <a:stretch/>
        </p:blipFill>
        <p:spPr>
          <a:xfrm>
            <a:off x="9144000" y="0"/>
            <a:ext cx="5484600" cy="8227800"/>
          </a:xfrm>
          <a:prstGeom prst="rect">
            <a:avLst/>
          </a:prstGeom>
          <a:noFill/>
          <a:ln w="0">
            <a:noFill/>
          </a:ln>
        </p:spPr>
      </p:pic>
      <p:sp>
        <p:nvSpPr>
          <p:cNvPr id="59" name="Text 0"/>
          <p:cNvSpPr/>
          <p:nvPr/>
        </p:nvSpPr>
        <p:spPr>
          <a:xfrm>
            <a:off x="793800" y="3054600"/>
            <a:ext cx="7554600" cy="1415880"/>
          </a:xfrm>
          <a:prstGeom prst="rect">
            <a:avLst/>
          </a:prstGeom>
          <a:noFill/>
          <a:ln w="0">
            <a:noFill/>
          </a:ln>
        </p:spPr>
        <p:style>
          <a:lnRef idx="0"/>
          <a:fillRef idx="0"/>
          <a:effectRef idx="0"/>
          <a:fontRef idx="minor"/>
        </p:style>
        <p:txBody>
          <a:bodyPr lIns="0" rIns="0" tIns="0" bIns="0" anchor="t">
            <a:noAutofit/>
          </a:bodyPr>
          <a:p>
            <a:pPr>
              <a:lnSpc>
                <a:spcPts val="5550"/>
              </a:lnSpc>
              <a:tabLst>
                <a:tab algn="l" pos="0"/>
              </a:tabLst>
            </a:pPr>
            <a:r>
              <a:rPr lang="en-US" sz="4450" b="1" u="none" strike="noStrike">
                <a:solidFill>
                  <a:srgbClr val="000000"/>
                </a:solidFill>
                <a:effectLst/>
                <a:uFillTx/>
                <a:latin typeface="Inter Bold"/>
                <a:ea typeface="Inter Bold"/>
              </a:rPr>
              <a:t>Les bases de l'administration Linux</a:t>
            </a:r>
            <a:endParaRPr lang="en-US" sz="4450" b="0" u="none" strike="noStrike">
              <a:solidFill>
                <a:srgbClr val="000000"/>
              </a:solidFill>
              <a:effectLst/>
              <a:uFillTx/>
              <a:latin typeface="Arial"/>
            </a:endParaRPr>
          </a:p>
        </p:txBody>
      </p:sp>
      <p:sp>
        <p:nvSpPr>
          <p:cNvPr id="60" name="Text 1"/>
          <p:cNvSpPr/>
          <p:nvPr/>
        </p:nvSpPr>
        <p:spPr>
          <a:xfrm>
            <a:off x="793800" y="5604120"/>
            <a:ext cx="7554600" cy="361080"/>
          </a:xfrm>
          <a:prstGeom prst="rect">
            <a:avLst/>
          </a:prstGeom>
          <a:noFill/>
          <a:ln w="0">
            <a:noFill/>
          </a:ln>
        </p:spPr>
        <p:style>
          <a:lnRef idx="0"/>
          <a:fillRef idx="0"/>
          <a:effectRef idx="0"/>
          <a:fontRef idx="minor"/>
        </p:style>
        <p:txBody>
          <a:bodyPr wrap="none" lIns="0" rIns="0" tIns="0" bIns="0" anchor="t">
            <a:noAutofit/>
          </a:bodyPr>
          <a:p>
            <a:pPr>
              <a:lnSpc>
                <a:spcPts val="2849"/>
              </a:lnSpc>
              <a:tabLst>
                <a:tab algn="l" pos="0"/>
              </a:tabLst>
            </a:pPr>
            <a:r>
              <a:rPr lang="en-US" sz="1750" b="0" u="none" strike="noStrike">
                <a:solidFill>
                  <a:srgbClr val="272525"/>
                </a:solidFill>
                <a:effectLst/>
                <a:uFillTx/>
                <a:latin typeface="Inter"/>
                <a:ea typeface="Inter"/>
              </a:rPr>
              <a:t>Présenté par : Nsengimana François</a:t>
            </a:r>
            <a:endParaRPr lang="en-US" sz="1750" b="0" u="none" strike="noStrike">
              <a:solidFill>
                <a:srgbClr val="000000"/>
              </a:solidFill>
              <a:effectLst/>
              <a:uFillTx/>
              <a:latin typeface="Arial"/>
            </a:endParaRPr>
          </a:p>
        </p:txBody>
      </p:sp>
      <p:sp>
        <p:nvSpPr>
          <p:cNvPr id="61" name="Text 25"/>
          <p:cNvSpPr/>
          <p:nvPr/>
        </p:nvSpPr>
        <p:spPr>
          <a:xfrm>
            <a:off x="806400" y="4668480"/>
            <a:ext cx="7434360" cy="819000"/>
          </a:xfrm>
          <a:prstGeom prst="rect">
            <a:avLst/>
          </a:prstGeom>
          <a:noFill/>
          <a:ln w="0">
            <a:noFill/>
          </a:ln>
        </p:spPr>
        <p:style>
          <a:lnRef idx="0"/>
          <a:fillRef idx="0"/>
          <a:effectRef idx="0"/>
          <a:fontRef idx="minor"/>
        </p:style>
        <p:txBody>
          <a:bodyPr wrap="none" lIns="0" rIns="0" tIns="0" bIns="0" anchor="t">
            <a:noAutofit/>
          </a:bodyPr>
          <a:p>
            <a:pPr>
              <a:lnSpc>
                <a:spcPts val="2849"/>
              </a:lnSpc>
              <a:tabLst>
                <a:tab algn="l" pos="0"/>
              </a:tabLst>
            </a:pPr>
            <a:r>
              <a:rPr lang="en-US" sz="1750" b="0" u="none" strike="noStrike">
                <a:solidFill>
                  <a:srgbClr val="272525"/>
                </a:solidFill>
                <a:effectLst/>
                <a:uFillTx/>
                <a:latin typeface="Inter"/>
                <a:ea typeface="Inter"/>
              </a:rPr>
              <a:t>Comprendre Linux, ses usages et les fondamentaux </a:t>
            </a:r>
            <a:endParaRPr lang="en-US" sz="1750" b="0" u="none" strike="noStrike">
              <a:solidFill>
                <a:srgbClr val="000000"/>
              </a:solidFill>
              <a:effectLst/>
              <a:uFillTx/>
              <a:latin typeface="Arial"/>
            </a:endParaRPr>
          </a:p>
          <a:p>
            <a:pPr>
              <a:lnSpc>
                <a:spcPts val="2849"/>
              </a:lnSpc>
              <a:tabLst>
                <a:tab algn="l" pos="0"/>
              </a:tabLst>
            </a:pPr>
            <a:r>
              <a:rPr lang="en-US" sz="1750" b="0" u="none" strike="noStrike">
                <a:solidFill>
                  <a:srgbClr val="272525"/>
                </a:solidFill>
                <a:effectLst/>
                <a:uFillTx/>
                <a:latin typeface="Inter"/>
                <a:ea typeface="Inter"/>
              </a:rPr>
              <a:t>de l’administration système</a:t>
            </a:r>
            <a:endParaRPr lang="en-US" sz="1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
          <p:cNvSpPr/>
          <p:nvPr/>
        </p:nvSpPr>
        <p:spPr>
          <a:xfrm>
            <a:off x="2174400" y="770400"/>
            <a:ext cx="7999560" cy="577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3200" b="1" u="none" strike="noStrike">
                <a:solidFill>
                  <a:srgbClr val="000000"/>
                </a:solidFill>
                <a:effectLst/>
                <a:uFillTx/>
                <a:latin typeface="Cambria"/>
              </a:rPr>
              <a:t>OBJECTIF GLOBAL DE LA PRÉSENTATION</a:t>
            </a:r>
            <a:r>
              <a:rPr lang="en-US" sz="3200" b="1" u="none" strike="noStrike">
                <a:solidFill>
                  <a:srgbClr val="000000"/>
                </a:solidFill>
                <a:effectLst/>
                <a:uFillTx/>
                <a:latin typeface="Inter bold"/>
              </a:rPr>
              <a:t> </a:t>
            </a:r>
            <a:endParaRPr lang="en-US" sz="3200" b="0" u="none" strike="noStrike">
              <a:solidFill>
                <a:srgbClr val="000000"/>
              </a:solidFill>
              <a:effectLst/>
              <a:uFillTx/>
              <a:latin typeface="Arial"/>
            </a:endParaRPr>
          </a:p>
        </p:txBody>
      </p:sp>
      <p:sp>
        <p:nvSpPr>
          <p:cNvPr id="63" name=""/>
          <p:cNvSpPr/>
          <p:nvPr/>
        </p:nvSpPr>
        <p:spPr>
          <a:xfrm>
            <a:off x="961200" y="1544400"/>
            <a:ext cx="9142560" cy="471132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endParaRPr lang="en-US" sz="22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Font typeface="Symbol" charset="2"/>
              <a:buChar char=""/>
            </a:pPr>
            <a:r>
              <a:rPr lang="en-US" sz="2200" b="1" u="none" strike="noStrike">
                <a:solidFill>
                  <a:srgbClr val="000000"/>
                </a:solidFill>
                <a:effectLst/>
                <a:uFillTx/>
                <a:latin typeface="Cambria"/>
              </a:rPr>
              <a:t>À la fin de cette présentation, vous devrez :</a:t>
            </a:r>
            <a:endParaRPr lang="en-US" sz="22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Font typeface="Symbol" charset="2"/>
              <a:buChar char=""/>
            </a:pPr>
            <a:r>
              <a:rPr lang="en-US" sz="2200" b="1" u="none" strike="noStrike">
                <a:solidFill>
                  <a:srgbClr val="000000"/>
                </a:solidFill>
                <a:effectLst/>
                <a:uFillTx/>
                <a:latin typeface="Cambria"/>
              </a:rPr>
              <a:t>Savoir ce qu’on attend d’un administrateur Linux</a:t>
            </a:r>
            <a:endParaRPr lang="en-US" sz="22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Font typeface="Symbol" charset="2"/>
              <a:buChar char=""/>
            </a:pPr>
            <a:r>
              <a:rPr lang="en-US" sz="2200" b="1" u="none" strike="noStrike">
                <a:solidFill>
                  <a:srgbClr val="000000"/>
                </a:solidFill>
                <a:effectLst/>
                <a:uFillTx/>
                <a:latin typeface="Cambria"/>
              </a:rPr>
              <a:t>Comprendre ce qu’est Linux et à quoi il sert</a:t>
            </a:r>
            <a:endParaRPr lang="en-US" sz="22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Font typeface="Symbol" charset="2"/>
              <a:buChar char=""/>
            </a:pPr>
            <a:r>
              <a:rPr lang="en-US" sz="2200" b="1" u="none" strike="noStrike">
                <a:solidFill>
                  <a:srgbClr val="000000"/>
                </a:solidFill>
                <a:effectLst/>
                <a:uFillTx/>
                <a:latin typeface="Cambria"/>
              </a:rPr>
              <a:t>Connaître les bases de l’administration Linux</a:t>
            </a:r>
            <a:endParaRPr lang="en-US" sz="22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Font typeface="Symbol" charset="2"/>
              <a:buChar char=""/>
            </a:pPr>
            <a:r>
              <a:rPr lang="en-US" sz="2200" b="1" u="none" strike="noStrike">
                <a:solidFill>
                  <a:srgbClr val="000000"/>
                </a:solidFill>
                <a:effectLst/>
                <a:uFillTx/>
                <a:latin typeface="Cambria"/>
              </a:rPr>
              <a:t>Les metiers dans le domaine administration linux</a:t>
            </a:r>
            <a:endParaRPr lang="en-US" sz="22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Font typeface="Symbol" charset="2"/>
              <a:buChar char=""/>
            </a:pPr>
            <a:r>
              <a:rPr lang="en-US" sz="2200" b="1" u="none" strike="noStrike">
                <a:solidFill>
                  <a:srgbClr val="000000"/>
                </a:solidFill>
                <a:effectLst/>
                <a:uFillTx/>
                <a:latin typeface="Cambria"/>
              </a:rPr>
              <a:t>Être capables de vous orienter seuls pour continuer à apprendre</a:t>
            </a:r>
            <a:endParaRPr lang="en-US" sz="22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Font typeface="Symbol" charset="2"/>
              <a:buChar char=""/>
            </a:pPr>
            <a:r>
              <a:rPr lang="en-US" sz="2200" b="1" u="none" strike="noStrike">
                <a:solidFill>
                  <a:srgbClr val="000000"/>
                </a:solidFill>
                <a:effectLst/>
                <a:uFillTx/>
                <a:latin typeface="Cambria"/>
              </a:rPr>
              <a:t>Savoir ce qu’on attend d’un administrateur Linux</a:t>
            </a:r>
            <a:endParaRPr lang="en-US" sz="2200" b="0" u="none" strike="noStrike">
              <a:solidFill>
                <a:srgbClr val="000000"/>
              </a:solidFill>
              <a:effectLst/>
              <a:uFillTx/>
              <a:latin typeface="Arial"/>
            </a:endParaRPr>
          </a:p>
        </p:txBody>
      </p:sp>
      <p:sp>
        <p:nvSpPr>
          <p:cNvPr id="64" name="Shape 34"/>
          <p:cNvSpPr/>
          <p:nvPr/>
        </p:nvSpPr>
        <p:spPr>
          <a:xfrm>
            <a:off x="0" y="7772400"/>
            <a:ext cx="14628960" cy="455760"/>
          </a:xfrm>
          <a:prstGeom prst="roundRect">
            <a:avLst>
              <a:gd name="adj" fmla="val 4099"/>
            </a:avLst>
          </a:prstGeom>
          <a:solidFill>
            <a:srgbClr val="ffffff"/>
          </a:solidFill>
          <a:ln w="7620">
            <a:solidFill>
              <a:srgbClr val="ffffff"/>
            </a:solidFill>
            <a:round/>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
          <p:cNvSpPr/>
          <p:nvPr/>
        </p:nvSpPr>
        <p:spPr>
          <a:xfrm>
            <a:off x="2174400" y="770400"/>
            <a:ext cx="7999560" cy="57744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lang="en-US" sz="3200" b="1" u="none" strike="noStrike">
                <a:solidFill>
                  <a:srgbClr val="000000"/>
                </a:solidFill>
                <a:effectLst/>
                <a:uFillTx/>
                <a:latin typeface="Arial"/>
              </a:rPr>
              <a:t> Les métiers autour de Linux</a:t>
            </a:r>
            <a:endParaRPr lang="en-US" sz="3200" b="0" u="none" strike="noStrike">
              <a:solidFill>
                <a:srgbClr val="000000"/>
              </a:solidFill>
              <a:effectLst/>
              <a:uFillTx/>
              <a:latin typeface="Arial"/>
            </a:endParaRPr>
          </a:p>
        </p:txBody>
      </p:sp>
      <p:sp>
        <p:nvSpPr>
          <p:cNvPr id="66" name="Shape 45"/>
          <p:cNvSpPr/>
          <p:nvPr/>
        </p:nvSpPr>
        <p:spPr>
          <a:xfrm>
            <a:off x="0" y="7772400"/>
            <a:ext cx="14628960" cy="455760"/>
          </a:xfrm>
          <a:prstGeom prst="roundRect">
            <a:avLst>
              <a:gd name="adj" fmla="val 4099"/>
            </a:avLst>
          </a:prstGeom>
          <a:solidFill>
            <a:srgbClr val="ffffff"/>
          </a:solidFill>
          <a:ln w="7620">
            <a:solidFill>
              <a:srgbClr val="ffffff"/>
            </a:solidFill>
            <a:round/>
          </a:ln>
        </p:spPr>
        <p:style>
          <a:lnRef idx="0"/>
          <a:fillRef idx="0"/>
          <a:effectRef idx="0"/>
          <a:fontRef idx="minor"/>
        </p:style>
        <p:txBody>
          <a:bodyPr lIns="90000" rIns="90000" tIns="45000" bIns="45000" anchor="t">
            <a:noAutofit/>
          </a:bodyPr>
          <a:p>
            <a:endParaRPr lang="en-US" sz="1800" b="0" u="none" strike="noStrike">
              <a:solidFill>
                <a:srgbClr val="000000"/>
              </a:solidFill>
              <a:effectLst/>
              <a:uFillTx/>
              <a:latin typeface="Arial"/>
            </a:endParaRPr>
          </a:p>
        </p:txBody>
      </p:sp>
      <p:sp>
        <p:nvSpPr>
          <p:cNvPr id="67" name=""/>
          <p:cNvSpPr/>
          <p:nvPr/>
        </p:nvSpPr>
        <p:spPr>
          <a:xfrm>
            <a:off x="7857000" y="2075760"/>
            <a:ext cx="6172200" cy="554868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624"/>
              </a:spcBef>
              <a:spcAft>
                <a:spcPts val="425"/>
              </a:spcAft>
            </a:pPr>
            <a:r>
              <a:rPr lang="en-US" sz="1500" b="0" u="none" strike="noStrike">
                <a:solidFill>
                  <a:srgbClr val="000000"/>
                </a:solidFill>
                <a:effectLst/>
                <a:uFillTx/>
                <a:latin typeface="Inter bold"/>
                <a:ea typeface="Microsoft YaHei"/>
              </a:rPr>
              <a:t>5. Ingénieur Cloud</a:t>
            </a:r>
            <a:endParaRPr lang="en-US" sz="1500" b="1" u="none" strike="noStrike">
              <a:solidFill>
                <a:srgbClr val="000000"/>
              </a:solidFill>
              <a:effectLst/>
              <a:uFillTx/>
              <a:latin typeface="Inter bold"/>
              <a:ea typeface="Microsoft YaHei"/>
            </a:endParaRPr>
          </a:p>
          <a:p>
            <a:pPr>
              <a:lnSpc>
                <a:spcPct val="100000"/>
              </a:lnSpc>
              <a:spcBef>
                <a:spcPts val="624"/>
              </a:spcBef>
              <a:spcAft>
                <a:spcPts val="425"/>
              </a:spcAft>
            </a:pPr>
            <a:r>
              <a:rPr lang="en-US" sz="1400" b="0" u="none" strike="noStrike">
                <a:solidFill>
                  <a:srgbClr val="000000"/>
                </a:solidFill>
                <a:effectLst/>
                <a:uFillTx/>
                <a:latin typeface="Inter bold"/>
                <a:ea typeface="Microsoft YaHei"/>
              </a:rPr>
              <a:t>Gestion des services cloud sur Linux.</a:t>
            </a:r>
            <a:endParaRPr lang="en-US" sz="1400" b="1" u="none" strike="noStrike">
              <a:solidFill>
                <a:srgbClr val="000000"/>
              </a:solidFill>
              <a:effectLst/>
              <a:uFillTx/>
              <a:latin typeface="Inter bold"/>
              <a:ea typeface="Microsoft YaHei"/>
            </a:endParaRPr>
          </a:p>
          <a:p>
            <a:pPr>
              <a:lnSpc>
                <a:spcPct val="100000"/>
              </a:lnSpc>
              <a:spcBef>
                <a:spcPts val="624"/>
              </a:spcBef>
              <a:spcAft>
                <a:spcPts val="425"/>
              </a:spcAft>
            </a:pPr>
            <a:r>
              <a:rPr lang="en-US" sz="1400" b="0" u="none" strike="noStrike">
                <a:solidFill>
                  <a:srgbClr val="000000"/>
                </a:solidFill>
                <a:effectLst/>
                <a:uFillTx/>
                <a:latin typeface="Inter bold"/>
                <a:ea typeface="Microsoft YaHei"/>
              </a:rPr>
              <a:t>Administration de plateformes comme AWS, Azure et Google Cloud.</a:t>
            </a:r>
            <a:endParaRPr lang="en-US" sz="1400" b="1" u="none" strike="noStrike">
              <a:solidFill>
                <a:srgbClr val="000000"/>
              </a:solidFill>
              <a:effectLst/>
              <a:uFillTx/>
              <a:latin typeface="Inter bold"/>
              <a:ea typeface="Microsoft YaHei"/>
            </a:endParaRPr>
          </a:p>
          <a:p>
            <a:pPr>
              <a:lnSpc>
                <a:spcPct val="100000"/>
              </a:lnSpc>
              <a:spcBef>
                <a:spcPts val="624"/>
              </a:spcBef>
              <a:spcAft>
                <a:spcPts val="425"/>
              </a:spcAft>
            </a:pPr>
            <a:r>
              <a:rPr lang="en-US" sz="1500" b="0" u="none" strike="noStrike">
                <a:solidFill>
                  <a:srgbClr val="000000"/>
                </a:solidFill>
                <a:effectLst/>
                <a:uFillTx/>
                <a:latin typeface="Inter bold"/>
                <a:ea typeface="Microsoft YaHei"/>
              </a:rPr>
              <a:t>6. Analyste en Cybersécurité</a:t>
            </a:r>
            <a:endParaRPr lang="en-US" sz="1500" b="1" u="none" strike="noStrike">
              <a:solidFill>
                <a:srgbClr val="000000"/>
              </a:solidFill>
              <a:effectLst/>
              <a:uFillTx/>
              <a:latin typeface="Inter bold"/>
              <a:ea typeface="Microsoft YaHei"/>
            </a:endParaRPr>
          </a:p>
          <a:p>
            <a:pPr>
              <a:lnSpc>
                <a:spcPct val="100000"/>
              </a:lnSpc>
              <a:spcBef>
                <a:spcPts val="624"/>
              </a:spcBef>
              <a:spcAft>
                <a:spcPts val="425"/>
              </a:spcAft>
            </a:pPr>
            <a:r>
              <a:rPr lang="en-US" sz="1400" b="0" u="none" strike="noStrike">
                <a:solidFill>
                  <a:srgbClr val="000000"/>
                </a:solidFill>
                <a:effectLst/>
                <a:uFillTx/>
                <a:latin typeface="Inter bold"/>
                <a:ea typeface="Microsoft YaHei"/>
              </a:rPr>
              <a:t>Protection des systèmes contre les attaques.</a:t>
            </a:r>
            <a:endParaRPr lang="en-US" sz="1400" b="1" u="none" strike="noStrike">
              <a:solidFill>
                <a:srgbClr val="000000"/>
              </a:solidFill>
              <a:effectLst/>
              <a:uFillTx/>
              <a:latin typeface="Inter bold"/>
              <a:ea typeface="Microsoft YaHei"/>
            </a:endParaRPr>
          </a:p>
          <a:p>
            <a:pPr>
              <a:lnSpc>
                <a:spcPct val="100000"/>
              </a:lnSpc>
              <a:spcBef>
                <a:spcPts val="624"/>
              </a:spcBef>
              <a:spcAft>
                <a:spcPts val="425"/>
              </a:spcAft>
            </a:pPr>
            <a:r>
              <a:rPr lang="en-US" sz="1400" b="0" u="none" strike="noStrike">
                <a:solidFill>
                  <a:srgbClr val="000000"/>
                </a:solidFill>
                <a:effectLst/>
                <a:uFillTx/>
                <a:latin typeface="Inter bold"/>
                <a:ea typeface="Microsoft YaHei"/>
              </a:rPr>
              <a:t>Audit et surveillance de la sécurité informatique.</a:t>
            </a:r>
            <a:endParaRPr lang="en-US" sz="1400" b="1" u="none" strike="noStrike">
              <a:solidFill>
                <a:srgbClr val="000000"/>
              </a:solidFill>
              <a:effectLst/>
              <a:uFillTx/>
              <a:latin typeface="Inter bold"/>
              <a:ea typeface="Microsoft YaHei"/>
            </a:endParaRPr>
          </a:p>
          <a:p>
            <a:pPr>
              <a:lnSpc>
                <a:spcPct val="100000"/>
              </a:lnSpc>
              <a:spcBef>
                <a:spcPts val="624"/>
              </a:spcBef>
              <a:spcAft>
                <a:spcPts val="425"/>
              </a:spcAft>
            </a:pPr>
            <a:r>
              <a:rPr lang="en-US" sz="1500" b="0" u="none" strike="noStrike">
                <a:solidFill>
                  <a:srgbClr val="000000"/>
                </a:solidFill>
                <a:effectLst/>
                <a:uFillTx/>
                <a:latin typeface="Inter bold"/>
                <a:ea typeface="Microsoft YaHei"/>
              </a:rPr>
              <a:t>7. Développeur Logiciel</a:t>
            </a:r>
            <a:endParaRPr lang="en-US" sz="1500" b="1" u="none" strike="noStrike">
              <a:solidFill>
                <a:srgbClr val="000000"/>
              </a:solidFill>
              <a:effectLst/>
              <a:uFillTx/>
              <a:latin typeface="Inter bold"/>
              <a:ea typeface="Microsoft YaHei"/>
            </a:endParaRPr>
          </a:p>
          <a:p>
            <a:pPr>
              <a:lnSpc>
                <a:spcPct val="100000"/>
              </a:lnSpc>
              <a:spcBef>
                <a:spcPts val="624"/>
              </a:spcBef>
              <a:spcAft>
                <a:spcPts val="425"/>
              </a:spcAft>
            </a:pPr>
            <a:r>
              <a:rPr lang="en-US" sz="1400" b="0" u="none" strike="noStrike">
                <a:solidFill>
                  <a:srgbClr val="000000"/>
                </a:solidFill>
                <a:effectLst/>
                <a:uFillTx/>
                <a:latin typeface="Inter bold"/>
                <a:ea typeface="Microsoft YaHei"/>
              </a:rPr>
              <a:t>Création d'applications fonctionnant sous Linux.</a:t>
            </a:r>
            <a:endParaRPr lang="en-US" sz="1400" b="1" u="none" strike="noStrike">
              <a:solidFill>
                <a:srgbClr val="000000"/>
              </a:solidFill>
              <a:effectLst/>
              <a:uFillTx/>
              <a:latin typeface="Inter bold"/>
              <a:ea typeface="Microsoft YaHei"/>
            </a:endParaRPr>
          </a:p>
          <a:p>
            <a:pPr>
              <a:lnSpc>
                <a:spcPct val="100000"/>
              </a:lnSpc>
              <a:spcBef>
                <a:spcPts val="624"/>
              </a:spcBef>
              <a:spcAft>
                <a:spcPts val="425"/>
              </a:spcAft>
            </a:pPr>
            <a:r>
              <a:rPr lang="en-US" sz="1400" b="0" u="none" strike="noStrike">
                <a:solidFill>
                  <a:srgbClr val="000000"/>
                </a:solidFill>
                <a:effectLst/>
                <a:uFillTx/>
                <a:latin typeface="Inter bold"/>
                <a:ea typeface="Microsoft YaHei"/>
              </a:rPr>
              <a:t>Développement d'outils et de scripts d'automatisation.</a:t>
            </a:r>
            <a:endParaRPr lang="en-US" sz="1400" b="1" u="none" strike="noStrike">
              <a:solidFill>
                <a:srgbClr val="000000"/>
              </a:solidFill>
              <a:effectLst/>
              <a:uFillTx/>
              <a:latin typeface="Inter bold"/>
              <a:ea typeface="Microsoft YaHei"/>
            </a:endParaRPr>
          </a:p>
          <a:p>
            <a:pPr>
              <a:lnSpc>
                <a:spcPct val="100000"/>
              </a:lnSpc>
              <a:spcBef>
                <a:spcPts val="624"/>
              </a:spcBef>
              <a:spcAft>
                <a:spcPts val="425"/>
              </a:spcAft>
            </a:pPr>
            <a:r>
              <a:rPr lang="en-US" sz="1400" b="0" u="none" strike="noStrike">
                <a:solidFill>
                  <a:srgbClr val="000000"/>
                </a:solidFill>
                <a:effectLst/>
                <a:uFillTx/>
                <a:latin typeface="Inter bold"/>
                <a:ea typeface="Microsoft YaHei"/>
              </a:rPr>
              <a:t>Compétences recherchées</a:t>
            </a:r>
            <a:endParaRPr lang="en-US" sz="1400" b="1" u="none" strike="noStrike">
              <a:solidFill>
                <a:srgbClr val="000000"/>
              </a:solidFill>
              <a:effectLst/>
              <a:uFillTx/>
              <a:latin typeface="Inter bold"/>
              <a:ea typeface="Microsoft YaHei"/>
            </a:endParaRPr>
          </a:p>
          <a:p>
            <a:pPr>
              <a:lnSpc>
                <a:spcPct val="100000"/>
              </a:lnSpc>
              <a:spcBef>
                <a:spcPts val="624"/>
              </a:spcBef>
              <a:spcAft>
                <a:spcPts val="425"/>
              </a:spcAft>
            </a:pPr>
            <a:r>
              <a:rPr lang="en-US" sz="1400" b="0" u="none" strike="noStrike">
                <a:solidFill>
                  <a:srgbClr val="000000"/>
                </a:solidFill>
                <a:effectLst/>
                <a:uFillTx/>
                <a:latin typeface="Inter bold"/>
                <a:ea typeface="Microsoft YaHei"/>
              </a:rPr>
              <a:t>✓ Administration Linux</a:t>
            </a:r>
            <a:endParaRPr lang="en-US" sz="1400" b="1" u="none" strike="noStrike">
              <a:solidFill>
                <a:srgbClr val="000000"/>
              </a:solidFill>
              <a:effectLst/>
              <a:uFillTx/>
              <a:latin typeface="Inter bold"/>
              <a:ea typeface="Microsoft YaHei"/>
            </a:endParaRPr>
          </a:p>
          <a:p>
            <a:pPr>
              <a:lnSpc>
                <a:spcPct val="100000"/>
              </a:lnSpc>
              <a:spcBef>
                <a:spcPts val="624"/>
              </a:spcBef>
              <a:spcAft>
                <a:spcPts val="425"/>
              </a:spcAft>
            </a:pPr>
            <a:r>
              <a:rPr lang="en-US" sz="1400" b="0" u="none" strike="noStrike">
                <a:solidFill>
                  <a:srgbClr val="000000"/>
                </a:solidFill>
                <a:effectLst/>
                <a:uFillTx/>
                <a:latin typeface="Inter bold"/>
                <a:ea typeface="Microsoft YaHei"/>
              </a:rPr>
              <a:t>✓ Réseaux informatiques</a:t>
            </a:r>
            <a:endParaRPr lang="en-US" sz="1400" b="1" u="none" strike="noStrike">
              <a:solidFill>
                <a:srgbClr val="000000"/>
              </a:solidFill>
              <a:effectLst/>
              <a:uFillTx/>
              <a:latin typeface="Inter bold"/>
              <a:ea typeface="Microsoft YaHei"/>
            </a:endParaRPr>
          </a:p>
          <a:p>
            <a:pPr>
              <a:lnSpc>
                <a:spcPct val="100000"/>
              </a:lnSpc>
              <a:spcBef>
                <a:spcPts val="624"/>
              </a:spcBef>
              <a:spcAft>
                <a:spcPts val="425"/>
              </a:spcAft>
            </a:pPr>
            <a:r>
              <a:rPr lang="en-US" sz="1400" b="0" u="none" strike="noStrike">
                <a:solidFill>
                  <a:srgbClr val="000000"/>
                </a:solidFill>
                <a:effectLst/>
                <a:uFillTx/>
                <a:latin typeface="Inter bold"/>
                <a:ea typeface="Microsoft YaHei"/>
              </a:rPr>
              <a:t>✓ Scripts Bash et Python</a:t>
            </a:r>
            <a:endParaRPr lang="en-US" sz="1400" b="1" u="none" strike="noStrike">
              <a:solidFill>
                <a:srgbClr val="000000"/>
              </a:solidFill>
              <a:effectLst/>
              <a:uFillTx/>
              <a:latin typeface="Inter bold"/>
              <a:ea typeface="Microsoft YaHei"/>
            </a:endParaRPr>
          </a:p>
          <a:p>
            <a:pPr>
              <a:lnSpc>
                <a:spcPct val="100000"/>
              </a:lnSpc>
              <a:spcBef>
                <a:spcPts val="624"/>
              </a:spcBef>
              <a:spcAft>
                <a:spcPts val="425"/>
              </a:spcAft>
            </a:pPr>
            <a:r>
              <a:rPr lang="en-US" sz="1400" b="0" u="none" strike="noStrike">
                <a:solidFill>
                  <a:srgbClr val="000000"/>
                </a:solidFill>
                <a:effectLst/>
                <a:uFillTx/>
                <a:latin typeface="Inter bold"/>
                <a:ea typeface="Microsoft YaHei"/>
              </a:rPr>
              <a:t>✓ Cloud Computing</a:t>
            </a:r>
            <a:endParaRPr lang="en-US" sz="1400" b="1" u="none" strike="noStrike">
              <a:solidFill>
                <a:srgbClr val="000000"/>
              </a:solidFill>
              <a:effectLst/>
              <a:uFillTx/>
              <a:latin typeface="Inter bold"/>
              <a:ea typeface="Microsoft YaHei"/>
            </a:endParaRPr>
          </a:p>
          <a:p>
            <a:pPr>
              <a:lnSpc>
                <a:spcPct val="100000"/>
              </a:lnSpc>
              <a:spcBef>
                <a:spcPts val="624"/>
              </a:spcBef>
              <a:spcAft>
                <a:spcPts val="425"/>
              </a:spcAft>
            </a:pPr>
            <a:r>
              <a:rPr lang="en-US" sz="1400" b="0" u="none" strike="noStrike">
                <a:solidFill>
                  <a:srgbClr val="000000"/>
                </a:solidFill>
                <a:effectLst/>
                <a:uFillTx/>
                <a:latin typeface="Inter bold"/>
                <a:ea typeface="Microsoft YaHei"/>
              </a:rPr>
              <a:t>✓ Cybersécurité</a:t>
            </a:r>
            <a:endParaRPr lang="en-US" sz="1400" b="1" u="none" strike="noStrike">
              <a:solidFill>
                <a:srgbClr val="000000"/>
              </a:solidFill>
              <a:effectLst/>
              <a:uFillTx/>
              <a:latin typeface="Inter bold"/>
              <a:ea typeface="Microsoft YaHei"/>
            </a:endParaRPr>
          </a:p>
          <a:p>
            <a:pPr>
              <a:lnSpc>
                <a:spcPct val="100000"/>
              </a:lnSpc>
              <a:spcBef>
                <a:spcPts val="624"/>
              </a:spcBef>
              <a:spcAft>
                <a:spcPts val="425"/>
              </a:spcAft>
            </a:pPr>
            <a:r>
              <a:rPr lang="en-US" sz="1400" b="0" u="none" strike="noStrike">
                <a:solidFill>
                  <a:srgbClr val="000000"/>
                </a:solidFill>
                <a:effectLst/>
                <a:uFillTx/>
                <a:latin typeface="Inter bold"/>
                <a:ea typeface="Microsoft YaHei"/>
              </a:rPr>
              <a:t>✓ Virtualisation et conteneurs</a:t>
            </a:r>
            <a:endParaRPr lang="en-US" sz="1400" b="1" u="none" strike="noStrike">
              <a:solidFill>
                <a:srgbClr val="000000"/>
              </a:solidFill>
              <a:effectLst/>
              <a:uFillTx/>
              <a:latin typeface="Inter bold"/>
              <a:ea typeface="Microsoft YaHei"/>
            </a:endParaRPr>
          </a:p>
        </p:txBody>
      </p:sp>
      <p:sp>
        <p:nvSpPr>
          <p:cNvPr id="68" name=""/>
          <p:cNvSpPr/>
          <p:nvPr/>
        </p:nvSpPr>
        <p:spPr>
          <a:xfrm>
            <a:off x="518400" y="2063160"/>
            <a:ext cx="6858000" cy="544572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624"/>
              </a:spcBef>
              <a:spcAft>
                <a:spcPts val="425"/>
              </a:spcAft>
            </a:pPr>
            <a:r>
              <a:rPr lang="en-US" sz="1400" b="0" u="none" strike="noStrike">
                <a:solidFill>
                  <a:srgbClr val="000000"/>
                </a:solidFill>
                <a:effectLst/>
                <a:uFillTx/>
                <a:latin typeface="Inter bold"/>
              </a:rPr>
              <a:t>Linux est utilisé dans de nombreux domaines de l'informatique. Sa maîtrise ouvre la porte à plusieurs métiers :</a:t>
            </a:r>
            <a:endParaRPr lang="en-US" sz="1400" b="1" u="none" strike="noStrike">
              <a:solidFill>
                <a:srgbClr val="000000"/>
              </a:solidFill>
              <a:effectLst/>
              <a:uFillTx/>
              <a:latin typeface="Inter bold"/>
              <a:ea typeface="Microsoft YaHei"/>
            </a:endParaRPr>
          </a:p>
          <a:p>
            <a:pPr>
              <a:lnSpc>
                <a:spcPct val="100000"/>
              </a:lnSpc>
              <a:spcBef>
                <a:spcPts val="624"/>
              </a:spcBef>
              <a:spcAft>
                <a:spcPts val="425"/>
              </a:spcAft>
            </a:pPr>
            <a:r>
              <a:rPr lang="en-US" sz="1500" b="0" u="none" strike="noStrike">
                <a:solidFill>
                  <a:srgbClr val="000000"/>
                </a:solidFill>
                <a:effectLst/>
                <a:uFillTx/>
                <a:latin typeface="Inter bold"/>
              </a:rPr>
              <a:t>1. Administrateur Systèmes Linux</a:t>
            </a:r>
            <a:endParaRPr lang="en-US" sz="1500" b="1" u="none" strike="noStrike">
              <a:solidFill>
                <a:srgbClr val="000000"/>
              </a:solidFill>
              <a:effectLst/>
              <a:uFillTx/>
              <a:latin typeface="Inter bold"/>
              <a:ea typeface="Microsoft YaHei"/>
            </a:endParaRPr>
          </a:p>
          <a:p>
            <a:pPr>
              <a:lnSpc>
                <a:spcPct val="100000"/>
              </a:lnSpc>
              <a:spcBef>
                <a:spcPts val="624"/>
              </a:spcBef>
              <a:spcAft>
                <a:spcPts val="425"/>
              </a:spcAft>
            </a:pPr>
            <a:r>
              <a:rPr lang="en-US" sz="1400" b="0" u="none" strike="noStrike">
                <a:solidFill>
                  <a:srgbClr val="000000"/>
                </a:solidFill>
                <a:effectLst/>
                <a:uFillTx/>
                <a:latin typeface="Inter bold"/>
              </a:rPr>
              <a:t>Installation et maintenance des serveurs Linux.</a:t>
            </a:r>
            <a:endParaRPr lang="en-US" sz="1400" b="1" u="none" strike="noStrike">
              <a:solidFill>
                <a:srgbClr val="000000"/>
              </a:solidFill>
              <a:effectLst/>
              <a:uFillTx/>
              <a:latin typeface="Inter bold"/>
              <a:ea typeface="Microsoft YaHei"/>
            </a:endParaRPr>
          </a:p>
          <a:p>
            <a:pPr>
              <a:lnSpc>
                <a:spcPct val="100000"/>
              </a:lnSpc>
              <a:spcBef>
                <a:spcPts val="624"/>
              </a:spcBef>
              <a:spcAft>
                <a:spcPts val="425"/>
              </a:spcAft>
            </a:pPr>
            <a:r>
              <a:rPr lang="en-US" sz="1400" b="0" u="none" strike="noStrike">
                <a:solidFill>
                  <a:srgbClr val="000000"/>
                </a:solidFill>
                <a:effectLst/>
                <a:uFillTx/>
                <a:latin typeface="Inter bold"/>
              </a:rPr>
              <a:t>Gestion des utilisateurs et de la sécurité.</a:t>
            </a:r>
            <a:endParaRPr lang="en-US" sz="1400" b="0" u="none" strike="noStrike">
              <a:solidFill>
                <a:srgbClr val="000000"/>
              </a:solidFill>
              <a:effectLst/>
              <a:uFillTx/>
              <a:latin typeface="Inter bold"/>
              <a:ea typeface="Microsoft YaHei"/>
            </a:endParaRPr>
          </a:p>
          <a:p>
            <a:pPr>
              <a:lnSpc>
                <a:spcPct val="100000"/>
              </a:lnSpc>
              <a:spcBef>
                <a:spcPts val="624"/>
              </a:spcBef>
              <a:spcAft>
                <a:spcPts val="425"/>
              </a:spcAft>
            </a:pPr>
            <a:r>
              <a:rPr lang="en-US" sz="1400" b="0" u="none" strike="noStrike">
                <a:solidFill>
                  <a:srgbClr val="000000"/>
                </a:solidFill>
                <a:effectLst/>
                <a:uFillTx/>
                <a:latin typeface="Inter bold"/>
              </a:rPr>
              <a:t>Surveillance des performances.</a:t>
            </a:r>
            <a:endParaRPr lang="en-US" sz="1400" b="0" u="none" strike="noStrike">
              <a:solidFill>
                <a:srgbClr val="000000"/>
              </a:solidFill>
              <a:effectLst/>
              <a:uFillTx/>
              <a:latin typeface="Inter bold"/>
              <a:ea typeface="Microsoft YaHei"/>
            </a:endParaRPr>
          </a:p>
          <a:p>
            <a:pPr>
              <a:lnSpc>
                <a:spcPct val="100000"/>
              </a:lnSpc>
              <a:spcBef>
                <a:spcPts val="624"/>
              </a:spcBef>
              <a:spcAft>
                <a:spcPts val="425"/>
              </a:spcAft>
            </a:pPr>
            <a:r>
              <a:rPr lang="en-US" sz="1600" b="1" u="none" strike="noStrike">
                <a:solidFill>
                  <a:srgbClr val="000000"/>
                </a:solidFill>
                <a:effectLst/>
                <a:uFillTx/>
                <a:latin typeface="Inter bold"/>
              </a:rPr>
              <a:t>2. Ingénieur Systèmes Linux</a:t>
            </a:r>
            <a:endParaRPr lang="en-US" sz="1600" b="1" u="none" strike="noStrike">
              <a:solidFill>
                <a:srgbClr val="000000"/>
              </a:solidFill>
              <a:effectLst/>
              <a:uFillTx/>
              <a:latin typeface="Inter bold"/>
              <a:ea typeface="Microsoft YaHei"/>
            </a:endParaRPr>
          </a:p>
          <a:p>
            <a:pPr>
              <a:lnSpc>
                <a:spcPct val="100000"/>
              </a:lnSpc>
              <a:spcBef>
                <a:spcPts val="624"/>
              </a:spcBef>
              <a:spcAft>
                <a:spcPts val="425"/>
              </a:spcAft>
            </a:pPr>
            <a:r>
              <a:rPr lang="en-US" sz="1400" b="0" u="none" strike="noStrike">
                <a:solidFill>
                  <a:srgbClr val="000000"/>
                </a:solidFill>
                <a:effectLst/>
                <a:uFillTx/>
                <a:latin typeface="Inter bold"/>
              </a:rPr>
              <a:t>Conception et déploiement d'infrastructures informatiques.</a:t>
            </a:r>
            <a:endParaRPr lang="en-US" sz="1400" b="0" u="none" strike="noStrike">
              <a:solidFill>
                <a:srgbClr val="000000"/>
              </a:solidFill>
              <a:effectLst/>
              <a:uFillTx/>
              <a:latin typeface="Inter bold"/>
              <a:ea typeface="Microsoft YaHei"/>
            </a:endParaRPr>
          </a:p>
          <a:p>
            <a:pPr>
              <a:lnSpc>
                <a:spcPct val="100000"/>
              </a:lnSpc>
              <a:spcBef>
                <a:spcPts val="624"/>
              </a:spcBef>
              <a:spcAft>
                <a:spcPts val="425"/>
              </a:spcAft>
            </a:pPr>
            <a:r>
              <a:rPr lang="en-US" sz="1400" b="0" u="none" strike="noStrike">
                <a:solidFill>
                  <a:srgbClr val="000000"/>
                </a:solidFill>
                <a:effectLst/>
                <a:uFillTx/>
                <a:latin typeface="Inter bold"/>
              </a:rPr>
              <a:t>Automatisation des tâches et optimisation des systèmes.</a:t>
            </a:r>
            <a:endParaRPr lang="en-US" sz="1400" b="0" u="none" strike="noStrike">
              <a:solidFill>
                <a:srgbClr val="000000"/>
              </a:solidFill>
              <a:effectLst/>
              <a:uFillTx/>
              <a:latin typeface="Inter bold"/>
              <a:ea typeface="Microsoft YaHei"/>
            </a:endParaRPr>
          </a:p>
          <a:p>
            <a:pPr>
              <a:lnSpc>
                <a:spcPct val="100000"/>
              </a:lnSpc>
              <a:spcBef>
                <a:spcPts val="624"/>
              </a:spcBef>
              <a:spcAft>
                <a:spcPts val="425"/>
              </a:spcAft>
            </a:pPr>
            <a:r>
              <a:rPr lang="en-US" sz="1500" b="0" u="none" strike="noStrike">
                <a:solidFill>
                  <a:srgbClr val="000000"/>
                </a:solidFill>
                <a:effectLst/>
                <a:uFillTx/>
                <a:latin typeface="Inter bold"/>
              </a:rPr>
              <a:t>3. Administrateur Réseau</a:t>
            </a:r>
            <a:endParaRPr lang="en-US" sz="1500" b="1" u="none" strike="noStrike">
              <a:solidFill>
                <a:srgbClr val="000000"/>
              </a:solidFill>
              <a:effectLst/>
              <a:uFillTx/>
              <a:latin typeface="Inter bold"/>
              <a:ea typeface="Microsoft YaHei"/>
            </a:endParaRPr>
          </a:p>
          <a:p>
            <a:pPr>
              <a:lnSpc>
                <a:spcPct val="100000"/>
              </a:lnSpc>
              <a:spcBef>
                <a:spcPts val="624"/>
              </a:spcBef>
              <a:spcAft>
                <a:spcPts val="425"/>
              </a:spcAft>
            </a:pPr>
            <a:r>
              <a:rPr lang="en-US" sz="1400" b="0" u="none" strike="noStrike">
                <a:solidFill>
                  <a:srgbClr val="000000"/>
                </a:solidFill>
                <a:effectLst/>
                <a:uFillTx/>
                <a:latin typeface="Inter bold"/>
              </a:rPr>
              <a:t>Configuration et gestion des équipements réseau.</a:t>
            </a:r>
            <a:endParaRPr lang="en-US" sz="1400" b="0" u="none" strike="noStrike">
              <a:solidFill>
                <a:srgbClr val="000000"/>
              </a:solidFill>
              <a:effectLst/>
              <a:uFillTx/>
              <a:latin typeface="Inter bold"/>
              <a:ea typeface="Microsoft YaHei"/>
            </a:endParaRPr>
          </a:p>
          <a:p>
            <a:pPr>
              <a:lnSpc>
                <a:spcPct val="100000"/>
              </a:lnSpc>
              <a:spcBef>
                <a:spcPts val="624"/>
              </a:spcBef>
              <a:spcAft>
                <a:spcPts val="425"/>
              </a:spcAft>
            </a:pPr>
            <a:r>
              <a:rPr lang="en-US" sz="1400" b="0" u="none" strike="noStrike">
                <a:solidFill>
                  <a:srgbClr val="000000"/>
                </a:solidFill>
                <a:effectLst/>
                <a:uFillTx/>
                <a:latin typeface="Inter bold"/>
              </a:rPr>
              <a:t>Sécurisation des communications.</a:t>
            </a:r>
            <a:endParaRPr lang="en-US" sz="1400" b="0" u="none" strike="noStrike">
              <a:solidFill>
                <a:srgbClr val="000000"/>
              </a:solidFill>
              <a:effectLst/>
              <a:uFillTx/>
              <a:latin typeface="Inter bold"/>
              <a:ea typeface="Microsoft YaHei"/>
            </a:endParaRPr>
          </a:p>
          <a:p>
            <a:pPr>
              <a:lnSpc>
                <a:spcPct val="100000"/>
              </a:lnSpc>
              <a:spcBef>
                <a:spcPts val="624"/>
              </a:spcBef>
              <a:spcAft>
                <a:spcPts val="425"/>
              </a:spcAft>
            </a:pPr>
            <a:r>
              <a:rPr lang="en-US" sz="1500" b="0" u="none" strike="noStrike">
                <a:solidFill>
                  <a:srgbClr val="000000"/>
                </a:solidFill>
                <a:effectLst/>
                <a:uFillTx/>
                <a:latin typeface="Inter bold"/>
              </a:rPr>
              <a:t>4. Ingénieur DevOps</a:t>
            </a:r>
            <a:endParaRPr lang="en-US" sz="1500" b="1" u="none" strike="noStrike">
              <a:solidFill>
                <a:srgbClr val="000000"/>
              </a:solidFill>
              <a:effectLst/>
              <a:uFillTx/>
              <a:latin typeface="Inter bold"/>
              <a:ea typeface="Microsoft YaHei"/>
            </a:endParaRPr>
          </a:p>
          <a:p>
            <a:pPr>
              <a:lnSpc>
                <a:spcPct val="100000"/>
              </a:lnSpc>
              <a:spcBef>
                <a:spcPts val="624"/>
              </a:spcBef>
              <a:spcAft>
                <a:spcPts val="425"/>
              </a:spcAft>
            </a:pPr>
            <a:r>
              <a:rPr lang="en-US" sz="1400" b="0" u="none" strike="noStrike">
                <a:solidFill>
                  <a:srgbClr val="000000"/>
                </a:solidFill>
                <a:effectLst/>
                <a:uFillTx/>
                <a:latin typeface="Inter bold"/>
              </a:rPr>
              <a:t>Automatisation du déploiement des applications.</a:t>
            </a:r>
            <a:endParaRPr lang="en-US" sz="1400" b="0" u="none" strike="noStrike">
              <a:solidFill>
                <a:srgbClr val="000000"/>
              </a:solidFill>
              <a:effectLst/>
              <a:uFillTx/>
              <a:latin typeface="Inter bold"/>
              <a:ea typeface="Microsoft YaHei"/>
            </a:endParaRPr>
          </a:p>
          <a:p>
            <a:pPr>
              <a:lnSpc>
                <a:spcPct val="100000"/>
              </a:lnSpc>
              <a:spcBef>
                <a:spcPts val="624"/>
              </a:spcBef>
              <a:spcAft>
                <a:spcPts val="425"/>
              </a:spcAft>
            </a:pPr>
            <a:r>
              <a:rPr lang="en-US" sz="1400" b="0" u="none" strike="noStrike">
                <a:solidFill>
                  <a:srgbClr val="000000"/>
                </a:solidFill>
                <a:effectLst/>
                <a:uFillTx/>
                <a:latin typeface="Inter bold"/>
              </a:rPr>
              <a:t>Utilisation d'outils comme Docker, Kubernetes et Jenkins.</a:t>
            </a:r>
            <a:endParaRPr lang="en-US" sz="1400" b="0" u="none" strike="noStrike">
              <a:solidFill>
                <a:srgbClr val="000000"/>
              </a:solidFill>
              <a:effectLst/>
              <a:uFillTx/>
              <a:latin typeface="Inter bold"/>
              <a:ea typeface="Microsoft YaHei"/>
            </a:endParaRPr>
          </a:p>
          <a:p>
            <a:pPr>
              <a:lnSpc>
                <a:spcPct val="100000"/>
              </a:lnSpc>
              <a:spcBef>
                <a:spcPts val="624"/>
              </a:spcBef>
              <a:spcAft>
                <a:spcPts val="425"/>
              </a:spcAft>
            </a:pPr>
            <a:endParaRPr lang="en-US" sz="1400" b="1" u="none" strike="noStrike">
              <a:solidFill>
                <a:srgbClr val="000000"/>
              </a:solidFill>
              <a:effectLst/>
              <a:uFillTx/>
              <a:latin typeface="Inter bold"/>
              <a:ea typeface="Microsoft YaHei"/>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9" name="Image 0" descr="preencoded.png"/>
          <p:cNvPicPr/>
          <p:nvPr/>
        </p:nvPicPr>
        <p:blipFill>
          <a:blip r:embed="rId1"/>
          <a:stretch/>
        </p:blipFill>
        <p:spPr>
          <a:xfrm>
            <a:off x="9000000" y="0"/>
            <a:ext cx="5484600" cy="8227800"/>
          </a:xfrm>
          <a:prstGeom prst="rect">
            <a:avLst/>
          </a:prstGeom>
          <a:noFill/>
          <a:ln w="0">
            <a:noFill/>
          </a:ln>
        </p:spPr>
      </p:pic>
      <p:sp>
        <p:nvSpPr>
          <p:cNvPr id="70" name="Text 0"/>
          <p:cNvSpPr/>
          <p:nvPr/>
        </p:nvSpPr>
        <p:spPr>
          <a:xfrm>
            <a:off x="562680" y="791280"/>
            <a:ext cx="7094520" cy="500400"/>
          </a:xfrm>
          <a:prstGeom prst="rect">
            <a:avLst/>
          </a:prstGeom>
          <a:noFill/>
          <a:ln w="0">
            <a:noFill/>
          </a:ln>
        </p:spPr>
        <p:style>
          <a:lnRef idx="0"/>
          <a:fillRef idx="0"/>
          <a:effectRef idx="0"/>
          <a:fontRef idx="minor"/>
        </p:style>
        <p:txBody>
          <a:bodyPr wrap="none" lIns="0" rIns="0" tIns="0" bIns="0" anchor="t">
            <a:noAutofit/>
          </a:bodyPr>
          <a:p>
            <a:pPr>
              <a:lnSpc>
                <a:spcPts val="3949"/>
              </a:lnSpc>
              <a:tabLst>
                <a:tab algn="l" pos="0"/>
              </a:tabLst>
            </a:pPr>
            <a:r>
              <a:rPr lang="en-US" sz="3150" b="1" u="none" strike="noStrike">
                <a:solidFill>
                  <a:srgbClr val="000000"/>
                </a:solidFill>
                <a:effectLst/>
                <a:uFillTx/>
                <a:latin typeface="Inter Bold"/>
                <a:ea typeface="Inter Bold"/>
              </a:rPr>
              <a:t>Pourquoi apprendre Linux en 2026 ?</a:t>
            </a:r>
            <a:endParaRPr lang="en-US" sz="3150" b="0" u="none" strike="noStrike">
              <a:solidFill>
                <a:srgbClr val="000000"/>
              </a:solidFill>
              <a:effectLst/>
              <a:uFillTx/>
              <a:latin typeface="Arial"/>
            </a:endParaRPr>
          </a:p>
        </p:txBody>
      </p:sp>
      <p:sp>
        <p:nvSpPr>
          <p:cNvPr id="71" name="Shape 1"/>
          <p:cNvSpPr/>
          <p:nvPr/>
        </p:nvSpPr>
        <p:spPr>
          <a:xfrm>
            <a:off x="562680" y="1991520"/>
            <a:ext cx="3927240" cy="2474280"/>
          </a:xfrm>
          <a:prstGeom prst="roundRect">
            <a:avLst>
              <a:gd name="adj" fmla="val 4431"/>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72" name="Shape 2"/>
          <p:cNvSpPr/>
          <p:nvPr/>
        </p:nvSpPr>
        <p:spPr>
          <a:xfrm>
            <a:off x="562680" y="1968840"/>
            <a:ext cx="3927240" cy="89640"/>
          </a:xfrm>
          <a:prstGeom prst="roundRect">
            <a:avLst>
              <a:gd name="adj" fmla="val 73833"/>
            </a:avLst>
          </a:prstGeom>
          <a:solidFill>
            <a:srgbClr val="4950bc"/>
          </a:solidFill>
          <a:ln w="0">
            <a:noFill/>
          </a:ln>
        </p:spPr>
        <p:style>
          <a:lnRef idx="0"/>
          <a:fillRef idx="0"/>
          <a:effectRef idx="0"/>
          <a:fontRef idx="minor"/>
        </p:style>
        <p:txBody>
          <a:bodyPr lIns="90000" rIns="90000" tIns="19440" bIns="19440" anchor="t">
            <a:noAutofit/>
          </a:bodyPr>
          <a:p>
            <a:pPr>
              <a:lnSpc>
                <a:spcPct val="100000"/>
              </a:lnSpc>
            </a:pPr>
            <a:endParaRPr lang="en-US" sz="1800" b="0" u="none" strike="noStrike">
              <a:solidFill>
                <a:srgbClr val="ffffff"/>
              </a:solidFill>
              <a:effectLst/>
              <a:uFillTx/>
              <a:latin typeface="Arial"/>
            </a:endParaRPr>
          </a:p>
        </p:txBody>
      </p:sp>
      <p:sp>
        <p:nvSpPr>
          <p:cNvPr id="73" name="Shape 3"/>
          <p:cNvSpPr/>
          <p:nvPr/>
        </p:nvSpPr>
        <p:spPr>
          <a:xfrm>
            <a:off x="2286000" y="1750680"/>
            <a:ext cx="480240" cy="480240"/>
          </a:xfrm>
          <a:prstGeom prst="roundRect">
            <a:avLst>
              <a:gd name="adj" fmla="val 189630"/>
            </a:avLst>
          </a:prstGeom>
          <a:solidFill>
            <a:srgbClr val="4950bc"/>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74" name="Text 4"/>
          <p:cNvSpPr/>
          <p:nvPr/>
        </p:nvSpPr>
        <p:spPr>
          <a:xfrm>
            <a:off x="2430720" y="1870920"/>
            <a:ext cx="191160" cy="23940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lang="en-US" sz="1500" b="1" u="none" strike="noStrike">
                <a:solidFill>
                  <a:srgbClr val="ffffff"/>
                </a:solidFill>
                <a:effectLst/>
                <a:uFillTx/>
                <a:latin typeface="Inter Bold"/>
                <a:ea typeface="Inter Bold"/>
              </a:rPr>
              <a:t>1</a:t>
            </a:r>
            <a:endParaRPr lang="en-US" sz="1500" b="0" u="none" strike="noStrike">
              <a:solidFill>
                <a:srgbClr val="000000"/>
              </a:solidFill>
              <a:effectLst/>
              <a:uFillTx/>
              <a:latin typeface="Arial"/>
            </a:endParaRPr>
          </a:p>
        </p:txBody>
      </p:sp>
      <p:sp>
        <p:nvSpPr>
          <p:cNvPr id="75" name="Text 5"/>
          <p:cNvSpPr/>
          <p:nvPr/>
        </p:nvSpPr>
        <p:spPr>
          <a:xfrm>
            <a:off x="746280" y="2393640"/>
            <a:ext cx="2979720" cy="249480"/>
          </a:xfrm>
          <a:prstGeom prst="rect">
            <a:avLst/>
          </a:prstGeom>
          <a:noFill/>
          <a:ln w="0">
            <a:noFill/>
          </a:ln>
        </p:spPr>
        <p:style>
          <a:lnRef idx="0"/>
          <a:fillRef idx="0"/>
          <a:effectRef idx="0"/>
          <a:fontRef idx="minor"/>
        </p:style>
        <p:txBody>
          <a:bodyPr wrap="none" lIns="0" rIns="0" tIns="0" bIns="0" anchor="t">
            <a:noAutofit/>
          </a:bodyPr>
          <a:p>
            <a:pPr>
              <a:lnSpc>
                <a:spcPts val="1950"/>
              </a:lnSpc>
              <a:tabLst>
                <a:tab algn="l" pos="0"/>
              </a:tabLst>
            </a:pPr>
            <a:r>
              <a:rPr lang="en-US" sz="1550" b="1" u="none" strike="noStrike">
                <a:solidFill>
                  <a:srgbClr val="272525"/>
                </a:solidFill>
                <a:effectLst/>
                <a:uFillTx/>
                <a:latin typeface="Inter Bold"/>
                <a:ea typeface="Inter Bold"/>
              </a:rPr>
              <a:t>Opportunités professionnelles</a:t>
            </a:r>
            <a:endParaRPr lang="en-US" sz="1550" b="0" u="none" strike="noStrike">
              <a:solidFill>
                <a:srgbClr val="000000"/>
              </a:solidFill>
              <a:effectLst/>
              <a:uFillTx/>
              <a:latin typeface="Arial"/>
            </a:endParaRPr>
          </a:p>
        </p:txBody>
      </p:sp>
      <p:sp>
        <p:nvSpPr>
          <p:cNvPr id="76" name="Text 6"/>
          <p:cNvSpPr/>
          <p:nvPr/>
        </p:nvSpPr>
        <p:spPr>
          <a:xfrm>
            <a:off x="746280" y="2741040"/>
            <a:ext cx="3560040" cy="1541160"/>
          </a:xfrm>
          <a:prstGeom prst="rect">
            <a:avLst/>
          </a:prstGeom>
          <a:noFill/>
          <a:ln w="0">
            <a:noFill/>
          </a:ln>
        </p:spPr>
        <p:style>
          <a:lnRef idx="0"/>
          <a:fillRef idx="0"/>
          <a:effectRef idx="0"/>
          <a:fontRef idx="minor"/>
        </p:style>
        <p:txBody>
          <a:bodyPr lIns="0" rIns="0" tIns="0" bIns="0" anchor="t">
            <a:noAutofit/>
          </a:bodyPr>
          <a:p>
            <a:pPr>
              <a:lnSpc>
                <a:spcPts val="2001"/>
              </a:lnSpc>
              <a:tabLst>
                <a:tab algn="l" pos="0"/>
              </a:tabLst>
            </a:pPr>
            <a:r>
              <a:rPr lang="en-US" sz="1250" b="0" u="none" strike="noStrike">
                <a:solidFill>
                  <a:srgbClr val="272525"/>
                </a:solidFill>
                <a:effectLst/>
                <a:uFillTx/>
                <a:latin typeface="Inter"/>
                <a:ea typeface="Inter"/>
              </a:rPr>
              <a:t>Linux est omniprésent en entreprise. La majorité des infrastructures cloud (AWS, Azure, Google Cloud) reposent sur Linux. Maîtriser Linux ouvre les portes vers des métiers d'administrateur système, DevOps, ou ingénieur cloud.</a:t>
            </a:r>
            <a:endParaRPr lang="en-US" sz="1250" b="0" u="none" strike="noStrike">
              <a:solidFill>
                <a:srgbClr val="000000"/>
              </a:solidFill>
              <a:effectLst/>
              <a:uFillTx/>
              <a:latin typeface="Arial"/>
            </a:endParaRPr>
          </a:p>
        </p:txBody>
      </p:sp>
      <p:sp>
        <p:nvSpPr>
          <p:cNvPr id="77" name="Shape 7"/>
          <p:cNvSpPr/>
          <p:nvPr/>
        </p:nvSpPr>
        <p:spPr>
          <a:xfrm>
            <a:off x="4652280" y="1991520"/>
            <a:ext cx="3927240" cy="2474280"/>
          </a:xfrm>
          <a:prstGeom prst="roundRect">
            <a:avLst>
              <a:gd name="adj" fmla="val 4431"/>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78" name="Shape 8"/>
          <p:cNvSpPr/>
          <p:nvPr/>
        </p:nvSpPr>
        <p:spPr>
          <a:xfrm>
            <a:off x="4652280" y="1968840"/>
            <a:ext cx="3927240" cy="89640"/>
          </a:xfrm>
          <a:prstGeom prst="roundRect">
            <a:avLst>
              <a:gd name="adj" fmla="val 73833"/>
            </a:avLst>
          </a:prstGeom>
          <a:solidFill>
            <a:srgbClr val="4950bc"/>
          </a:solidFill>
          <a:ln w="0">
            <a:noFill/>
          </a:ln>
        </p:spPr>
        <p:style>
          <a:lnRef idx="0"/>
          <a:fillRef idx="0"/>
          <a:effectRef idx="0"/>
          <a:fontRef idx="minor"/>
        </p:style>
        <p:txBody>
          <a:bodyPr lIns="90000" rIns="90000" tIns="19440" bIns="19440" anchor="t">
            <a:noAutofit/>
          </a:bodyPr>
          <a:p>
            <a:pPr>
              <a:lnSpc>
                <a:spcPct val="100000"/>
              </a:lnSpc>
            </a:pPr>
            <a:endParaRPr lang="en-US" sz="1800" b="0" u="none" strike="noStrike">
              <a:solidFill>
                <a:srgbClr val="ffffff"/>
              </a:solidFill>
              <a:effectLst/>
              <a:uFillTx/>
              <a:latin typeface="Arial"/>
            </a:endParaRPr>
          </a:p>
        </p:txBody>
      </p:sp>
      <p:sp>
        <p:nvSpPr>
          <p:cNvPr id="79" name="Shape 9"/>
          <p:cNvSpPr/>
          <p:nvPr/>
        </p:nvSpPr>
        <p:spPr>
          <a:xfrm>
            <a:off x="6375960" y="1750680"/>
            <a:ext cx="480240" cy="480240"/>
          </a:xfrm>
          <a:prstGeom prst="roundRect">
            <a:avLst>
              <a:gd name="adj" fmla="val 189630"/>
            </a:avLst>
          </a:prstGeom>
          <a:solidFill>
            <a:srgbClr val="4950bc"/>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80" name="Text 10"/>
          <p:cNvSpPr/>
          <p:nvPr/>
        </p:nvSpPr>
        <p:spPr>
          <a:xfrm>
            <a:off x="6520320" y="1870920"/>
            <a:ext cx="191160" cy="23940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lang="en-US" sz="1500" b="1" u="none" strike="noStrike">
                <a:solidFill>
                  <a:srgbClr val="ffffff"/>
                </a:solidFill>
                <a:effectLst/>
                <a:uFillTx/>
                <a:latin typeface="Inter Bold"/>
                <a:ea typeface="Inter Bold"/>
              </a:rPr>
              <a:t>2</a:t>
            </a:r>
            <a:endParaRPr lang="en-US" sz="1500" b="0" u="none" strike="noStrike">
              <a:solidFill>
                <a:srgbClr val="000000"/>
              </a:solidFill>
              <a:effectLst/>
              <a:uFillTx/>
              <a:latin typeface="Arial"/>
            </a:endParaRPr>
          </a:p>
        </p:txBody>
      </p:sp>
      <p:sp>
        <p:nvSpPr>
          <p:cNvPr id="81" name="Text 11"/>
          <p:cNvSpPr/>
          <p:nvPr/>
        </p:nvSpPr>
        <p:spPr>
          <a:xfrm>
            <a:off x="4835880" y="2393640"/>
            <a:ext cx="2354040" cy="249480"/>
          </a:xfrm>
          <a:prstGeom prst="rect">
            <a:avLst/>
          </a:prstGeom>
          <a:noFill/>
          <a:ln w="0">
            <a:noFill/>
          </a:ln>
        </p:spPr>
        <p:style>
          <a:lnRef idx="0"/>
          <a:fillRef idx="0"/>
          <a:effectRef idx="0"/>
          <a:fontRef idx="minor"/>
        </p:style>
        <p:txBody>
          <a:bodyPr wrap="none" lIns="0" rIns="0" tIns="0" bIns="0" anchor="t">
            <a:noAutofit/>
          </a:bodyPr>
          <a:p>
            <a:pPr>
              <a:lnSpc>
                <a:spcPts val="1950"/>
              </a:lnSpc>
              <a:tabLst>
                <a:tab algn="l" pos="0"/>
              </a:tabLst>
            </a:pPr>
            <a:r>
              <a:rPr lang="en-US" sz="1550" b="1" u="none" strike="noStrike">
                <a:solidFill>
                  <a:srgbClr val="272525"/>
                </a:solidFill>
                <a:effectLst/>
                <a:uFillTx/>
                <a:latin typeface="Inter Bold"/>
                <a:ea typeface="Inter Bold"/>
              </a:rPr>
              <a:t>Gratuité et performance</a:t>
            </a:r>
            <a:endParaRPr lang="en-US" sz="1550" b="0" u="none" strike="noStrike">
              <a:solidFill>
                <a:srgbClr val="000000"/>
              </a:solidFill>
              <a:effectLst/>
              <a:uFillTx/>
              <a:latin typeface="Arial"/>
            </a:endParaRPr>
          </a:p>
        </p:txBody>
      </p:sp>
      <p:sp>
        <p:nvSpPr>
          <p:cNvPr id="82" name="Text 12"/>
          <p:cNvSpPr/>
          <p:nvPr/>
        </p:nvSpPr>
        <p:spPr>
          <a:xfrm>
            <a:off x="4835880" y="2741040"/>
            <a:ext cx="3560040" cy="1284120"/>
          </a:xfrm>
          <a:prstGeom prst="rect">
            <a:avLst/>
          </a:prstGeom>
          <a:noFill/>
          <a:ln w="0">
            <a:noFill/>
          </a:ln>
        </p:spPr>
        <p:style>
          <a:lnRef idx="0"/>
          <a:fillRef idx="0"/>
          <a:effectRef idx="0"/>
          <a:fontRef idx="minor"/>
        </p:style>
        <p:txBody>
          <a:bodyPr lIns="0" rIns="0" tIns="0" bIns="0" anchor="t">
            <a:noAutofit/>
          </a:bodyPr>
          <a:p>
            <a:pPr>
              <a:lnSpc>
                <a:spcPts val="2001"/>
              </a:lnSpc>
              <a:tabLst>
                <a:tab algn="l" pos="0"/>
              </a:tabLst>
            </a:pPr>
            <a:r>
              <a:rPr lang="en-US" sz="1250" b="0" u="none" strike="noStrike">
                <a:solidFill>
                  <a:srgbClr val="272525"/>
                </a:solidFill>
                <a:effectLst/>
                <a:uFillTx/>
                <a:latin typeface="Inter"/>
                <a:ea typeface="Inter"/>
              </a:rPr>
              <a:t>Linux est entièrement gratuit et open source. Il offre des performances exceptionnelles, même sur du matériel ancien. Sa légèreté et sa rapidité en font le choix idéal pour les environnements professionnels.</a:t>
            </a:r>
            <a:endParaRPr lang="en-US" sz="1250" b="0" u="none" strike="noStrike">
              <a:solidFill>
                <a:srgbClr val="000000"/>
              </a:solidFill>
              <a:effectLst/>
              <a:uFillTx/>
              <a:latin typeface="Arial"/>
            </a:endParaRPr>
          </a:p>
        </p:txBody>
      </p:sp>
      <p:sp>
        <p:nvSpPr>
          <p:cNvPr id="83" name="Shape 13"/>
          <p:cNvSpPr/>
          <p:nvPr/>
        </p:nvSpPr>
        <p:spPr>
          <a:xfrm>
            <a:off x="562680" y="4869720"/>
            <a:ext cx="8017200" cy="1702800"/>
          </a:xfrm>
          <a:prstGeom prst="roundRect">
            <a:avLst>
              <a:gd name="adj" fmla="val 6437"/>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84" name="Shape 14"/>
          <p:cNvSpPr/>
          <p:nvPr/>
        </p:nvSpPr>
        <p:spPr>
          <a:xfrm>
            <a:off x="562680" y="4846680"/>
            <a:ext cx="8017200" cy="89640"/>
          </a:xfrm>
          <a:prstGeom prst="roundRect">
            <a:avLst>
              <a:gd name="adj" fmla="val 73833"/>
            </a:avLst>
          </a:prstGeom>
          <a:solidFill>
            <a:srgbClr val="4950bc"/>
          </a:solidFill>
          <a:ln w="0">
            <a:noFill/>
          </a:ln>
        </p:spPr>
        <p:style>
          <a:lnRef idx="0"/>
          <a:fillRef idx="0"/>
          <a:effectRef idx="0"/>
          <a:fontRef idx="minor"/>
        </p:style>
        <p:txBody>
          <a:bodyPr lIns="90000" rIns="90000" tIns="19440" bIns="19440" anchor="t">
            <a:noAutofit/>
          </a:bodyPr>
          <a:p>
            <a:pPr>
              <a:lnSpc>
                <a:spcPct val="100000"/>
              </a:lnSpc>
            </a:pPr>
            <a:endParaRPr lang="en-US" sz="1800" b="0" u="none" strike="noStrike">
              <a:solidFill>
                <a:srgbClr val="ffffff"/>
              </a:solidFill>
              <a:effectLst/>
              <a:uFillTx/>
              <a:latin typeface="Arial"/>
            </a:endParaRPr>
          </a:p>
        </p:txBody>
      </p:sp>
      <p:sp>
        <p:nvSpPr>
          <p:cNvPr id="85" name="Shape 15"/>
          <p:cNvSpPr/>
          <p:nvPr/>
        </p:nvSpPr>
        <p:spPr>
          <a:xfrm>
            <a:off x="4330800" y="4628520"/>
            <a:ext cx="480240" cy="480240"/>
          </a:xfrm>
          <a:prstGeom prst="roundRect">
            <a:avLst>
              <a:gd name="adj" fmla="val 189630"/>
            </a:avLst>
          </a:prstGeom>
          <a:solidFill>
            <a:srgbClr val="4950bc"/>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sp>
        <p:nvSpPr>
          <p:cNvPr id="86" name="Text 16"/>
          <p:cNvSpPr/>
          <p:nvPr/>
        </p:nvSpPr>
        <p:spPr>
          <a:xfrm>
            <a:off x="4475520" y="4749120"/>
            <a:ext cx="191160" cy="23940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lang="en-US" sz="1500" b="1" u="none" strike="noStrike">
                <a:solidFill>
                  <a:srgbClr val="ffffff"/>
                </a:solidFill>
                <a:effectLst/>
                <a:uFillTx/>
                <a:latin typeface="Inter Bold"/>
                <a:ea typeface="Inter Bold"/>
              </a:rPr>
              <a:t>3</a:t>
            </a:r>
            <a:endParaRPr lang="en-US" sz="1500" b="0" u="none" strike="noStrike">
              <a:solidFill>
                <a:srgbClr val="000000"/>
              </a:solidFill>
              <a:effectLst/>
              <a:uFillTx/>
              <a:latin typeface="Arial"/>
            </a:endParaRPr>
          </a:p>
        </p:txBody>
      </p:sp>
      <p:sp>
        <p:nvSpPr>
          <p:cNvPr id="87" name="Text 17"/>
          <p:cNvSpPr/>
          <p:nvPr/>
        </p:nvSpPr>
        <p:spPr>
          <a:xfrm>
            <a:off x="746280" y="5271480"/>
            <a:ext cx="2007360" cy="249480"/>
          </a:xfrm>
          <a:prstGeom prst="rect">
            <a:avLst/>
          </a:prstGeom>
          <a:noFill/>
          <a:ln w="0">
            <a:noFill/>
          </a:ln>
        </p:spPr>
        <p:style>
          <a:lnRef idx="0"/>
          <a:fillRef idx="0"/>
          <a:effectRef idx="0"/>
          <a:fontRef idx="minor"/>
        </p:style>
        <p:txBody>
          <a:bodyPr wrap="none" lIns="0" rIns="0" tIns="0" bIns="0" anchor="t">
            <a:noAutofit/>
          </a:bodyPr>
          <a:p>
            <a:pPr>
              <a:lnSpc>
                <a:spcPts val="1950"/>
              </a:lnSpc>
              <a:tabLst>
                <a:tab algn="l" pos="0"/>
              </a:tabLst>
            </a:pPr>
            <a:r>
              <a:rPr lang="en-US" sz="1550" b="1" u="none" strike="noStrike">
                <a:solidFill>
                  <a:srgbClr val="272525"/>
                </a:solidFill>
                <a:effectLst/>
                <a:uFillTx/>
                <a:latin typeface="Inter Bold"/>
                <a:ea typeface="Inter Bold"/>
              </a:rPr>
              <a:t>Sécurité renforcée</a:t>
            </a:r>
            <a:endParaRPr lang="en-US" sz="1550" b="0" u="none" strike="noStrike">
              <a:solidFill>
                <a:srgbClr val="000000"/>
              </a:solidFill>
              <a:effectLst/>
              <a:uFillTx/>
              <a:latin typeface="Arial"/>
            </a:endParaRPr>
          </a:p>
        </p:txBody>
      </p:sp>
      <p:sp>
        <p:nvSpPr>
          <p:cNvPr id="88" name="Text 18"/>
          <p:cNvSpPr/>
          <p:nvPr/>
        </p:nvSpPr>
        <p:spPr>
          <a:xfrm>
            <a:off x="746280" y="5619240"/>
            <a:ext cx="7650000" cy="769680"/>
          </a:xfrm>
          <a:prstGeom prst="rect">
            <a:avLst/>
          </a:prstGeom>
          <a:noFill/>
          <a:ln w="0">
            <a:noFill/>
          </a:ln>
        </p:spPr>
        <p:style>
          <a:lnRef idx="0"/>
          <a:fillRef idx="0"/>
          <a:effectRef idx="0"/>
          <a:fontRef idx="minor"/>
        </p:style>
        <p:txBody>
          <a:bodyPr lIns="0" rIns="0" tIns="0" bIns="0" anchor="t">
            <a:noAutofit/>
          </a:bodyPr>
          <a:p>
            <a:pPr>
              <a:lnSpc>
                <a:spcPts val="2001"/>
              </a:lnSpc>
              <a:tabLst>
                <a:tab algn="l" pos="0"/>
              </a:tabLst>
            </a:pPr>
            <a:r>
              <a:rPr lang="en-US" sz="1250" b="0" u="none" strike="noStrike">
                <a:solidFill>
                  <a:srgbClr val="272525"/>
                </a:solidFill>
                <a:effectLst/>
                <a:uFillTx/>
                <a:latin typeface="Inter"/>
                <a:ea typeface="Inter"/>
              </a:rPr>
              <a:t>Grâce à son architecture et sa gestion des permissions, Linux est réputé pour sa robustesse face aux cyberattaques. Les mises à jour de sécurité sont fréquentes et la transparence du code permet des audits constants.</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Shape 0"/>
          <p:cNvSpPr/>
          <p:nvPr/>
        </p:nvSpPr>
        <p:spPr>
          <a:xfrm>
            <a:off x="1821960" y="477720"/>
            <a:ext cx="1276200" cy="324720"/>
          </a:xfrm>
          <a:prstGeom prst="roundRect">
            <a:avLst>
              <a:gd name="adj" fmla="val 17884"/>
            </a:avLst>
          </a:prstGeom>
          <a:solidFill>
            <a:srgbClr val="dadbf1"/>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90" name="Text 1"/>
          <p:cNvSpPr/>
          <p:nvPr/>
        </p:nvSpPr>
        <p:spPr>
          <a:xfrm>
            <a:off x="1926000" y="529560"/>
            <a:ext cx="1067760" cy="220320"/>
          </a:xfrm>
          <a:prstGeom prst="rect">
            <a:avLst/>
          </a:prstGeom>
          <a:noFill/>
          <a:ln w="0">
            <a:noFill/>
          </a:ln>
        </p:spPr>
        <p:style>
          <a:lnRef idx="0"/>
          <a:fillRef idx="0"/>
          <a:effectRef idx="0"/>
          <a:fontRef idx="minor"/>
        </p:style>
        <p:txBody>
          <a:bodyPr wrap="none" lIns="0" rIns="0" tIns="0" bIns="0" anchor="t">
            <a:noAutofit/>
          </a:bodyPr>
          <a:p>
            <a:pPr>
              <a:lnSpc>
                <a:spcPts val="1749"/>
              </a:lnSpc>
              <a:tabLst>
                <a:tab algn="l" pos="0"/>
              </a:tabLst>
            </a:pPr>
            <a:r>
              <a:rPr lang="en-US" sz="1050" b="0" u="none" strike="noStrike">
                <a:solidFill>
                  <a:srgbClr val="272525"/>
                </a:solidFill>
                <a:effectLst/>
                <a:uFillTx/>
                <a:latin typeface="Inter"/>
                <a:ea typeface="Inter"/>
              </a:rPr>
              <a:t>INTRODUCTION</a:t>
            </a:r>
            <a:endParaRPr lang="en-US" sz="1050" b="0" u="none" strike="noStrike">
              <a:solidFill>
                <a:srgbClr val="000000"/>
              </a:solidFill>
              <a:effectLst/>
              <a:uFillTx/>
              <a:latin typeface="Arial"/>
            </a:endParaRPr>
          </a:p>
        </p:txBody>
      </p:sp>
      <p:sp>
        <p:nvSpPr>
          <p:cNvPr id="91" name="Text 2"/>
          <p:cNvSpPr/>
          <p:nvPr/>
        </p:nvSpPr>
        <p:spPr>
          <a:xfrm>
            <a:off x="1821960" y="873360"/>
            <a:ext cx="4623840" cy="540720"/>
          </a:xfrm>
          <a:prstGeom prst="rect">
            <a:avLst/>
          </a:prstGeom>
          <a:noFill/>
          <a:ln w="0">
            <a:noFill/>
          </a:ln>
        </p:spPr>
        <p:style>
          <a:lnRef idx="0"/>
          <a:fillRef idx="0"/>
          <a:effectRef idx="0"/>
          <a:fontRef idx="minor"/>
        </p:style>
        <p:txBody>
          <a:bodyPr wrap="none" lIns="0" rIns="0" tIns="0" bIns="0" anchor="t">
            <a:noAutofit/>
          </a:bodyPr>
          <a:p>
            <a:pPr>
              <a:lnSpc>
                <a:spcPts val="4249"/>
              </a:lnSpc>
              <a:tabLst>
                <a:tab algn="l" pos="0"/>
              </a:tabLst>
            </a:pPr>
            <a:r>
              <a:rPr lang="en-US" sz="3400" b="1" u="none" strike="noStrike">
                <a:solidFill>
                  <a:srgbClr val="000000"/>
                </a:solidFill>
                <a:effectLst/>
                <a:uFillTx/>
                <a:latin typeface="Inter Bold"/>
                <a:ea typeface="Inter Bold"/>
              </a:rPr>
              <a:t>Qu'est-ce que Linux ?</a:t>
            </a:r>
            <a:endParaRPr lang="en-US" sz="3400" b="0" u="none" strike="noStrike">
              <a:solidFill>
                <a:srgbClr val="000000"/>
              </a:solidFill>
              <a:effectLst/>
              <a:uFillTx/>
              <a:latin typeface="Arial"/>
            </a:endParaRPr>
          </a:p>
        </p:txBody>
      </p:sp>
      <p:sp>
        <p:nvSpPr>
          <p:cNvPr id="92" name="Text 3"/>
          <p:cNvSpPr/>
          <p:nvPr/>
        </p:nvSpPr>
        <p:spPr>
          <a:xfrm>
            <a:off x="1821960" y="1833120"/>
            <a:ext cx="5279760" cy="1109880"/>
          </a:xfrm>
          <a:prstGeom prst="rect">
            <a:avLst/>
          </a:prstGeom>
          <a:noFill/>
          <a:ln w="0">
            <a:noFill/>
          </a:ln>
        </p:spPr>
        <p:style>
          <a:lnRef idx="0"/>
          <a:fillRef idx="0"/>
          <a:effectRef idx="0"/>
          <a:fontRef idx="minor"/>
        </p:style>
        <p:txBody>
          <a:bodyPr lIns="0" rIns="0" tIns="0" bIns="0" anchor="t">
            <a:noAutofit/>
          </a:bodyPr>
          <a:p>
            <a:pPr>
              <a:lnSpc>
                <a:spcPts val="2149"/>
              </a:lnSpc>
              <a:tabLst>
                <a:tab algn="l" pos="0"/>
              </a:tabLst>
            </a:pPr>
            <a:r>
              <a:rPr lang="en-US" sz="1350" b="0" u="none" strike="noStrike">
                <a:solidFill>
                  <a:srgbClr val="272525"/>
                </a:solidFill>
                <a:effectLst/>
                <a:uFillTx/>
                <a:latin typeface="Inter"/>
                <a:ea typeface="Inter"/>
              </a:rPr>
              <a:t>Linux est un système d'exploitation open source créé en 1991 par Linus Torvalds. Contrairement aux systèmes propriétaires, son code source est librement accessible et modifiable par la communauté mondiale de développeurs.</a:t>
            </a:r>
            <a:endParaRPr lang="en-US" sz="1350" b="0" u="none" strike="noStrike">
              <a:solidFill>
                <a:srgbClr val="000000"/>
              </a:solidFill>
              <a:effectLst/>
              <a:uFillTx/>
              <a:latin typeface="Arial"/>
            </a:endParaRPr>
          </a:p>
        </p:txBody>
      </p:sp>
      <p:sp>
        <p:nvSpPr>
          <p:cNvPr id="93" name="Text 4"/>
          <p:cNvSpPr/>
          <p:nvPr/>
        </p:nvSpPr>
        <p:spPr>
          <a:xfrm>
            <a:off x="1821960" y="3101040"/>
            <a:ext cx="5279760" cy="1109880"/>
          </a:xfrm>
          <a:prstGeom prst="rect">
            <a:avLst/>
          </a:prstGeom>
          <a:noFill/>
          <a:ln w="0">
            <a:noFill/>
          </a:ln>
        </p:spPr>
        <p:style>
          <a:lnRef idx="0"/>
          <a:fillRef idx="0"/>
          <a:effectRef idx="0"/>
          <a:fontRef idx="minor"/>
        </p:style>
        <p:txBody>
          <a:bodyPr lIns="0" rIns="0" tIns="0" bIns="0" anchor="t">
            <a:noAutofit/>
          </a:bodyPr>
          <a:p>
            <a:pPr>
              <a:lnSpc>
                <a:spcPts val="2149"/>
              </a:lnSpc>
              <a:tabLst>
                <a:tab algn="l" pos="0"/>
              </a:tabLst>
            </a:pPr>
            <a:r>
              <a:rPr lang="en-US" sz="1350" b="0" u="none" strike="noStrike">
                <a:solidFill>
                  <a:srgbClr val="272525"/>
                </a:solidFill>
                <a:effectLst/>
                <a:uFillTx/>
                <a:latin typeface="Inter"/>
                <a:ea typeface="Inter"/>
              </a:rPr>
              <a:t>Aujourd'hui, Linux alimente une grande partie de l'infrastructure numérique mondiale : des serveurs web aux supercalculateurs, en passant par les smartphones Android et les objets connectés.</a:t>
            </a:r>
            <a:endParaRPr lang="en-US" sz="1350" b="0" u="none" strike="noStrike">
              <a:solidFill>
                <a:srgbClr val="000000"/>
              </a:solidFill>
              <a:effectLst/>
              <a:uFillTx/>
              <a:latin typeface="Arial"/>
            </a:endParaRPr>
          </a:p>
        </p:txBody>
      </p:sp>
      <p:sp>
        <p:nvSpPr>
          <p:cNvPr id="94" name="Shape 5"/>
          <p:cNvSpPr/>
          <p:nvPr/>
        </p:nvSpPr>
        <p:spPr>
          <a:xfrm>
            <a:off x="7939800" y="1154520"/>
            <a:ext cx="5279760" cy="1778040"/>
          </a:xfrm>
          <a:prstGeom prst="roundRect">
            <a:avLst>
              <a:gd name="adj" fmla="val 4099"/>
            </a:avLst>
          </a:prstGeom>
          <a:solidFill>
            <a:srgbClr val="dadbf1"/>
          </a:solidFill>
          <a:ln w="7620">
            <a:solidFill>
              <a:srgbClr val="c0c1d7"/>
            </a:solidFill>
            <a:round/>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95" name="Shape 6"/>
          <p:cNvSpPr/>
          <p:nvPr/>
        </p:nvSpPr>
        <p:spPr>
          <a:xfrm>
            <a:off x="8111880" y="1369080"/>
            <a:ext cx="519120" cy="519120"/>
          </a:xfrm>
          <a:prstGeom prst="roundRect">
            <a:avLst>
              <a:gd name="adj" fmla="val 17548536"/>
            </a:avLst>
          </a:prstGeom>
          <a:solidFill>
            <a:srgbClr val="4950bc"/>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pic>
        <p:nvPicPr>
          <p:cNvPr id="96" name="Image 0" descr="preencoded.png"/>
          <p:cNvPicPr/>
          <p:nvPr/>
        </p:nvPicPr>
        <p:blipFill>
          <a:blip r:embed="rId1">
            <a:extLst>
              <a:ext uri="{96DAC541-7B7A-43D3-8B79-37D633B846F1}">
                <asvg:svgBlip xmlns:asvg="http://schemas.microsoft.com/office/drawing/2016/SVG/main" r:embed="rId2"/>
              </a:ext>
            </a:extLst>
          </a:blip>
          <a:stretch/>
        </p:blipFill>
        <p:spPr>
          <a:xfrm>
            <a:off x="8255160" y="1512360"/>
            <a:ext cx="232560" cy="232560"/>
          </a:xfrm>
          <a:prstGeom prst="rect">
            <a:avLst/>
          </a:prstGeom>
          <a:noFill/>
          <a:ln w="0">
            <a:noFill/>
          </a:ln>
        </p:spPr>
      </p:pic>
      <p:sp>
        <p:nvSpPr>
          <p:cNvPr id="97" name="Text 7"/>
          <p:cNvSpPr/>
          <p:nvPr/>
        </p:nvSpPr>
        <p:spPr>
          <a:xfrm>
            <a:off x="8111880" y="2063880"/>
            <a:ext cx="2169360" cy="26964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lang="en-US" sz="1700" b="1" u="none" strike="noStrike">
                <a:solidFill>
                  <a:srgbClr val="272525"/>
                </a:solidFill>
                <a:effectLst/>
                <a:uFillTx/>
                <a:latin typeface="Inter Bold"/>
                <a:ea typeface="Inter Bold"/>
              </a:rPr>
              <a:t>Serveurs</a:t>
            </a:r>
            <a:endParaRPr lang="en-US" sz="1700" b="0" u="none" strike="noStrike">
              <a:solidFill>
                <a:srgbClr val="000000"/>
              </a:solidFill>
              <a:effectLst/>
              <a:uFillTx/>
              <a:latin typeface="Arial"/>
            </a:endParaRPr>
          </a:p>
        </p:txBody>
      </p:sp>
      <p:sp>
        <p:nvSpPr>
          <p:cNvPr id="98" name="Text 8"/>
          <p:cNvSpPr/>
          <p:nvPr/>
        </p:nvSpPr>
        <p:spPr>
          <a:xfrm>
            <a:off x="8111880" y="2508840"/>
            <a:ext cx="4917240" cy="276120"/>
          </a:xfrm>
          <a:prstGeom prst="rect">
            <a:avLst/>
          </a:prstGeom>
          <a:noFill/>
          <a:ln w="0">
            <a:noFill/>
          </a:ln>
        </p:spPr>
        <p:style>
          <a:lnRef idx="0"/>
          <a:fillRef idx="0"/>
          <a:effectRef idx="0"/>
          <a:fontRef idx="minor"/>
        </p:style>
        <p:txBody>
          <a:bodyPr wrap="none" lIns="0" rIns="0" tIns="0" bIns="0" anchor="t">
            <a:noAutofit/>
          </a:bodyPr>
          <a:p>
            <a:pPr>
              <a:lnSpc>
                <a:spcPts val="2149"/>
              </a:lnSpc>
              <a:tabLst>
                <a:tab algn="l" pos="0"/>
              </a:tabLst>
            </a:pPr>
            <a:r>
              <a:rPr lang="en-US" sz="1350" b="0" u="none" strike="noStrike">
                <a:solidFill>
                  <a:srgbClr val="272525"/>
                </a:solidFill>
                <a:effectLst/>
                <a:uFillTx/>
                <a:latin typeface="Inter"/>
                <a:ea typeface="Inter"/>
              </a:rPr>
              <a:t>Plus de 90% des serveurs web</a:t>
            </a:r>
            <a:endParaRPr lang="en-US" sz="1350" b="0" u="none" strike="noStrike">
              <a:solidFill>
                <a:srgbClr val="000000"/>
              </a:solidFill>
              <a:effectLst/>
              <a:uFillTx/>
              <a:latin typeface="Arial"/>
            </a:endParaRPr>
          </a:p>
        </p:txBody>
      </p:sp>
      <p:sp>
        <p:nvSpPr>
          <p:cNvPr id="99" name="Shape 9"/>
          <p:cNvSpPr/>
          <p:nvPr/>
        </p:nvSpPr>
        <p:spPr>
          <a:xfrm>
            <a:off x="7930800" y="3141720"/>
            <a:ext cx="5279760" cy="1778040"/>
          </a:xfrm>
          <a:prstGeom prst="roundRect">
            <a:avLst>
              <a:gd name="adj" fmla="val 4099"/>
            </a:avLst>
          </a:prstGeom>
          <a:solidFill>
            <a:srgbClr val="dadbf1"/>
          </a:solidFill>
          <a:ln w="7620">
            <a:solidFill>
              <a:srgbClr val="c0c1d7"/>
            </a:solidFill>
            <a:round/>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100" name="Shape 10"/>
          <p:cNvSpPr/>
          <p:nvPr/>
        </p:nvSpPr>
        <p:spPr>
          <a:xfrm>
            <a:off x="8111880" y="3322800"/>
            <a:ext cx="519120" cy="519120"/>
          </a:xfrm>
          <a:prstGeom prst="roundRect">
            <a:avLst>
              <a:gd name="adj" fmla="val 17548536"/>
            </a:avLst>
          </a:prstGeom>
          <a:solidFill>
            <a:srgbClr val="4950bc"/>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pic>
        <p:nvPicPr>
          <p:cNvPr id="101" name="Image 1" descr="preencoded.png"/>
          <p:cNvPicPr/>
          <p:nvPr/>
        </p:nvPicPr>
        <p:blipFill>
          <a:blip r:embed="rId3">
            <a:extLst>
              <a:ext uri="{96DAC541-7B7A-43D3-8B79-37D633B846F1}">
                <asvg:svgBlip xmlns:asvg="http://schemas.microsoft.com/office/drawing/2016/SVG/main" r:embed="rId4"/>
              </a:ext>
            </a:extLst>
          </a:blip>
          <a:stretch/>
        </p:blipFill>
        <p:spPr>
          <a:xfrm>
            <a:off x="8255160" y="3466080"/>
            <a:ext cx="232560" cy="232560"/>
          </a:xfrm>
          <a:prstGeom prst="rect">
            <a:avLst/>
          </a:prstGeom>
          <a:noFill/>
          <a:ln w="0">
            <a:noFill/>
          </a:ln>
        </p:spPr>
      </p:pic>
      <p:sp>
        <p:nvSpPr>
          <p:cNvPr id="102" name="Text 11"/>
          <p:cNvSpPr/>
          <p:nvPr/>
        </p:nvSpPr>
        <p:spPr>
          <a:xfrm>
            <a:off x="8111880" y="4017600"/>
            <a:ext cx="2169360" cy="26964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lang="en-US" sz="1700" b="1" u="none" strike="noStrike">
                <a:solidFill>
                  <a:srgbClr val="272525"/>
                </a:solidFill>
                <a:effectLst/>
                <a:uFillTx/>
                <a:latin typeface="Inter Bold"/>
                <a:ea typeface="Inter Bold"/>
              </a:rPr>
              <a:t>Mobile</a:t>
            </a:r>
            <a:endParaRPr lang="en-US" sz="1700" b="0" u="none" strike="noStrike">
              <a:solidFill>
                <a:srgbClr val="000000"/>
              </a:solidFill>
              <a:effectLst/>
              <a:uFillTx/>
              <a:latin typeface="Arial"/>
            </a:endParaRPr>
          </a:p>
        </p:txBody>
      </p:sp>
      <p:sp>
        <p:nvSpPr>
          <p:cNvPr id="103" name="Text 12"/>
          <p:cNvSpPr/>
          <p:nvPr/>
        </p:nvSpPr>
        <p:spPr>
          <a:xfrm>
            <a:off x="8111880" y="4462560"/>
            <a:ext cx="4917240" cy="276120"/>
          </a:xfrm>
          <a:prstGeom prst="rect">
            <a:avLst/>
          </a:prstGeom>
          <a:noFill/>
          <a:ln w="0">
            <a:noFill/>
          </a:ln>
        </p:spPr>
        <p:style>
          <a:lnRef idx="0"/>
          <a:fillRef idx="0"/>
          <a:effectRef idx="0"/>
          <a:fontRef idx="minor"/>
        </p:style>
        <p:txBody>
          <a:bodyPr wrap="none" lIns="0" rIns="0" tIns="0" bIns="0" anchor="t">
            <a:noAutofit/>
          </a:bodyPr>
          <a:p>
            <a:pPr>
              <a:lnSpc>
                <a:spcPts val="2149"/>
              </a:lnSpc>
              <a:tabLst>
                <a:tab algn="l" pos="0"/>
              </a:tabLst>
            </a:pPr>
            <a:r>
              <a:rPr lang="en-US" sz="1350" b="0" u="none" strike="noStrike">
                <a:solidFill>
                  <a:srgbClr val="272525"/>
                </a:solidFill>
                <a:effectLst/>
                <a:uFillTx/>
                <a:latin typeface="Inter"/>
                <a:ea typeface="Inter"/>
              </a:rPr>
              <a:t>Android est basé sur Linux</a:t>
            </a:r>
            <a:endParaRPr lang="en-US" sz="1350" b="0" u="none" strike="noStrike">
              <a:solidFill>
                <a:srgbClr val="000000"/>
              </a:solidFill>
              <a:effectLst/>
              <a:uFillTx/>
              <a:latin typeface="Arial"/>
            </a:endParaRPr>
          </a:p>
        </p:txBody>
      </p:sp>
      <p:sp>
        <p:nvSpPr>
          <p:cNvPr id="104" name="Shape 13"/>
          <p:cNvSpPr/>
          <p:nvPr/>
        </p:nvSpPr>
        <p:spPr>
          <a:xfrm>
            <a:off x="7930800" y="5095080"/>
            <a:ext cx="5279760" cy="1778040"/>
          </a:xfrm>
          <a:prstGeom prst="roundRect">
            <a:avLst>
              <a:gd name="adj" fmla="val 4099"/>
            </a:avLst>
          </a:prstGeom>
          <a:solidFill>
            <a:srgbClr val="dadbf1"/>
          </a:solidFill>
          <a:ln w="7620">
            <a:solidFill>
              <a:srgbClr val="c0c1d7"/>
            </a:solidFill>
            <a:round/>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105" name="Shape 14"/>
          <p:cNvSpPr/>
          <p:nvPr/>
        </p:nvSpPr>
        <p:spPr>
          <a:xfrm>
            <a:off x="8111880" y="5276520"/>
            <a:ext cx="519120" cy="519120"/>
          </a:xfrm>
          <a:prstGeom prst="roundRect">
            <a:avLst>
              <a:gd name="adj" fmla="val 17548536"/>
            </a:avLst>
          </a:prstGeom>
          <a:solidFill>
            <a:srgbClr val="4950bc"/>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Arial"/>
            </a:endParaRPr>
          </a:p>
        </p:txBody>
      </p:sp>
      <p:pic>
        <p:nvPicPr>
          <p:cNvPr id="106" name="Image 2" descr="preencoded.png"/>
          <p:cNvPicPr/>
          <p:nvPr/>
        </p:nvPicPr>
        <p:blipFill>
          <a:blip r:embed="rId5">
            <a:extLst>
              <a:ext uri="{96DAC541-7B7A-43D3-8B79-37D633B846F1}">
                <asvg:svgBlip xmlns:asvg="http://schemas.microsoft.com/office/drawing/2016/SVG/main" r:embed="rId6"/>
              </a:ext>
            </a:extLst>
          </a:blip>
          <a:stretch/>
        </p:blipFill>
        <p:spPr>
          <a:xfrm>
            <a:off x="8255160" y="5419800"/>
            <a:ext cx="232560" cy="232560"/>
          </a:xfrm>
          <a:prstGeom prst="rect">
            <a:avLst/>
          </a:prstGeom>
          <a:noFill/>
          <a:ln w="0">
            <a:noFill/>
          </a:ln>
        </p:spPr>
      </p:pic>
      <p:sp>
        <p:nvSpPr>
          <p:cNvPr id="107" name="Text 15"/>
          <p:cNvSpPr/>
          <p:nvPr/>
        </p:nvSpPr>
        <p:spPr>
          <a:xfrm>
            <a:off x="8111880" y="5970960"/>
            <a:ext cx="2169360" cy="26964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lang="en-US" sz="1700" b="1" u="none" strike="noStrike">
                <a:solidFill>
                  <a:srgbClr val="272525"/>
                </a:solidFill>
                <a:effectLst/>
                <a:uFillTx/>
                <a:latin typeface="Inter Bold"/>
                <a:ea typeface="Inter Bold"/>
              </a:rPr>
              <a:t>Sécurité</a:t>
            </a:r>
            <a:endParaRPr lang="en-US" sz="1700" b="0" u="none" strike="noStrike">
              <a:solidFill>
                <a:srgbClr val="000000"/>
              </a:solidFill>
              <a:effectLst/>
              <a:uFillTx/>
              <a:latin typeface="Arial"/>
            </a:endParaRPr>
          </a:p>
        </p:txBody>
      </p:sp>
      <p:sp>
        <p:nvSpPr>
          <p:cNvPr id="108" name="Text 16"/>
          <p:cNvSpPr/>
          <p:nvPr/>
        </p:nvSpPr>
        <p:spPr>
          <a:xfrm>
            <a:off x="8111880" y="6415920"/>
            <a:ext cx="4917240" cy="276120"/>
          </a:xfrm>
          <a:prstGeom prst="rect">
            <a:avLst/>
          </a:prstGeom>
          <a:noFill/>
          <a:ln w="0">
            <a:noFill/>
          </a:ln>
        </p:spPr>
        <p:style>
          <a:lnRef idx="0"/>
          <a:fillRef idx="0"/>
          <a:effectRef idx="0"/>
          <a:fontRef idx="minor"/>
        </p:style>
        <p:txBody>
          <a:bodyPr wrap="none" lIns="0" rIns="0" tIns="0" bIns="0" anchor="t">
            <a:noAutofit/>
          </a:bodyPr>
          <a:p>
            <a:pPr>
              <a:lnSpc>
                <a:spcPts val="2149"/>
              </a:lnSpc>
              <a:tabLst>
                <a:tab algn="l" pos="0"/>
              </a:tabLst>
            </a:pPr>
            <a:r>
              <a:rPr lang="en-US" sz="1350" b="0" u="none" strike="noStrike">
                <a:solidFill>
                  <a:srgbClr val="272525"/>
                </a:solidFill>
                <a:effectLst/>
                <a:uFillTx/>
                <a:latin typeface="Inter"/>
                <a:ea typeface="Inter"/>
              </a:rPr>
              <a:t>Reconnu pour sa stabilité</a:t>
            </a:r>
            <a:endParaRPr lang="en-US" sz="1350" b="0" u="none" strike="noStrike">
              <a:solidFill>
                <a:srgbClr val="000000"/>
              </a:solidFill>
              <a:effectLst/>
              <a:uFillTx/>
              <a:latin typeface="Arial"/>
            </a:endParaRPr>
          </a:p>
        </p:txBody>
      </p:sp>
      <p:sp>
        <p:nvSpPr>
          <p:cNvPr id="109" name="Shape 17"/>
          <p:cNvSpPr/>
          <p:nvPr/>
        </p:nvSpPr>
        <p:spPr>
          <a:xfrm>
            <a:off x="0" y="7772400"/>
            <a:ext cx="14628960" cy="455760"/>
          </a:xfrm>
          <a:prstGeom prst="roundRect">
            <a:avLst>
              <a:gd name="adj" fmla="val 4099"/>
            </a:avLst>
          </a:prstGeom>
          <a:solidFill>
            <a:srgbClr val="ffffff"/>
          </a:solidFill>
          <a:ln w="7620">
            <a:solidFill>
              <a:srgbClr val="ffffff"/>
            </a:solidFill>
            <a:round/>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110" name="Text 22"/>
          <p:cNvSpPr/>
          <p:nvPr/>
        </p:nvSpPr>
        <p:spPr>
          <a:xfrm>
            <a:off x="1749960" y="4509720"/>
            <a:ext cx="4623840" cy="540720"/>
          </a:xfrm>
          <a:prstGeom prst="rect">
            <a:avLst/>
          </a:prstGeom>
          <a:noFill/>
          <a:ln w="0">
            <a:noFill/>
          </a:ln>
        </p:spPr>
        <p:style>
          <a:lnRef idx="0"/>
          <a:fillRef idx="0"/>
          <a:effectRef idx="0"/>
          <a:fontRef idx="minor"/>
        </p:style>
        <p:txBody>
          <a:bodyPr wrap="none" lIns="0" rIns="0" tIns="0" bIns="0" anchor="t">
            <a:noAutofit/>
          </a:bodyPr>
          <a:p>
            <a:pPr>
              <a:lnSpc>
                <a:spcPts val="4249"/>
              </a:lnSpc>
              <a:spcBef>
                <a:spcPts val="1191"/>
              </a:spcBef>
              <a:spcAft>
                <a:spcPts val="992"/>
              </a:spcAft>
              <a:tabLst>
                <a:tab algn="l" pos="0"/>
              </a:tabLst>
            </a:pPr>
            <a:r>
              <a:rPr lang="en-US" sz="3400" b="1" u="none" strike="noStrike">
                <a:solidFill>
                  <a:srgbClr val="000000"/>
                </a:solidFill>
                <a:effectLst/>
                <a:uFillTx/>
                <a:latin typeface="Inter Bold"/>
                <a:ea typeface="Inter Bold"/>
              </a:rPr>
              <a:t>Linux &amp; son écosystème</a:t>
            </a:r>
            <a:endParaRPr lang="en-US" sz="3400" b="0" u="none" strike="noStrike">
              <a:solidFill>
                <a:srgbClr val="000000"/>
              </a:solidFill>
              <a:effectLst/>
              <a:uFillTx/>
              <a:latin typeface="Arial"/>
            </a:endParaRPr>
          </a:p>
        </p:txBody>
      </p:sp>
      <p:sp>
        <p:nvSpPr>
          <p:cNvPr id="111" name="Text 23"/>
          <p:cNvSpPr/>
          <p:nvPr/>
        </p:nvSpPr>
        <p:spPr>
          <a:xfrm>
            <a:off x="1749960" y="5469480"/>
            <a:ext cx="5279760" cy="1109880"/>
          </a:xfrm>
          <a:prstGeom prst="rect">
            <a:avLst/>
          </a:prstGeom>
          <a:noFill/>
          <a:ln w="0">
            <a:noFill/>
          </a:ln>
        </p:spPr>
        <p:style>
          <a:lnRef idx="0"/>
          <a:fillRef idx="0"/>
          <a:effectRef idx="0"/>
          <a:fontRef idx="minor"/>
        </p:style>
        <p:txBody>
          <a:bodyPr lIns="0" rIns="0" tIns="0" bIns="0" anchor="t">
            <a:noAutofit/>
          </a:bodyPr>
          <a:p>
            <a:pPr>
              <a:lnSpc>
                <a:spcPct val="100000"/>
              </a:lnSpc>
              <a:spcBef>
                <a:spcPts val="145"/>
              </a:spcBef>
              <a:spcAft>
                <a:spcPts val="1009"/>
              </a:spcAft>
              <a:tabLst>
                <a:tab algn="l" pos="0"/>
              </a:tabLst>
            </a:pPr>
            <a:r>
              <a:rPr lang="en-US" sz="1350" b="0" u="none" strike="noStrike">
                <a:solidFill>
                  <a:srgbClr val="272525"/>
                </a:solidFill>
                <a:effectLst/>
                <a:uFillTx/>
                <a:latin typeface="Inter"/>
                <a:ea typeface="Inter"/>
              </a:rPr>
              <a:t>Linux = système d'exploitation open source</a:t>
            </a:r>
            <a:endParaRPr lang="en-US" sz="1350" b="0" u="none" strike="noStrike">
              <a:solidFill>
                <a:srgbClr val="000000"/>
              </a:solidFill>
              <a:effectLst/>
              <a:uFillTx/>
              <a:latin typeface="Arial"/>
            </a:endParaRPr>
          </a:p>
          <a:p>
            <a:pPr>
              <a:lnSpc>
                <a:spcPct val="100000"/>
              </a:lnSpc>
              <a:spcBef>
                <a:spcPts val="145"/>
              </a:spcBef>
              <a:spcAft>
                <a:spcPts val="1009"/>
              </a:spcAft>
              <a:tabLst>
                <a:tab algn="l" pos="0"/>
              </a:tabLst>
            </a:pPr>
            <a:r>
              <a:rPr lang="en-US" sz="1350" b="0" u="none" strike="noStrike">
                <a:solidFill>
                  <a:srgbClr val="272525"/>
                </a:solidFill>
                <a:effectLst/>
                <a:uFillTx/>
                <a:latin typeface="Inter"/>
                <a:ea typeface="Inter"/>
              </a:rPr>
              <a:t>Distribs populaires : Ubuntu, Fedora, Debian, CentOS</a:t>
            </a:r>
            <a:endParaRPr lang="en-US" sz="1350" b="0" u="none" strike="noStrike">
              <a:solidFill>
                <a:srgbClr val="000000"/>
              </a:solidFill>
              <a:effectLst/>
              <a:uFillTx/>
              <a:latin typeface="Arial"/>
            </a:endParaRPr>
          </a:p>
          <a:p>
            <a:pPr>
              <a:lnSpc>
                <a:spcPct val="100000"/>
              </a:lnSpc>
              <a:spcBef>
                <a:spcPts val="145"/>
              </a:spcBef>
              <a:spcAft>
                <a:spcPts val="1009"/>
              </a:spcAft>
              <a:tabLst>
                <a:tab algn="l" pos="0"/>
              </a:tabLst>
            </a:pPr>
            <a:r>
              <a:rPr lang="en-US" sz="1350" b="0" u="none" strike="noStrike">
                <a:solidFill>
                  <a:srgbClr val="272525"/>
                </a:solidFill>
                <a:effectLst/>
                <a:uFillTx/>
                <a:latin typeface="Inter"/>
                <a:ea typeface="Inter"/>
              </a:rPr>
              <a:t>Concepts clés : noyau (kernel), shell, terminal, fichiers système</a:t>
            </a:r>
            <a:endParaRPr lang="en-US" sz="1350" b="0" u="none" strike="noStrike">
              <a:solidFill>
                <a:srgbClr val="000000"/>
              </a:solidFill>
              <a:effectLst/>
              <a:uFillTx/>
              <a:latin typeface="Arial"/>
            </a:endParaRPr>
          </a:p>
          <a:p>
            <a:pPr>
              <a:lnSpc>
                <a:spcPct val="100000"/>
              </a:lnSpc>
              <a:spcBef>
                <a:spcPts val="145"/>
              </a:spcBef>
              <a:spcAft>
                <a:spcPts val="1009"/>
              </a:spcAft>
              <a:tabLst>
                <a:tab algn="l" pos="0"/>
              </a:tabLst>
            </a:pPr>
            <a:endParaRPr lang="en-US" sz="1350" b="0" u="none" strike="noStrike">
              <a:solidFill>
                <a:srgbClr val="000000"/>
              </a:solidFill>
              <a:effectLst/>
              <a:uFillTx/>
              <a:latin typeface="Arial"/>
            </a:endParaRPr>
          </a:p>
        </p:txBody>
      </p:sp>
      <p:sp>
        <p:nvSpPr>
          <p:cNvPr id="112" name=""/>
          <p:cNvSpPr/>
          <p:nvPr/>
        </p:nvSpPr>
        <p:spPr>
          <a:xfrm>
            <a:off x="1828800" y="-1371600"/>
            <a:ext cx="359280" cy="359280"/>
          </a:xfrm>
          <a:prstGeom prst="rect">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
          <p:cNvSpPr/>
          <p:nvPr/>
        </p:nvSpPr>
        <p:spPr>
          <a:xfrm>
            <a:off x="458280" y="770400"/>
            <a:ext cx="7999560" cy="57744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624"/>
              </a:spcBef>
              <a:spcAft>
                <a:spcPts val="425"/>
              </a:spcAft>
            </a:pPr>
            <a:r>
              <a:rPr lang="en-US" sz="3200" b="1" u="none" strike="noStrike">
                <a:solidFill>
                  <a:srgbClr val="000000"/>
                </a:solidFill>
                <a:effectLst/>
                <a:uFillTx/>
                <a:latin typeface="Inter Bold"/>
                <a:ea typeface="Microsoft YaHei"/>
              </a:rPr>
              <a:t>Installer Linux – Pré-requis</a:t>
            </a:r>
            <a:endParaRPr lang="en-US" sz="3200" b="0" u="none" strike="noStrike">
              <a:solidFill>
                <a:srgbClr val="000000"/>
              </a:solidFill>
              <a:effectLst/>
              <a:uFillTx/>
              <a:latin typeface="Arial"/>
            </a:endParaRPr>
          </a:p>
        </p:txBody>
      </p:sp>
      <p:sp>
        <p:nvSpPr>
          <p:cNvPr id="114" name=""/>
          <p:cNvSpPr/>
          <p:nvPr/>
        </p:nvSpPr>
        <p:spPr>
          <a:xfrm>
            <a:off x="409680" y="1852560"/>
            <a:ext cx="7085160" cy="241344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624"/>
              </a:spcBef>
              <a:spcAft>
                <a:spcPts val="425"/>
              </a:spcAft>
            </a:pPr>
            <a:r>
              <a:rPr lang="en-US" sz="1600" b="1" u="none" strike="noStrike">
                <a:solidFill>
                  <a:srgbClr val="000000"/>
                </a:solidFill>
                <a:effectLst/>
                <a:uFillTx/>
                <a:latin typeface="Inter"/>
              </a:rPr>
              <a:t>🖥️ Pré-requis matériels</a:t>
            </a:r>
            <a:endParaRPr lang="en-US" sz="1600" b="0" u="none" strike="noStrike">
              <a:solidFill>
                <a:srgbClr val="000000"/>
              </a:solidFill>
              <a:effectLst/>
              <a:uFillTx/>
              <a:latin typeface="Arial"/>
            </a:endParaRPr>
          </a:p>
          <a:p>
            <a:pPr marL="216000" indent="-216000">
              <a:lnSpc>
                <a:spcPct val="100000"/>
              </a:lnSpc>
              <a:spcBef>
                <a:spcPts val="624"/>
              </a:spcBef>
              <a:spcAft>
                <a:spcPts val="425"/>
              </a:spcAft>
              <a:buClr>
                <a:srgbClr val="000000"/>
              </a:buClr>
              <a:buSzPct val="50000"/>
              <a:buFont typeface="Wingdings" charset="2"/>
              <a:buChar char=""/>
            </a:pPr>
            <a:r>
              <a:rPr lang="en-US" sz="1400" b="0" u="none" strike="noStrike">
                <a:solidFill>
                  <a:srgbClr val="000000"/>
                </a:solidFill>
                <a:effectLst/>
                <a:uFillTx/>
                <a:latin typeface="Inter"/>
              </a:rPr>
              <a:t>Processeur : 64 bits recommandé (Intel/AMD)</a:t>
            </a:r>
            <a:endParaRPr lang="en-US" sz="1400" b="0" u="none" strike="noStrike">
              <a:solidFill>
                <a:srgbClr val="000000"/>
              </a:solidFill>
              <a:effectLst/>
              <a:uFillTx/>
              <a:latin typeface="Arial"/>
            </a:endParaRPr>
          </a:p>
          <a:p>
            <a:pPr marL="216000" indent="-216000">
              <a:lnSpc>
                <a:spcPct val="100000"/>
              </a:lnSpc>
              <a:spcBef>
                <a:spcPts val="624"/>
              </a:spcBef>
              <a:spcAft>
                <a:spcPts val="425"/>
              </a:spcAft>
              <a:buClr>
                <a:srgbClr val="000000"/>
              </a:buClr>
              <a:buSzPct val="50000"/>
              <a:buFont typeface="Wingdings" charset="2"/>
              <a:buChar char=""/>
            </a:pPr>
            <a:r>
              <a:rPr lang="en-US" sz="1400" b="0" u="none" strike="noStrike">
                <a:solidFill>
                  <a:srgbClr val="000000"/>
                </a:solidFill>
                <a:effectLst/>
                <a:uFillTx/>
                <a:latin typeface="Inter"/>
              </a:rPr>
              <a:t>RAM : minimum 2 Go (4 Go ou plus conseillé pour un usage fluide)</a:t>
            </a:r>
            <a:endParaRPr lang="en-US" sz="1400" b="0" u="none" strike="noStrike">
              <a:solidFill>
                <a:srgbClr val="000000"/>
              </a:solidFill>
              <a:effectLst/>
              <a:uFillTx/>
              <a:latin typeface="Arial"/>
            </a:endParaRPr>
          </a:p>
          <a:p>
            <a:pPr marL="216000" indent="-216000">
              <a:lnSpc>
                <a:spcPct val="100000"/>
              </a:lnSpc>
              <a:spcBef>
                <a:spcPts val="624"/>
              </a:spcBef>
              <a:spcAft>
                <a:spcPts val="425"/>
              </a:spcAft>
              <a:buClr>
                <a:srgbClr val="000000"/>
              </a:buClr>
              <a:buSzPct val="50000"/>
              <a:buFont typeface="Wingdings" charset="2"/>
              <a:buChar char=""/>
            </a:pPr>
            <a:r>
              <a:rPr lang="en-US" sz="1400" b="0" u="none" strike="noStrike">
                <a:solidFill>
                  <a:srgbClr val="000000"/>
                </a:solidFill>
                <a:effectLst/>
                <a:uFillTx/>
                <a:latin typeface="Inter"/>
              </a:rPr>
              <a:t>Disque dur : 20 Go minimum (40–60 Go pour un usage confortable)</a:t>
            </a:r>
            <a:endParaRPr lang="en-US" sz="1400" b="0" u="none" strike="noStrike">
              <a:solidFill>
                <a:srgbClr val="000000"/>
              </a:solidFill>
              <a:effectLst/>
              <a:uFillTx/>
              <a:latin typeface="Arial"/>
            </a:endParaRPr>
          </a:p>
          <a:p>
            <a:pPr marL="216000" indent="-216000">
              <a:lnSpc>
                <a:spcPct val="100000"/>
              </a:lnSpc>
              <a:spcBef>
                <a:spcPts val="624"/>
              </a:spcBef>
              <a:spcAft>
                <a:spcPts val="425"/>
              </a:spcAft>
              <a:buClr>
                <a:srgbClr val="000000"/>
              </a:buClr>
              <a:buSzPct val="55000"/>
              <a:buFont typeface="Wingdings" charset="2"/>
              <a:buChar char=""/>
            </a:pPr>
            <a:r>
              <a:rPr lang="en-US" sz="1400" b="0" u="none" strike="noStrike">
                <a:solidFill>
                  <a:srgbClr val="000000"/>
                </a:solidFill>
                <a:effectLst/>
                <a:uFillTx/>
                <a:latin typeface="Inter"/>
              </a:rPr>
              <a:t>Carte graphique : compatible avec pilotes libres ou propriétaires</a:t>
            </a:r>
            <a:endParaRPr lang="en-US" sz="1400" b="0" u="none" strike="noStrike">
              <a:solidFill>
                <a:srgbClr val="000000"/>
              </a:solidFill>
              <a:effectLst/>
              <a:uFillTx/>
              <a:latin typeface="Arial"/>
            </a:endParaRPr>
          </a:p>
          <a:p>
            <a:pPr marL="216000" indent="-216000">
              <a:lnSpc>
                <a:spcPct val="100000"/>
              </a:lnSpc>
              <a:spcBef>
                <a:spcPts val="624"/>
              </a:spcBef>
              <a:spcAft>
                <a:spcPts val="425"/>
              </a:spcAft>
              <a:buClr>
                <a:srgbClr val="000000"/>
              </a:buClr>
              <a:buSzPct val="50000"/>
              <a:buFont typeface="Wingdings" charset="2"/>
              <a:buChar char=""/>
            </a:pPr>
            <a:r>
              <a:rPr lang="en-US" sz="1400" b="0" u="none" strike="noStrike">
                <a:solidFill>
                  <a:srgbClr val="000000"/>
                </a:solidFill>
                <a:effectLst/>
                <a:uFillTx/>
                <a:latin typeface="Inter"/>
              </a:rPr>
              <a:t>Connexion Internet : utile pour mises à jour et installation de paquet</a:t>
            </a:r>
            <a:r>
              <a:rPr lang="en-US" sz="1400" b="1" u="none" strike="noStrike">
                <a:solidFill>
                  <a:srgbClr val="000000"/>
                </a:solidFill>
                <a:effectLst/>
                <a:uFillTx/>
                <a:latin typeface="Inter"/>
              </a:rPr>
              <a:t>s</a:t>
            </a:r>
            <a:endParaRPr lang="en-US" sz="1400" b="0" u="none" strike="noStrike">
              <a:solidFill>
                <a:srgbClr val="000000"/>
              </a:solidFill>
              <a:effectLst/>
              <a:uFillTx/>
              <a:latin typeface="Arial"/>
            </a:endParaRPr>
          </a:p>
          <a:p>
            <a:pPr>
              <a:lnSpc>
                <a:spcPct val="100000"/>
              </a:lnSpc>
              <a:spcBef>
                <a:spcPts val="624"/>
              </a:spcBef>
              <a:spcAft>
                <a:spcPts val="425"/>
              </a:spcAft>
            </a:pPr>
            <a:endParaRPr lang="en-US" sz="1400" b="0" u="none" strike="noStrike">
              <a:solidFill>
                <a:srgbClr val="000000"/>
              </a:solidFill>
              <a:effectLst/>
              <a:uFillTx/>
              <a:latin typeface="Arial"/>
            </a:endParaRPr>
          </a:p>
        </p:txBody>
      </p:sp>
      <p:sp>
        <p:nvSpPr>
          <p:cNvPr id="115" name="Shape 27"/>
          <p:cNvSpPr/>
          <p:nvPr/>
        </p:nvSpPr>
        <p:spPr>
          <a:xfrm>
            <a:off x="0" y="7772400"/>
            <a:ext cx="14628960" cy="455760"/>
          </a:xfrm>
          <a:prstGeom prst="roundRect">
            <a:avLst>
              <a:gd name="adj" fmla="val 4099"/>
            </a:avLst>
          </a:prstGeom>
          <a:solidFill>
            <a:srgbClr val="ffffff"/>
          </a:solidFill>
          <a:ln w="7620">
            <a:solidFill>
              <a:srgbClr val="ffffff"/>
            </a:solidFill>
            <a:round/>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116" name=""/>
          <p:cNvSpPr/>
          <p:nvPr/>
        </p:nvSpPr>
        <p:spPr>
          <a:xfrm>
            <a:off x="2971800" y="4614840"/>
            <a:ext cx="8829360" cy="172008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624"/>
              </a:spcBef>
              <a:spcAft>
                <a:spcPts val="425"/>
              </a:spcAft>
            </a:pPr>
            <a:r>
              <a:rPr lang="en-US" sz="1600" b="1" u="none" strike="noStrike">
                <a:solidFill>
                  <a:srgbClr val="000000"/>
                </a:solidFill>
                <a:effectLst/>
                <a:uFillTx/>
                <a:latin typeface="Inter Bold"/>
                <a:ea typeface="Microsoft YaHei"/>
              </a:rPr>
              <a:t>💿 Pré-requis logiciels</a:t>
            </a:r>
            <a:endParaRPr lang="en-US" sz="1600" b="0" u="none" strike="noStrike">
              <a:solidFill>
                <a:srgbClr val="000000"/>
              </a:solidFill>
              <a:effectLst/>
              <a:uFillTx/>
              <a:latin typeface="Arial"/>
            </a:endParaRPr>
          </a:p>
          <a:p>
            <a:pPr marL="216000" indent="-216000">
              <a:lnSpc>
                <a:spcPct val="100000"/>
              </a:lnSpc>
              <a:spcBef>
                <a:spcPts val="624"/>
              </a:spcBef>
              <a:spcAft>
                <a:spcPts val="425"/>
              </a:spcAft>
              <a:buClr>
                <a:srgbClr val="000000"/>
              </a:buClr>
              <a:buSzPct val="55000"/>
              <a:buFont typeface="Wingdings" charset="2"/>
              <a:buChar char=""/>
            </a:pPr>
            <a:r>
              <a:rPr lang="en-US" sz="1400" b="1" u="none" strike="noStrike">
                <a:solidFill>
                  <a:srgbClr val="000000"/>
                </a:solidFill>
                <a:effectLst/>
                <a:uFillTx/>
                <a:latin typeface="Inter"/>
                <a:ea typeface="Microsoft YaHei"/>
              </a:rPr>
              <a:t>Image ISO de la distribution choisie (Ubuntu, Debian, Fedora, Rocky Linux…)</a:t>
            </a:r>
            <a:endParaRPr lang="en-US" sz="1400" b="0" u="none" strike="noStrike">
              <a:solidFill>
                <a:srgbClr val="000000"/>
              </a:solidFill>
              <a:effectLst/>
              <a:uFillTx/>
              <a:latin typeface="Arial"/>
            </a:endParaRPr>
          </a:p>
          <a:p>
            <a:pPr marL="216000" indent="-216000">
              <a:lnSpc>
                <a:spcPct val="100000"/>
              </a:lnSpc>
              <a:spcBef>
                <a:spcPts val="624"/>
              </a:spcBef>
              <a:spcAft>
                <a:spcPts val="425"/>
              </a:spcAft>
              <a:buClr>
                <a:srgbClr val="000000"/>
              </a:buClr>
              <a:buSzPct val="55000"/>
              <a:buFont typeface="Wingdings" charset="2"/>
              <a:buChar char=""/>
            </a:pPr>
            <a:r>
              <a:rPr lang="en-US" sz="1400" b="1" u="none" strike="noStrike">
                <a:solidFill>
                  <a:srgbClr val="000000"/>
                </a:solidFill>
                <a:effectLst/>
                <a:uFillTx/>
                <a:latin typeface="Inter"/>
                <a:ea typeface="Microsoft YaHei"/>
              </a:rPr>
              <a:t>Outil de création de média bootable : Rufus, balenaEtcher, ou dd sous Linux</a:t>
            </a:r>
            <a:endParaRPr lang="en-US" sz="1400" b="0" u="none" strike="noStrike">
              <a:solidFill>
                <a:srgbClr val="000000"/>
              </a:solidFill>
              <a:effectLst/>
              <a:uFillTx/>
              <a:latin typeface="Arial"/>
            </a:endParaRPr>
          </a:p>
          <a:p>
            <a:pPr marL="216000" indent="-216000">
              <a:lnSpc>
                <a:spcPct val="100000"/>
              </a:lnSpc>
              <a:spcBef>
                <a:spcPts val="624"/>
              </a:spcBef>
              <a:spcAft>
                <a:spcPts val="425"/>
              </a:spcAft>
              <a:buClr>
                <a:srgbClr val="000000"/>
              </a:buClr>
              <a:buSzPct val="55000"/>
              <a:buFont typeface="Wingdings" charset="2"/>
              <a:buChar char=""/>
            </a:pPr>
            <a:r>
              <a:rPr lang="en-US" sz="1400" b="1" u="none" strike="noStrike">
                <a:solidFill>
                  <a:srgbClr val="000000"/>
                </a:solidFill>
                <a:effectLst/>
                <a:uFillTx/>
                <a:latin typeface="Inter"/>
                <a:ea typeface="Microsoft YaHei"/>
              </a:rPr>
              <a:t>BIOS/UEFI : vérifier l’ordre de démarrage (boot sur clé USB/DVD)</a:t>
            </a:r>
            <a:endParaRPr lang="en-US" sz="1400" b="0" u="none" strike="noStrike">
              <a:solidFill>
                <a:srgbClr val="000000"/>
              </a:solidFill>
              <a:effectLst/>
              <a:uFillTx/>
              <a:latin typeface="Arial"/>
            </a:endParaRPr>
          </a:p>
          <a:p>
            <a:pPr marL="216000" indent="-216000">
              <a:lnSpc>
                <a:spcPct val="100000"/>
              </a:lnSpc>
              <a:spcBef>
                <a:spcPts val="624"/>
              </a:spcBef>
              <a:spcAft>
                <a:spcPts val="425"/>
              </a:spcAft>
              <a:buClr>
                <a:srgbClr val="000000"/>
              </a:buClr>
              <a:buSzPct val="55000"/>
              <a:buFont typeface="Wingdings" charset="2"/>
              <a:buChar char=""/>
            </a:pPr>
            <a:r>
              <a:rPr lang="en-US" sz="1400" b="1" u="none" strike="noStrike">
                <a:solidFill>
                  <a:srgbClr val="000000"/>
                </a:solidFill>
                <a:effectLst/>
                <a:uFillTx/>
                <a:latin typeface="Inter"/>
                <a:ea typeface="Microsoft YaHei"/>
              </a:rPr>
              <a:t>Virtualisation : activer si installation en machine virtuelle (VMware, VirtualBox)</a:t>
            </a:r>
            <a:endParaRPr lang="en-US" sz="1400" b="0" u="none" strike="noStrike">
              <a:solidFill>
                <a:srgbClr val="000000"/>
              </a:solidFill>
              <a:effectLst/>
              <a:uFillTx/>
              <a:latin typeface="Arial"/>
            </a:endParaRPr>
          </a:p>
        </p:txBody>
      </p:sp>
      <p:sp>
        <p:nvSpPr>
          <p:cNvPr id="117" name=""/>
          <p:cNvSpPr/>
          <p:nvPr/>
        </p:nvSpPr>
        <p:spPr>
          <a:xfrm>
            <a:off x="7507800" y="2032200"/>
            <a:ext cx="6087240" cy="206676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624"/>
              </a:spcBef>
              <a:spcAft>
                <a:spcPts val="425"/>
              </a:spcAft>
            </a:pPr>
            <a:r>
              <a:rPr lang="en-US" sz="1600" b="1" u="none" strike="noStrike">
                <a:solidFill>
                  <a:srgbClr val="000000"/>
                </a:solidFill>
                <a:effectLst/>
                <a:uFillTx/>
                <a:latin typeface="Inter Bold"/>
                <a:ea typeface="Microsoft YaHei"/>
              </a:rPr>
              <a:t>🛡️ Pré-requis de sécurité</a:t>
            </a:r>
            <a:endParaRPr lang="en-US" sz="1600" b="0" u="none" strike="noStrike">
              <a:solidFill>
                <a:srgbClr val="000000"/>
              </a:solidFill>
              <a:effectLst/>
              <a:uFillTx/>
              <a:latin typeface="Arial"/>
            </a:endParaRPr>
          </a:p>
          <a:p>
            <a:pPr marL="216000" indent="-216000">
              <a:lnSpc>
                <a:spcPct val="100000"/>
              </a:lnSpc>
              <a:spcBef>
                <a:spcPts val="624"/>
              </a:spcBef>
              <a:spcAft>
                <a:spcPts val="425"/>
              </a:spcAft>
              <a:buClr>
                <a:srgbClr val="000000"/>
              </a:buClr>
              <a:buSzPct val="55000"/>
              <a:buFont typeface="Wingdings" charset="2"/>
              <a:buChar char=""/>
            </a:pPr>
            <a:r>
              <a:rPr lang="en-US" sz="1400" b="0" u="none" strike="noStrike">
                <a:solidFill>
                  <a:srgbClr val="000000"/>
                </a:solidFill>
                <a:effectLst/>
                <a:uFillTx/>
                <a:latin typeface="Inter Bold"/>
                <a:ea typeface="Microsoft YaHei"/>
              </a:rPr>
              <a:t>Choisir une distribution fiable (site officiel, checksum ISO)</a:t>
            </a:r>
            <a:endParaRPr lang="en-US" sz="1400" b="0" u="none" strike="noStrike">
              <a:solidFill>
                <a:srgbClr val="000000"/>
              </a:solidFill>
              <a:effectLst/>
              <a:uFillTx/>
              <a:latin typeface="Arial"/>
            </a:endParaRPr>
          </a:p>
          <a:p>
            <a:pPr marL="216000" indent="-216000">
              <a:lnSpc>
                <a:spcPct val="100000"/>
              </a:lnSpc>
              <a:spcBef>
                <a:spcPts val="624"/>
              </a:spcBef>
              <a:spcAft>
                <a:spcPts val="425"/>
              </a:spcAft>
              <a:buClr>
                <a:srgbClr val="000000"/>
              </a:buClr>
              <a:buSzPct val="55000"/>
              <a:buFont typeface="Wingdings" charset="2"/>
              <a:buChar char=""/>
            </a:pPr>
            <a:r>
              <a:rPr lang="en-US" sz="1400" b="0" u="none" strike="noStrike">
                <a:solidFill>
                  <a:srgbClr val="000000"/>
                </a:solidFill>
                <a:effectLst/>
                <a:uFillTx/>
                <a:latin typeface="Inter Bold"/>
                <a:ea typeface="Microsoft YaHei"/>
              </a:rPr>
              <a:t>Mettre à jour dès l’installation</a:t>
            </a:r>
            <a:endParaRPr lang="en-US" sz="1400" b="0" u="none" strike="noStrike">
              <a:solidFill>
                <a:srgbClr val="000000"/>
              </a:solidFill>
              <a:effectLst/>
              <a:uFillTx/>
              <a:latin typeface="Arial"/>
            </a:endParaRPr>
          </a:p>
          <a:p>
            <a:pPr marL="216000" indent="-216000">
              <a:lnSpc>
                <a:spcPct val="100000"/>
              </a:lnSpc>
              <a:spcBef>
                <a:spcPts val="624"/>
              </a:spcBef>
              <a:spcAft>
                <a:spcPts val="425"/>
              </a:spcAft>
              <a:buClr>
                <a:srgbClr val="000000"/>
              </a:buClr>
              <a:buSzPct val="55000"/>
              <a:buFont typeface="Wingdings" charset="2"/>
              <a:buChar char=""/>
            </a:pPr>
            <a:r>
              <a:rPr lang="en-US" sz="1400" b="0" u="none" strike="noStrike">
                <a:solidFill>
                  <a:srgbClr val="000000"/>
                </a:solidFill>
                <a:effectLst/>
                <a:uFillTx/>
                <a:latin typeface="Inter Bold"/>
                <a:ea typeface="Microsoft YaHei"/>
              </a:rPr>
              <a:t>Configurer le pare-feu (ufw, firewalld)</a:t>
            </a:r>
            <a:endParaRPr lang="en-US" sz="1400" b="0" u="none" strike="noStrike">
              <a:solidFill>
                <a:srgbClr val="000000"/>
              </a:solidFill>
              <a:effectLst/>
              <a:uFillTx/>
              <a:latin typeface="Arial"/>
            </a:endParaRPr>
          </a:p>
          <a:p>
            <a:pPr marL="216000" indent="-216000">
              <a:lnSpc>
                <a:spcPct val="100000"/>
              </a:lnSpc>
              <a:spcBef>
                <a:spcPts val="624"/>
              </a:spcBef>
              <a:spcAft>
                <a:spcPts val="425"/>
              </a:spcAft>
              <a:buClr>
                <a:srgbClr val="000000"/>
              </a:buClr>
              <a:buSzPct val="55000"/>
              <a:buFont typeface="Wingdings" charset="2"/>
              <a:buChar char=""/>
            </a:pPr>
            <a:r>
              <a:rPr lang="en-US" sz="1400" b="0" u="none" strike="noStrike">
                <a:solidFill>
                  <a:srgbClr val="000000"/>
                </a:solidFill>
                <a:effectLst/>
                <a:uFillTx/>
                <a:latin typeface="Inter Bold"/>
                <a:ea typeface="Microsoft YaHei"/>
              </a:rPr>
              <a:t>Créer un utilisateur non-root pour éviter les risques</a:t>
            </a:r>
            <a:endParaRPr lang="en-US" sz="1400" b="0" u="none" strike="noStrike">
              <a:solidFill>
                <a:srgbClr val="000000"/>
              </a:solidFill>
              <a:effectLst/>
              <a:uFillTx/>
              <a:latin typeface="Arial"/>
            </a:endParaRPr>
          </a:p>
          <a:p>
            <a:pPr>
              <a:lnSpc>
                <a:spcPct val="100000"/>
              </a:lnSpc>
              <a:spcBef>
                <a:spcPts val="624"/>
              </a:spcBef>
              <a:spcAft>
                <a:spcPts val="425"/>
              </a:spcAft>
            </a:pP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
          <p:cNvSpPr/>
          <p:nvPr/>
        </p:nvSpPr>
        <p:spPr>
          <a:xfrm>
            <a:off x="457200" y="469800"/>
            <a:ext cx="8913960" cy="577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3200" b="1" u="none" strike="noStrike">
                <a:solidFill>
                  <a:srgbClr val="000000"/>
                </a:solidFill>
                <a:effectLst/>
                <a:uFillTx/>
                <a:latin typeface="Inter Bold"/>
              </a:rPr>
              <a:t>Méthodes d’installation de Linux</a:t>
            </a:r>
            <a:endParaRPr lang="en-US" sz="3200" b="0" u="none" strike="noStrike">
              <a:solidFill>
                <a:srgbClr val="000000"/>
              </a:solidFill>
              <a:effectLst/>
              <a:uFillTx/>
              <a:latin typeface="Arial"/>
            </a:endParaRPr>
          </a:p>
        </p:txBody>
      </p:sp>
      <p:sp>
        <p:nvSpPr>
          <p:cNvPr id="119" name=""/>
          <p:cNvSpPr/>
          <p:nvPr/>
        </p:nvSpPr>
        <p:spPr>
          <a:xfrm>
            <a:off x="622080" y="1381680"/>
            <a:ext cx="5777280" cy="3107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1" u="none" strike="noStrike">
                <a:solidFill>
                  <a:srgbClr val="000000"/>
                </a:solidFill>
                <a:effectLst/>
                <a:uFillTx/>
                <a:latin typeface="Cambria"/>
              </a:rPr>
              <a:t>Méthode 1 : Installation en dual boot</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Cambria"/>
              </a:rPr>
              <a:t>Linux est installé à côté de Windows</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Cambria"/>
              </a:rPr>
              <a:t>Choix du système au démarrage</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r>
              <a:rPr lang="en-US" sz="1800" b="1" u="none" strike="noStrike">
                <a:solidFill>
                  <a:srgbClr val="000000"/>
                </a:solidFill>
                <a:effectLst/>
                <a:uFillTx/>
                <a:latin typeface="Cambria"/>
                <a:ea typeface="Microsoft YaHei"/>
              </a:rPr>
              <a:t>Avantages :</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Cambria"/>
                <a:ea typeface="Microsoft YaHei"/>
              </a:rPr>
              <a:t>Accès aux performances réelles de la machine</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Cambria"/>
                <a:ea typeface="Microsoft YaHei"/>
              </a:rPr>
              <a:t>Idéal pour apprendre sérieusement</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r>
              <a:rPr lang="en-US" sz="1800" b="1" u="none" strike="noStrike">
                <a:solidFill>
                  <a:srgbClr val="000000"/>
                </a:solidFill>
                <a:effectLst/>
                <a:uFillTx/>
                <a:latin typeface="Cambria"/>
                <a:ea typeface="Microsoft YaHei"/>
              </a:rPr>
              <a:t>Inconvénients :</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Cambria"/>
                <a:ea typeface="Microsoft YaHei"/>
              </a:rPr>
              <a:t>Risque de mauvaise manipulation des partitions</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Cambria"/>
                <a:ea typeface="Microsoft YaHei"/>
              </a:rPr>
              <a:t>Gestion du démarrage (GRUB)</a:t>
            </a:r>
            <a:endParaRPr lang="en-US" sz="1800" b="0" u="none" strike="noStrike">
              <a:solidFill>
                <a:srgbClr val="000000"/>
              </a:solidFill>
              <a:effectLst/>
              <a:uFillTx/>
              <a:latin typeface="Arial"/>
            </a:endParaRPr>
          </a:p>
        </p:txBody>
      </p:sp>
      <p:sp>
        <p:nvSpPr>
          <p:cNvPr id="120" name=""/>
          <p:cNvSpPr/>
          <p:nvPr/>
        </p:nvSpPr>
        <p:spPr>
          <a:xfrm>
            <a:off x="622080" y="4647240"/>
            <a:ext cx="5777280" cy="28328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1" u="none" strike="noStrike">
                <a:solidFill>
                  <a:srgbClr val="000000"/>
                </a:solidFill>
                <a:effectLst/>
                <a:uFillTx/>
                <a:latin typeface="Cambria"/>
              </a:rPr>
              <a:t>Méthode 2 : Installation complète (Linux seul)</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Cambria"/>
              </a:rPr>
              <a:t>Linux remplace totalement l’ancien système</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r>
              <a:rPr lang="en-US" sz="1800" b="1" u="none" strike="noStrike">
                <a:solidFill>
                  <a:srgbClr val="000000"/>
                </a:solidFill>
                <a:effectLst/>
                <a:uFillTx/>
                <a:latin typeface="Cambria"/>
              </a:rPr>
              <a:t>Avantages :</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Cambria"/>
              </a:rPr>
              <a:t>Performance maximale</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Cambria"/>
              </a:rPr>
              <a:t>Environnement 100 % Linux</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r>
              <a:rPr lang="en-US" sz="1800" b="1" u="none" strike="noStrike">
                <a:solidFill>
                  <a:srgbClr val="000000"/>
                </a:solidFill>
                <a:effectLst/>
                <a:uFillTx/>
                <a:latin typeface="Cambria"/>
              </a:rPr>
              <a:t>Inconvénients :</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Cambria"/>
              </a:rPr>
              <a:t>Suppression de Windows</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Cambria"/>
              </a:rPr>
              <a:t>Peu flexible pour les débutants</a:t>
            </a:r>
            <a:endParaRPr lang="en-US" sz="1800" b="0" u="none" strike="noStrike">
              <a:solidFill>
                <a:srgbClr val="000000"/>
              </a:solidFill>
              <a:effectLst/>
              <a:uFillTx/>
              <a:latin typeface="Arial"/>
            </a:endParaRPr>
          </a:p>
        </p:txBody>
      </p:sp>
      <p:sp>
        <p:nvSpPr>
          <p:cNvPr id="121" name=""/>
          <p:cNvSpPr/>
          <p:nvPr/>
        </p:nvSpPr>
        <p:spPr>
          <a:xfrm>
            <a:off x="6858000" y="1407600"/>
            <a:ext cx="5777280" cy="28328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1" u="none" strike="noStrike">
                <a:solidFill>
                  <a:srgbClr val="000000"/>
                </a:solidFill>
                <a:effectLst/>
                <a:uFillTx/>
                <a:latin typeface="Cambria"/>
              </a:rPr>
              <a:t>Méthode 3 : Machine virtuelle (VirtualBox / VMware)</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Cambria"/>
              </a:rPr>
              <a:t>Linux est installé dans un logiciel de virtualisation…</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r>
              <a:rPr lang="en-US" sz="1800" b="1" u="none" strike="noStrike">
                <a:solidFill>
                  <a:srgbClr val="000000"/>
                </a:solidFill>
                <a:effectLst/>
                <a:uFillTx/>
                <a:latin typeface="Cambria"/>
              </a:rPr>
              <a:t>Avantages :</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Cambria"/>
              </a:rPr>
              <a:t>Aucun risque pour le système principal</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Cambria"/>
              </a:rPr>
              <a:t>Très adapté à l’apprentissage et aux tests</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r>
              <a:rPr lang="en-US" sz="1800" b="1" u="none" strike="noStrike">
                <a:solidFill>
                  <a:srgbClr val="000000"/>
                </a:solidFill>
                <a:effectLst/>
                <a:uFillTx/>
                <a:latin typeface="Cambria"/>
              </a:rPr>
              <a:t>Inconvénients :</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Cambria"/>
              </a:rPr>
              <a:t>Performances limitées</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Cambria"/>
              </a:rPr>
              <a:t>Accès restreint au matériel</a:t>
            </a:r>
            <a:endParaRPr lang="en-US" sz="1800" b="0" u="none" strike="noStrike">
              <a:solidFill>
                <a:srgbClr val="000000"/>
              </a:solidFill>
              <a:effectLst/>
              <a:uFillTx/>
              <a:latin typeface="Arial"/>
            </a:endParaRPr>
          </a:p>
        </p:txBody>
      </p:sp>
      <p:sp>
        <p:nvSpPr>
          <p:cNvPr id="122" name=""/>
          <p:cNvSpPr/>
          <p:nvPr/>
        </p:nvSpPr>
        <p:spPr>
          <a:xfrm>
            <a:off x="6890400" y="4670640"/>
            <a:ext cx="5777280" cy="28328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1" u="none" strike="noStrike">
                <a:solidFill>
                  <a:srgbClr val="000000"/>
                </a:solidFill>
                <a:effectLst/>
                <a:uFillTx/>
                <a:latin typeface="Cambria"/>
              </a:rPr>
              <a:t>Méthode 4 : WSL (Windows Subsystem for Linux)</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Cambria"/>
              </a:rPr>
              <a:t>Linux fonctionne directement dans Windows</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r>
              <a:rPr lang="en-US" sz="1800" b="1" u="none" strike="noStrike">
                <a:solidFill>
                  <a:srgbClr val="000000"/>
                </a:solidFill>
                <a:effectLst/>
                <a:uFillTx/>
                <a:latin typeface="Cambria"/>
              </a:rPr>
              <a:t>Avantages :</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Cambria"/>
              </a:rPr>
              <a:t>Installation rapide</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Cambria"/>
              </a:rPr>
              <a:t>Excellent pour le développement</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r>
              <a:rPr lang="en-US" sz="1800" b="1" u="none" strike="noStrike">
                <a:solidFill>
                  <a:srgbClr val="000000"/>
                </a:solidFill>
                <a:effectLst/>
                <a:uFillTx/>
                <a:latin typeface="Cambria"/>
              </a:rPr>
              <a:t>Inconvénients :</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Cambria"/>
              </a:rPr>
              <a:t>Pas un Linux “complet”</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Cambria"/>
              </a:rPr>
              <a:t>Usage serveur ou graphique limité</a:t>
            </a:r>
            <a:endParaRPr lang="en-US" sz="1800" b="0" u="none" strike="noStrike">
              <a:solidFill>
                <a:srgbClr val="000000"/>
              </a:solidFill>
              <a:effectLst/>
              <a:uFillTx/>
              <a:latin typeface="Arial"/>
            </a:endParaRPr>
          </a:p>
        </p:txBody>
      </p:sp>
      <p:sp>
        <p:nvSpPr>
          <p:cNvPr id="123" name="Shape 26"/>
          <p:cNvSpPr/>
          <p:nvPr/>
        </p:nvSpPr>
        <p:spPr>
          <a:xfrm>
            <a:off x="0" y="7772400"/>
            <a:ext cx="14628960" cy="455760"/>
          </a:xfrm>
          <a:prstGeom prst="roundRect">
            <a:avLst>
              <a:gd name="adj" fmla="val 4099"/>
            </a:avLst>
          </a:prstGeom>
          <a:solidFill>
            <a:srgbClr val="ffffff"/>
          </a:solidFill>
          <a:ln w="7620">
            <a:solidFill>
              <a:srgbClr val="ffffff"/>
            </a:solidFill>
            <a:round/>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
          <p:cNvSpPr/>
          <p:nvPr/>
        </p:nvSpPr>
        <p:spPr>
          <a:xfrm>
            <a:off x="446400" y="734400"/>
            <a:ext cx="7999560" cy="56232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lang="en-US" sz="3100" b="1" u="none" strike="noStrike">
                <a:solidFill>
                  <a:srgbClr val="000000"/>
                </a:solidFill>
                <a:effectLst/>
                <a:uFillTx/>
                <a:latin typeface="Inter bold"/>
              </a:rPr>
              <a:t>Étapes générales d’installation (clé USB)</a:t>
            </a:r>
            <a:endParaRPr lang="en-US" sz="3100" b="0" u="none" strike="noStrike">
              <a:solidFill>
                <a:srgbClr val="000000"/>
              </a:solidFill>
              <a:effectLst/>
              <a:uFillTx/>
              <a:latin typeface="Arial"/>
            </a:endParaRPr>
          </a:p>
        </p:txBody>
      </p:sp>
      <p:sp>
        <p:nvSpPr>
          <p:cNvPr id="125" name=""/>
          <p:cNvSpPr/>
          <p:nvPr/>
        </p:nvSpPr>
        <p:spPr>
          <a:xfrm>
            <a:off x="457200" y="1544400"/>
            <a:ext cx="9142560" cy="299304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spcAft>
                <a:spcPts val="1009"/>
              </a:spcAft>
              <a:buClr>
                <a:srgbClr val="000000"/>
              </a:buClr>
              <a:buFont typeface="Symbol" charset="2"/>
              <a:buChar char=""/>
            </a:pPr>
            <a:r>
              <a:rPr lang="en-US" sz="2000" b="0" u="none" strike="noStrike">
                <a:solidFill>
                  <a:srgbClr val="000000"/>
                </a:solidFill>
                <a:effectLst/>
                <a:uFillTx/>
                <a:latin typeface="Inter Bold"/>
              </a:rPr>
              <a:t>Télécharger l’ISO de la distribution</a:t>
            </a:r>
            <a:endParaRPr lang="en-US" sz="2000" b="0" u="none" strike="noStrike">
              <a:solidFill>
                <a:srgbClr val="000000"/>
              </a:solidFill>
              <a:effectLst/>
              <a:uFillTx/>
              <a:latin typeface="Arial"/>
            </a:endParaRPr>
          </a:p>
          <a:p>
            <a:pPr marL="216000" indent="-216000">
              <a:lnSpc>
                <a:spcPct val="100000"/>
              </a:lnSpc>
              <a:spcAft>
                <a:spcPts val="1009"/>
              </a:spcAft>
              <a:buClr>
                <a:srgbClr val="000000"/>
              </a:buClr>
              <a:buFont typeface="Symbol" charset="2"/>
              <a:buChar char=""/>
            </a:pPr>
            <a:r>
              <a:rPr lang="en-US" sz="2000" b="0" u="none" strike="noStrike">
                <a:solidFill>
                  <a:srgbClr val="000000"/>
                </a:solidFill>
                <a:effectLst/>
                <a:uFillTx/>
                <a:latin typeface="Inter Bold"/>
              </a:rPr>
              <a:t>Créer une clé USB bootable (Rufus, Balena Etcher)</a:t>
            </a:r>
            <a:endParaRPr lang="en-US" sz="2000" b="0" u="none" strike="noStrike">
              <a:solidFill>
                <a:srgbClr val="000000"/>
              </a:solidFill>
              <a:effectLst/>
              <a:uFillTx/>
              <a:latin typeface="Arial"/>
            </a:endParaRPr>
          </a:p>
          <a:p>
            <a:pPr marL="216000" indent="-216000">
              <a:lnSpc>
                <a:spcPct val="100000"/>
              </a:lnSpc>
              <a:spcAft>
                <a:spcPts val="1009"/>
              </a:spcAft>
              <a:buClr>
                <a:srgbClr val="000000"/>
              </a:buClr>
              <a:buFont typeface="Symbol" charset="2"/>
              <a:buChar char=""/>
            </a:pPr>
            <a:r>
              <a:rPr lang="en-US" sz="2000" b="0" u="none" strike="noStrike">
                <a:solidFill>
                  <a:srgbClr val="000000"/>
                </a:solidFill>
                <a:effectLst/>
                <a:uFillTx/>
                <a:latin typeface="Inter Bold"/>
              </a:rPr>
              <a:t>Démarrer le PC sur la clé USB</a:t>
            </a:r>
            <a:endParaRPr lang="en-US" sz="2000" b="0" u="none" strike="noStrike">
              <a:solidFill>
                <a:srgbClr val="000000"/>
              </a:solidFill>
              <a:effectLst/>
              <a:uFillTx/>
              <a:latin typeface="Arial"/>
            </a:endParaRPr>
          </a:p>
          <a:p>
            <a:pPr marL="216000" indent="-216000">
              <a:lnSpc>
                <a:spcPct val="100000"/>
              </a:lnSpc>
              <a:spcAft>
                <a:spcPts val="1009"/>
              </a:spcAft>
              <a:buClr>
                <a:srgbClr val="000000"/>
              </a:buClr>
              <a:buFont typeface="Symbol" charset="2"/>
              <a:buChar char=""/>
            </a:pPr>
            <a:r>
              <a:rPr lang="en-US" sz="2000" b="0" u="none" strike="noStrike">
                <a:solidFill>
                  <a:srgbClr val="000000"/>
                </a:solidFill>
                <a:effectLst/>
                <a:uFillTx/>
                <a:latin typeface="Inter Bold"/>
              </a:rPr>
              <a:t>Choisir la langue et le clavier</a:t>
            </a:r>
            <a:endParaRPr lang="en-US" sz="2000" b="0" u="none" strike="noStrike">
              <a:solidFill>
                <a:srgbClr val="000000"/>
              </a:solidFill>
              <a:effectLst/>
              <a:uFillTx/>
              <a:latin typeface="Arial"/>
            </a:endParaRPr>
          </a:p>
          <a:p>
            <a:pPr marL="216000" indent="-216000">
              <a:lnSpc>
                <a:spcPct val="100000"/>
              </a:lnSpc>
              <a:spcAft>
                <a:spcPts val="1009"/>
              </a:spcAft>
              <a:buClr>
                <a:srgbClr val="000000"/>
              </a:buClr>
              <a:buFont typeface="Symbol" charset="2"/>
              <a:buChar char=""/>
            </a:pPr>
            <a:r>
              <a:rPr lang="en-US" sz="2000" b="0" u="none" strike="noStrike">
                <a:solidFill>
                  <a:srgbClr val="000000"/>
                </a:solidFill>
                <a:effectLst/>
                <a:uFillTx/>
                <a:latin typeface="Inter Bold"/>
              </a:rPr>
              <a:t>Configurer le disque et les partitions</a:t>
            </a:r>
            <a:endParaRPr lang="en-US" sz="2000" b="0" u="none" strike="noStrike">
              <a:solidFill>
                <a:srgbClr val="000000"/>
              </a:solidFill>
              <a:effectLst/>
              <a:uFillTx/>
              <a:latin typeface="Arial"/>
            </a:endParaRPr>
          </a:p>
          <a:p>
            <a:pPr marL="216000" indent="-216000">
              <a:lnSpc>
                <a:spcPct val="100000"/>
              </a:lnSpc>
              <a:spcAft>
                <a:spcPts val="1009"/>
              </a:spcAft>
              <a:buClr>
                <a:srgbClr val="000000"/>
              </a:buClr>
              <a:buFont typeface="Symbol" charset="2"/>
              <a:buChar char=""/>
            </a:pPr>
            <a:r>
              <a:rPr lang="en-US" sz="2000" b="0" u="none" strike="noStrike">
                <a:solidFill>
                  <a:srgbClr val="000000"/>
                </a:solidFill>
                <a:effectLst/>
                <a:uFillTx/>
                <a:latin typeface="Inter Bold"/>
              </a:rPr>
              <a:t>Installer le système</a:t>
            </a:r>
            <a:endParaRPr lang="en-US" sz="2000" b="0" u="none" strike="noStrike">
              <a:solidFill>
                <a:srgbClr val="000000"/>
              </a:solidFill>
              <a:effectLst/>
              <a:uFillTx/>
              <a:latin typeface="Arial"/>
            </a:endParaRPr>
          </a:p>
          <a:p>
            <a:pPr marL="216000" indent="-216000">
              <a:lnSpc>
                <a:spcPct val="100000"/>
              </a:lnSpc>
              <a:spcAft>
                <a:spcPts val="1009"/>
              </a:spcAft>
              <a:buClr>
                <a:srgbClr val="000000"/>
              </a:buClr>
              <a:buFont typeface="Symbol" charset="2"/>
              <a:buChar char=""/>
            </a:pPr>
            <a:r>
              <a:rPr lang="en-US" sz="2000" b="0" u="none" strike="noStrike">
                <a:solidFill>
                  <a:srgbClr val="000000"/>
                </a:solidFill>
                <a:effectLst/>
                <a:uFillTx/>
                <a:latin typeface="Inter Bold"/>
              </a:rPr>
              <a:t>Redémarrer et finaliser la configuration</a:t>
            </a:r>
            <a:endParaRPr lang="en-US" sz="2000" b="0" u="none" strike="noStrike">
              <a:solidFill>
                <a:srgbClr val="000000"/>
              </a:solidFill>
              <a:effectLst/>
              <a:uFillTx/>
              <a:latin typeface="Arial"/>
            </a:endParaRPr>
          </a:p>
        </p:txBody>
      </p:sp>
      <p:sp>
        <p:nvSpPr>
          <p:cNvPr id="126" name="Shape 28"/>
          <p:cNvSpPr/>
          <p:nvPr/>
        </p:nvSpPr>
        <p:spPr>
          <a:xfrm>
            <a:off x="0" y="7772400"/>
            <a:ext cx="14628960" cy="455760"/>
          </a:xfrm>
          <a:prstGeom prst="roundRect">
            <a:avLst>
              <a:gd name="adj" fmla="val 4099"/>
            </a:avLst>
          </a:prstGeom>
          <a:solidFill>
            <a:srgbClr val="ffffff"/>
          </a:solidFill>
          <a:ln w="7620">
            <a:solidFill>
              <a:srgbClr val="ffffff"/>
            </a:solidFill>
            <a:round/>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127" name=""/>
          <p:cNvSpPr/>
          <p:nvPr/>
        </p:nvSpPr>
        <p:spPr>
          <a:xfrm>
            <a:off x="457200" y="4800600"/>
            <a:ext cx="14171760" cy="22842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2100" b="1" u="none" strike="noStrike">
                <a:solidFill>
                  <a:srgbClr val="000000"/>
                </a:solidFill>
                <a:effectLst/>
                <a:uFillTx/>
                <a:latin typeface="Cambria"/>
              </a:rPr>
              <a:t>Conclusion</a:t>
            </a:r>
            <a:endParaRPr lang="en-US" sz="2100" b="0" u="none" strike="noStrike">
              <a:solidFill>
                <a:srgbClr val="000000"/>
              </a:solidFill>
              <a:effectLst/>
              <a:uFillTx/>
              <a:latin typeface="Arial"/>
            </a:endParaRPr>
          </a:p>
          <a:p>
            <a:pPr>
              <a:lnSpc>
                <a:spcPct val="100000"/>
              </a:lnSpc>
            </a:pPr>
            <a:r>
              <a:rPr lang="en-US" sz="2100" b="0" u="none" strike="noStrike">
                <a:solidFill>
                  <a:srgbClr val="000000"/>
                </a:solidFill>
                <a:effectLst/>
                <a:uFillTx/>
                <a:latin typeface="Cambria"/>
              </a:rPr>
              <a:t>Le choix de la méthode dépend de l’objectif :</a:t>
            </a:r>
            <a:endParaRPr lang="en-US" sz="2100" b="0" u="none" strike="noStrike">
              <a:solidFill>
                <a:srgbClr val="000000"/>
              </a:solidFill>
              <a:effectLst/>
              <a:uFillTx/>
              <a:latin typeface="Arial"/>
            </a:endParaRPr>
          </a:p>
          <a:p>
            <a:pPr>
              <a:lnSpc>
                <a:spcPct val="100000"/>
              </a:lnSpc>
            </a:pPr>
            <a:r>
              <a:rPr lang="en-US" sz="2100" b="0" u="none" strike="noStrike">
                <a:solidFill>
                  <a:srgbClr val="000000"/>
                </a:solidFill>
                <a:effectLst/>
                <a:uFillTx/>
                <a:latin typeface="Cambria"/>
              </a:rPr>
              <a:t>Apprentissage sécurisé → Machine virtuelle ou WSL</a:t>
            </a:r>
            <a:endParaRPr lang="en-US" sz="2100" b="0" u="none" strike="noStrike">
              <a:solidFill>
                <a:srgbClr val="000000"/>
              </a:solidFill>
              <a:effectLst/>
              <a:uFillTx/>
              <a:latin typeface="Arial"/>
            </a:endParaRPr>
          </a:p>
          <a:p>
            <a:pPr>
              <a:lnSpc>
                <a:spcPct val="100000"/>
              </a:lnSpc>
            </a:pPr>
            <a:r>
              <a:rPr lang="en-US" sz="2100" b="0" u="none" strike="noStrike">
                <a:solidFill>
                  <a:srgbClr val="000000"/>
                </a:solidFill>
                <a:effectLst/>
                <a:uFillTx/>
                <a:latin typeface="Cambria"/>
              </a:rPr>
              <a:t>Utilisation quotidienne → Dual boot</a:t>
            </a:r>
            <a:endParaRPr lang="en-US" sz="2100" b="0" u="none" strike="noStrike">
              <a:solidFill>
                <a:srgbClr val="000000"/>
              </a:solidFill>
              <a:effectLst/>
              <a:uFillTx/>
              <a:latin typeface="Arial"/>
            </a:endParaRPr>
          </a:p>
          <a:p>
            <a:pPr>
              <a:lnSpc>
                <a:spcPct val="100000"/>
              </a:lnSpc>
            </a:pPr>
            <a:r>
              <a:rPr lang="en-US" sz="2100" b="0" u="none" strike="noStrike">
                <a:solidFill>
                  <a:srgbClr val="000000"/>
                </a:solidFill>
                <a:effectLst/>
                <a:uFillTx/>
                <a:latin typeface="Cambria"/>
              </a:rPr>
              <a:t>Usage professionnel ou serveur → Installation complète</a:t>
            </a:r>
            <a:endParaRPr lang="en-US" sz="2100" b="0" u="none" strike="noStrike">
              <a:solidFill>
                <a:srgbClr val="000000"/>
              </a:solidFill>
              <a:effectLst/>
              <a:uFillTx/>
              <a:latin typeface="Arial"/>
            </a:endParaRPr>
          </a:p>
          <a:p>
            <a:pPr>
              <a:lnSpc>
                <a:spcPct val="100000"/>
              </a:lnSpc>
            </a:pPr>
            <a:r>
              <a:rPr lang="en-US" sz="2100" b="0" u="none" strike="noStrike">
                <a:solidFill>
                  <a:srgbClr val="000000"/>
                </a:solidFill>
                <a:effectLst/>
                <a:uFillTx/>
                <a:latin typeface="Cambria"/>
              </a:rPr>
              <a:t>Linux offre une grande flexibilité et s’adapte aussi bien aux débutants qu’aux professionnels.</a:t>
            </a:r>
            <a:endParaRPr lang="en-US" sz="21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
          <p:cNvSpPr/>
          <p:nvPr/>
        </p:nvSpPr>
        <p:spPr>
          <a:xfrm>
            <a:off x="446400" y="734400"/>
            <a:ext cx="481068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lang="en-US" sz="2400" b="1" u="none" strike="noStrike">
                <a:solidFill>
                  <a:srgbClr val="000000"/>
                </a:solidFill>
                <a:effectLst/>
                <a:uFillTx/>
                <a:latin typeface="Inter bold"/>
              </a:rPr>
              <a:t>UBUNTU MATE (DESKTOP) </a:t>
            </a:r>
            <a:endParaRPr lang="en-US" sz="2400" b="0" u="none" strike="noStrike">
              <a:solidFill>
                <a:srgbClr val="000000"/>
              </a:solidFill>
              <a:effectLst/>
              <a:uFillTx/>
              <a:latin typeface="Arial"/>
            </a:endParaRPr>
          </a:p>
        </p:txBody>
      </p:sp>
      <p:sp>
        <p:nvSpPr>
          <p:cNvPr id="129" name=""/>
          <p:cNvSpPr/>
          <p:nvPr/>
        </p:nvSpPr>
        <p:spPr>
          <a:xfrm>
            <a:off x="457200" y="1371600"/>
            <a:ext cx="5485680" cy="290628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225"/>
              </a:spcBef>
            </a:pPr>
            <a:r>
              <a:rPr lang="en-US" sz="1800" b="1" u="none" strike="noStrike">
                <a:solidFill>
                  <a:srgbClr val="000000"/>
                </a:solidFill>
                <a:effectLst/>
                <a:uFillTx/>
                <a:latin typeface="Cambria"/>
              </a:rPr>
              <a:t>C’est quoi ?</a:t>
            </a:r>
            <a:endParaRPr lang="en-US" sz="1800" b="0" u="none" strike="noStrike">
              <a:solidFill>
                <a:srgbClr val="000000"/>
              </a:solidFill>
              <a:effectLst/>
              <a:uFillTx/>
              <a:latin typeface="Arial"/>
            </a:endParaRPr>
          </a:p>
          <a:p>
            <a:pPr>
              <a:lnSpc>
                <a:spcPct val="100000"/>
              </a:lnSpc>
              <a:spcBef>
                <a:spcPts val="1225"/>
              </a:spcBef>
            </a:pPr>
            <a:r>
              <a:rPr lang="en-US" sz="1800" b="0" u="none" strike="noStrike">
                <a:solidFill>
                  <a:srgbClr val="000000"/>
                </a:solidFill>
                <a:effectLst/>
                <a:uFillTx/>
                <a:latin typeface="Cambria"/>
              </a:rPr>
              <a:t>Ubuntu MATE est une distribution Linux libre et gratuite, basée sur Ubuntu.</a:t>
            </a:r>
            <a:endParaRPr lang="en-US" sz="1800" b="0" u="none" strike="noStrike">
              <a:solidFill>
                <a:srgbClr val="000000"/>
              </a:solidFill>
              <a:effectLst/>
              <a:uFillTx/>
              <a:latin typeface="Arial"/>
            </a:endParaRPr>
          </a:p>
          <a:p>
            <a:pPr>
              <a:lnSpc>
                <a:spcPct val="100000"/>
              </a:lnSpc>
              <a:spcBef>
                <a:spcPts val="1225"/>
              </a:spcBef>
            </a:pPr>
            <a:r>
              <a:rPr lang="en-US" sz="1800" b="0" u="none" strike="noStrike">
                <a:solidFill>
                  <a:srgbClr val="000000"/>
                </a:solidFill>
                <a:effectLst/>
                <a:uFillTx/>
                <a:latin typeface="Cambria"/>
              </a:rPr>
              <a:t>Elle utilise l’environnement de bureau MATE, qui est simple, léger et facile à prendre en main.</a:t>
            </a:r>
            <a:endParaRPr lang="en-US" sz="1800" b="0" u="none" strike="noStrike">
              <a:solidFill>
                <a:srgbClr val="000000"/>
              </a:solidFill>
              <a:effectLst/>
              <a:uFillTx/>
              <a:latin typeface="Arial"/>
            </a:endParaRPr>
          </a:p>
          <a:p>
            <a:pPr>
              <a:lnSpc>
                <a:spcPct val="100000"/>
              </a:lnSpc>
              <a:spcBef>
                <a:spcPts val="1225"/>
              </a:spcBef>
            </a:pPr>
            <a:r>
              <a:rPr lang="en-US" sz="1800" b="0" u="none" strike="noStrike">
                <a:solidFill>
                  <a:srgbClr val="000000"/>
                </a:solidFill>
                <a:effectLst/>
                <a:uFillTx/>
                <a:latin typeface="Cambria"/>
              </a:rPr>
              <a:t>Conçue pour être accessible aux débutants tout en restant puissante pour les utilisateurs avancés.</a:t>
            </a:r>
            <a:endParaRPr lang="en-US" sz="1800" b="0" u="none" strike="noStrike">
              <a:solidFill>
                <a:srgbClr val="000000"/>
              </a:solidFill>
              <a:effectLst/>
              <a:uFillTx/>
              <a:latin typeface="Arial"/>
            </a:endParaRPr>
          </a:p>
          <a:p>
            <a:pPr>
              <a:lnSpc>
                <a:spcPct val="100000"/>
              </a:lnSpc>
              <a:spcBef>
                <a:spcPts val="1225"/>
              </a:spcBef>
            </a:pPr>
            <a:endParaRPr lang="en-US" sz="1800" b="0" u="none" strike="noStrike">
              <a:solidFill>
                <a:srgbClr val="000000"/>
              </a:solidFill>
              <a:effectLst/>
              <a:uFillTx/>
              <a:latin typeface="Arial"/>
            </a:endParaRPr>
          </a:p>
        </p:txBody>
      </p:sp>
      <p:sp>
        <p:nvSpPr>
          <p:cNvPr id="130" name="Shape 38"/>
          <p:cNvSpPr/>
          <p:nvPr/>
        </p:nvSpPr>
        <p:spPr>
          <a:xfrm>
            <a:off x="0" y="7772400"/>
            <a:ext cx="14628960" cy="455760"/>
          </a:xfrm>
          <a:prstGeom prst="roundRect">
            <a:avLst>
              <a:gd name="adj" fmla="val 4099"/>
            </a:avLst>
          </a:prstGeom>
          <a:solidFill>
            <a:srgbClr val="ffffff"/>
          </a:solidFill>
          <a:ln w="7620">
            <a:solidFill>
              <a:srgbClr val="ffffff"/>
            </a:solidFill>
            <a:round/>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pic>
        <p:nvPicPr>
          <p:cNvPr id="131" name=""/>
          <p:cNvPicPr/>
          <p:nvPr/>
        </p:nvPicPr>
        <p:blipFill>
          <a:blip r:embed="rId1"/>
          <a:stretch/>
        </p:blipFill>
        <p:spPr>
          <a:xfrm>
            <a:off x="6172200" y="289800"/>
            <a:ext cx="8457480" cy="7543080"/>
          </a:xfrm>
          <a:prstGeom prst="rect">
            <a:avLst/>
          </a:prstGeom>
          <a:noFill/>
          <a:ln w="0">
            <a:noFill/>
          </a:ln>
        </p:spPr>
      </p:pic>
      <p:sp>
        <p:nvSpPr>
          <p:cNvPr id="132" name=""/>
          <p:cNvSpPr/>
          <p:nvPr/>
        </p:nvSpPr>
        <p:spPr>
          <a:xfrm>
            <a:off x="457200" y="1371960"/>
            <a:ext cx="5485680" cy="290628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225"/>
              </a:spcBef>
            </a:pPr>
            <a:r>
              <a:rPr lang="en-US" sz="1800" b="1" u="none" strike="noStrike">
                <a:solidFill>
                  <a:srgbClr val="000000"/>
                </a:solidFill>
                <a:effectLst/>
                <a:uFillTx/>
                <a:latin typeface="Cambria"/>
              </a:rPr>
              <a:t>C’est quoi ?</a:t>
            </a:r>
            <a:endParaRPr lang="en-US" sz="1800" b="0" u="none" strike="noStrike">
              <a:solidFill>
                <a:srgbClr val="000000"/>
              </a:solidFill>
              <a:effectLst/>
              <a:uFillTx/>
              <a:latin typeface="Arial"/>
            </a:endParaRPr>
          </a:p>
          <a:p>
            <a:pPr>
              <a:lnSpc>
                <a:spcPct val="100000"/>
              </a:lnSpc>
              <a:spcBef>
                <a:spcPts val="1225"/>
              </a:spcBef>
            </a:pPr>
            <a:r>
              <a:rPr lang="en-US" sz="1800" b="0" u="none" strike="noStrike">
                <a:solidFill>
                  <a:srgbClr val="000000"/>
                </a:solidFill>
                <a:effectLst/>
                <a:uFillTx/>
                <a:latin typeface="Cambria"/>
              </a:rPr>
              <a:t>Ubuntu MATE est une distribution Linux libre et gratuite, basée sur Ubuntu.</a:t>
            </a:r>
            <a:endParaRPr lang="en-US" sz="1800" b="0" u="none" strike="noStrike">
              <a:solidFill>
                <a:srgbClr val="000000"/>
              </a:solidFill>
              <a:effectLst/>
              <a:uFillTx/>
              <a:latin typeface="Arial"/>
            </a:endParaRPr>
          </a:p>
          <a:p>
            <a:pPr>
              <a:lnSpc>
                <a:spcPct val="100000"/>
              </a:lnSpc>
              <a:spcBef>
                <a:spcPts val="1225"/>
              </a:spcBef>
            </a:pPr>
            <a:r>
              <a:rPr lang="en-US" sz="1800" b="0" u="none" strike="noStrike">
                <a:solidFill>
                  <a:srgbClr val="000000"/>
                </a:solidFill>
                <a:effectLst/>
                <a:uFillTx/>
                <a:latin typeface="Cambria"/>
              </a:rPr>
              <a:t>Elle utilise l’environnement de bureau MATE, qui est simple, léger et facile à prendre en main.</a:t>
            </a:r>
            <a:endParaRPr lang="en-US" sz="1800" b="0" u="none" strike="noStrike">
              <a:solidFill>
                <a:srgbClr val="000000"/>
              </a:solidFill>
              <a:effectLst/>
              <a:uFillTx/>
              <a:latin typeface="Arial"/>
            </a:endParaRPr>
          </a:p>
          <a:p>
            <a:pPr>
              <a:lnSpc>
                <a:spcPct val="100000"/>
              </a:lnSpc>
              <a:spcBef>
                <a:spcPts val="1225"/>
              </a:spcBef>
            </a:pPr>
            <a:r>
              <a:rPr lang="en-US" sz="1800" b="0" u="none" strike="noStrike">
                <a:solidFill>
                  <a:srgbClr val="000000"/>
                </a:solidFill>
                <a:effectLst/>
                <a:uFillTx/>
                <a:latin typeface="Cambria"/>
              </a:rPr>
              <a:t>Conçue pour être accessible aux débutants tout en restant puissante pour les utilisateurs avancés.</a:t>
            </a:r>
            <a:endParaRPr lang="en-US" sz="1800" b="0" u="none" strike="noStrike">
              <a:solidFill>
                <a:srgbClr val="000000"/>
              </a:solidFill>
              <a:effectLst/>
              <a:uFillTx/>
              <a:latin typeface="Arial"/>
            </a:endParaRPr>
          </a:p>
          <a:p>
            <a:pPr>
              <a:lnSpc>
                <a:spcPct val="100000"/>
              </a:lnSpc>
              <a:spcBef>
                <a:spcPts val="1225"/>
              </a:spcBef>
            </a:pPr>
            <a:endParaRPr lang="en-US" sz="1800" b="0" u="none" strike="noStrike">
              <a:solidFill>
                <a:srgbClr val="000000"/>
              </a:solidFill>
              <a:effectLst/>
              <a:uFillTx/>
              <a:latin typeface="Arial"/>
            </a:endParaRPr>
          </a:p>
        </p:txBody>
      </p:sp>
      <p:sp>
        <p:nvSpPr>
          <p:cNvPr id="133" name=""/>
          <p:cNvSpPr/>
          <p:nvPr/>
        </p:nvSpPr>
        <p:spPr>
          <a:xfrm>
            <a:off x="457200" y="4343400"/>
            <a:ext cx="5485680" cy="332748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225"/>
              </a:spcBef>
              <a:spcAft>
                <a:spcPts val="289"/>
              </a:spcAft>
            </a:pPr>
            <a:r>
              <a:rPr lang="en-US" sz="1800" b="1" u="none" strike="noStrike">
                <a:solidFill>
                  <a:srgbClr val="000000"/>
                </a:solidFill>
                <a:effectLst/>
                <a:uFillTx/>
                <a:latin typeface="Cambria"/>
              </a:rPr>
              <a:t>Utilité</a:t>
            </a:r>
            <a:endParaRPr lang="en-US" sz="1800" b="0" u="none" strike="noStrike">
              <a:solidFill>
                <a:srgbClr val="000000"/>
              </a:solidFill>
              <a:effectLst/>
              <a:uFillTx/>
              <a:latin typeface="Arial"/>
            </a:endParaRPr>
          </a:p>
          <a:p>
            <a:pPr>
              <a:lnSpc>
                <a:spcPct val="100000"/>
              </a:lnSpc>
              <a:spcBef>
                <a:spcPts val="1225"/>
              </a:spcBef>
              <a:spcAft>
                <a:spcPts val="289"/>
              </a:spcAft>
            </a:pPr>
            <a:r>
              <a:rPr lang="en-US" sz="1800" b="0" u="none" strike="noStrike">
                <a:solidFill>
                  <a:srgbClr val="000000"/>
                </a:solidFill>
                <a:effectLst/>
                <a:uFillTx/>
                <a:latin typeface="Cambria"/>
              </a:rPr>
              <a:t>Fournir un système d’exploitation stable et convivial pour les étudiants et développeurs.</a:t>
            </a:r>
            <a:endParaRPr lang="en-US" sz="1800" b="0" u="none" strike="noStrike">
              <a:solidFill>
                <a:srgbClr val="000000"/>
              </a:solidFill>
              <a:effectLst/>
              <a:uFillTx/>
              <a:latin typeface="Arial"/>
            </a:endParaRPr>
          </a:p>
          <a:p>
            <a:pPr>
              <a:lnSpc>
                <a:spcPct val="100000"/>
              </a:lnSpc>
              <a:spcBef>
                <a:spcPts val="1225"/>
              </a:spcBef>
              <a:spcAft>
                <a:spcPts val="289"/>
              </a:spcAft>
            </a:pPr>
            <a:r>
              <a:rPr lang="en-US" sz="1800" b="0" u="none" strike="noStrike">
                <a:solidFill>
                  <a:srgbClr val="000000"/>
                </a:solidFill>
                <a:effectLst/>
                <a:uFillTx/>
                <a:latin typeface="Cambria"/>
              </a:rPr>
              <a:t>Fonctionne bien sur des ordinateurs anciens ou peu puissants grâce à sa légèreté.</a:t>
            </a:r>
            <a:endParaRPr lang="en-US" sz="1800" b="0" u="none" strike="noStrike">
              <a:solidFill>
                <a:srgbClr val="000000"/>
              </a:solidFill>
              <a:effectLst/>
              <a:uFillTx/>
              <a:latin typeface="Arial"/>
            </a:endParaRPr>
          </a:p>
          <a:p>
            <a:pPr>
              <a:lnSpc>
                <a:spcPct val="100000"/>
              </a:lnSpc>
              <a:spcBef>
                <a:spcPts val="1225"/>
              </a:spcBef>
              <a:spcAft>
                <a:spcPts val="289"/>
              </a:spcAft>
            </a:pPr>
            <a:r>
              <a:rPr lang="en-US" sz="1800" b="0" u="none" strike="noStrike">
                <a:solidFill>
                  <a:srgbClr val="000000"/>
                </a:solidFill>
                <a:effectLst/>
                <a:uFillTx/>
                <a:latin typeface="Cambria"/>
              </a:rPr>
              <a:t>Permet d’apprendre les bases de Linux dans un environnement simple et ergonomique.</a:t>
            </a:r>
            <a:endParaRPr lang="en-US" sz="1800" b="0" u="none" strike="noStrike">
              <a:solidFill>
                <a:srgbClr val="000000"/>
              </a:solidFill>
              <a:effectLst/>
              <a:uFillTx/>
              <a:latin typeface="Arial"/>
            </a:endParaRPr>
          </a:p>
          <a:p>
            <a:pPr>
              <a:lnSpc>
                <a:spcPct val="100000"/>
              </a:lnSpc>
              <a:spcBef>
                <a:spcPts val="1225"/>
              </a:spcBef>
              <a:spcAft>
                <a:spcPts val="289"/>
              </a:spcAft>
            </a:pPr>
            <a:r>
              <a:rPr lang="en-US" sz="1800" b="0" u="none" strike="noStrike">
                <a:solidFill>
                  <a:srgbClr val="000000"/>
                </a:solidFill>
                <a:effectLst/>
                <a:uFillTx/>
                <a:latin typeface="Cambria"/>
              </a:rPr>
              <a:t>Sert de plateforme pour installer et tester des logiciels open source.</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
          <p:cNvSpPr/>
          <p:nvPr/>
        </p:nvSpPr>
        <p:spPr>
          <a:xfrm>
            <a:off x="446400" y="734400"/>
            <a:ext cx="481068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lang="en-US" sz="2400" b="1" u="none" strike="noStrike">
                <a:solidFill>
                  <a:srgbClr val="000000"/>
                </a:solidFill>
                <a:effectLst/>
                <a:uFillTx/>
                <a:latin typeface="Inter bold"/>
              </a:rPr>
              <a:t>UBUNTU MATE (DESKTOP) </a:t>
            </a:r>
            <a:endParaRPr lang="en-US" sz="2400" b="0" u="none" strike="noStrike">
              <a:solidFill>
                <a:srgbClr val="000000"/>
              </a:solidFill>
              <a:effectLst/>
              <a:uFillTx/>
              <a:latin typeface="Arial"/>
            </a:endParaRPr>
          </a:p>
        </p:txBody>
      </p:sp>
      <p:sp>
        <p:nvSpPr>
          <p:cNvPr id="135" name=""/>
          <p:cNvSpPr/>
          <p:nvPr/>
        </p:nvSpPr>
        <p:spPr>
          <a:xfrm>
            <a:off x="457200" y="1371600"/>
            <a:ext cx="10743480" cy="294300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225"/>
              </a:spcBef>
            </a:pPr>
            <a:r>
              <a:rPr lang="en-US" sz="1800" b="1" u="none" strike="noStrike">
                <a:solidFill>
                  <a:srgbClr val="000000"/>
                </a:solidFill>
                <a:effectLst/>
                <a:uFillTx/>
                <a:latin typeface="Cambria"/>
              </a:rPr>
              <a:t>Rôle :</a:t>
            </a:r>
            <a:endParaRPr lang="en-US" sz="1800" b="0" u="none" strike="noStrike">
              <a:solidFill>
                <a:srgbClr val="000000"/>
              </a:solidFill>
              <a:effectLst/>
              <a:uFillTx/>
              <a:latin typeface="Arial"/>
            </a:endParaRPr>
          </a:p>
          <a:p>
            <a:pPr>
              <a:lnSpc>
                <a:spcPct val="100000"/>
              </a:lnSpc>
              <a:spcBef>
                <a:spcPts val="1225"/>
              </a:spcBef>
            </a:pPr>
            <a:r>
              <a:rPr lang="en-US" sz="1800" b="0" u="none" strike="noStrike">
                <a:solidFill>
                  <a:srgbClr val="000000"/>
                </a:solidFill>
                <a:effectLst/>
                <a:uFillTx/>
                <a:latin typeface="Cambria"/>
              </a:rPr>
              <a:t>Dans l’apprentissage : idéal pour découvrir Linux en Licence 1.</a:t>
            </a:r>
            <a:endParaRPr lang="en-US" sz="1800" b="0" u="none" strike="noStrike">
              <a:solidFill>
                <a:srgbClr val="000000"/>
              </a:solidFill>
              <a:effectLst/>
              <a:uFillTx/>
              <a:latin typeface="Arial"/>
            </a:endParaRPr>
          </a:p>
          <a:p>
            <a:pPr>
              <a:lnSpc>
                <a:spcPct val="100000"/>
              </a:lnSpc>
              <a:spcBef>
                <a:spcPts val="1225"/>
              </a:spcBef>
            </a:pPr>
            <a:r>
              <a:rPr lang="en-US" sz="1800" b="0" u="none" strike="noStrike">
                <a:solidFill>
                  <a:srgbClr val="000000"/>
                </a:solidFill>
                <a:effectLst/>
                <a:uFillTx/>
                <a:latin typeface="Cambria"/>
              </a:rPr>
              <a:t>Dans les serveurs légers : peut être utilisé pour héberger de petits services ou projets étudiants.</a:t>
            </a:r>
            <a:endParaRPr lang="en-US" sz="1800" b="0" u="none" strike="noStrike">
              <a:solidFill>
                <a:srgbClr val="000000"/>
              </a:solidFill>
              <a:effectLst/>
              <a:uFillTx/>
              <a:latin typeface="Arial"/>
            </a:endParaRPr>
          </a:p>
          <a:p>
            <a:pPr>
              <a:lnSpc>
                <a:spcPct val="100000"/>
              </a:lnSpc>
              <a:spcBef>
                <a:spcPts val="1225"/>
              </a:spcBef>
            </a:pPr>
            <a:r>
              <a:rPr lang="en-US" sz="1800" b="0" u="none" strike="noStrike">
                <a:solidFill>
                  <a:srgbClr val="000000"/>
                </a:solidFill>
                <a:effectLst/>
                <a:uFillTx/>
                <a:latin typeface="Cambria"/>
              </a:rPr>
              <a:t>Dans le développement : supporte Python, Java, C/C++ et autres langages.</a:t>
            </a:r>
            <a:endParaRPr lang="en-US" sz="1800" b="0" u="none" strike="noStrike">
              <a:solidFill>
                <a:srgbClr val="000000"/>
              </a:solidFill>
              <a:effectLst/>
              <a:uFillTx/>
              <a:latin typeface="Arial"/>
            </a:endParaRPr>
          </a:p>
          <a:p>
            <a:pPr>
              <a:lnSpc>
                <a:spcPct val="100000"/>
              </a:lnSpc>
              <a:spcBef>
                <a:spcPts val="1225"/>
              </a:spcBef>
            </a:pPr>
            <a:r>
              <a:rPr lang="en-US" sz="1800" b="0" u="none" strike="noStrike">
                <a:solidFill>
                  <a:srgbClr val="000000"/>
                </a:solidFill>
                <a:effectLst/>
                <a:uFillTx/>
                <a:latin typeface="Cambria"/>
              </a:rPr>
              <a:t>Dans la bureautique : offre un environnement complet (LibreOffice, Firefox, outils multimédia).</a:t>
            </a:r>
            <a:endParaRPr lang="en-US" sz="1800" b="0" u="none" strike="noStrike">
              <a:solidFill>
                <a:srgbClr val="000000"/>
              </a:solidFill>
              <a:effectLst/>
              <a:uFillTx/>
              <a:latin typeface="Arial"/>
            </a:endParaRPr>
          </a:p>
          <a:p>
            <a:pPr>
              <a:lnSpc>
                <a:spcPct val="100000"/>
              </a:lnSpc>
              <a:spcBef>
                <a:spcPts val="1225"/>
              </a:spcBef>
            </a:pPr>
            <a:r>
              <a:rPr lang="en-US" sz="1800" b="0" u="none" strike="noStrike">
                <a:solidFill>
                  <a:srgbClr val="000000"/>
                </a:solidFill>
                <a:effectLst/>
                <a:uFillTx/>
                <a:latin typeface="Cambria"/>
              </a:rPr>
              <a:t>Dans la communauté : soutenu par une large communauté Ubuntu → aide et documentation disponibles.</a:t>
            </a:r>
            <a:endParaRPr lang="en-US" sz="1800" b="0" u="none" strike="noStrike">
              <a:solidFill>
                <a:srgbClr val="000000"/>
              </a:solidFill>
              <a:effectLst/>
              <a:uFillTx/>
              <a:latin typeface="Arial"/>
            </a:endParaRPr>
          </a:p>
          <a:p>
            <a:pPr>
              <a:lnSpc>
                <a:spcPct val="100000"/>
              </a:lnSpc>
              <a:spcBef>
                <a:spcPts val="1225"/>
              </a:spcBef>
            </a:pPr>
            <a:endParaRPr lang="en-US" sz="1800" b="0" u="none" strike="noStrike">
              <a:solidFill>
                <a:srgbClr val="000000"/>
              </a:solidFill>
              <a:effectLst/>
              <a:uFillTx/>
              <a:latin typeface="Arial"/>
            </a:endParaRPr>
          </a:p>
        </p:txBody>
      </p:sp>
      <p:sp>
        <p:nvSpPr>
          <p:cNvPr id="136" name="Shape 44"/>
          <p:cNvSpPr/>
          <p:nvPr/>
        </p:nvSpPr>
        <p:spPr>
          <a:xfrm>
            <a:off x="0" y="7772400"/>
            <a:ext cx="14628960" cy="455760"/>
          </a:xfrm>
          <a:prstGeom prst="roundRect">
            <a:avLst>
              <a:gd name="adj" fmla="val 4099"/>
            </a:avLst>
          </a:prstGeom>
          <a:solidFill>
            <a:srgbClr val="ffffff"/>
          </a:solidFill>
          <a:ln w="7620">
            <a:solidFill>
              <a:srgbClr val="ffffff"/>
            </a:solidFill>
            <a:round/>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137" name=""/>
          <p:cNvSpPr/>
          <p:nvPr/>
        </p:nvSpPr>
        <p:spPr>
          <a:xfrm>
            <a:off x="457200" y="4271400"/>
            <a:ext cx="8228880" cy="133812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225"/>
              </a:spcBef>
            </a:pPr>
            <a:r>
              <a:rPr lang="en-US" sz="1800" b="1" u="none" strike="noStrike">
                <a:solidFill>
                  <a:srgbClr val="000000"/>
                </a:solidFill>
                <a:effectLst/>
                <a:uFillTx/>
                <a:latin typeface="Cambria"/>
              </a:rPr>
              <a:t>Conclusion :</a:t>
            </a:r>
            <a:endParaRPr lang="en-US" sz="1800" b="0" u="none" strike="noStrike">
              <a:solidFill>
                <a:srgbClr val="000000"/>
              </a:solidFill>
              <a:effectLst/>
              <a:uFillTx/>
              <a:latin typeface="Arial"/>
            </a:endParaRPr>
          </a:p>
          <a:p>
            <a:pPr>
              <a:lnSpc>
                <a:spcPct val="100000"/>
              </a:lnSpc>
              <a:spcBef>
                <a:spcPts val="1191"/>
              </a:spcBef>
              <a:spcAft>
                <a:spcPts val="992"/>
              </a:spcAft>
            </a:pPr>
            <a:r>
              <a:rPr lang="en-US" sz="1800" b="0" u="none" strike="noStrike">
                <a:solidFill>
                  <a:srgbClr val="000000"/>
                </a:solidFill>
                <a:effectLst/>
                <a:uFillTx/>
                <a:latin typeface="Cambria"/>
              </a:rPr>
              <a:t>Ubuntu MATE est une distribution simple, légère et pédagogique, parfaite pour les étudiants en informatique qui veulent apprendre Linux et comprendre son rôle dans les serveurs et le développement.</a:t>
            </a:r>
            <a:endParaRPr lang="en-US" sz="1800" b="0" u="none" strike="noStrike">
              <a:solidFill>
                <a:srgbClr val="000000"/>
              </a:solidFill>
              <a:effectLst/>
              <a:uFillTx/>
              <a:latin typeface="Arial"/>
            </a:endParaRPr>
          </a:p>
        </p:txBody>
      </p:sp>
      <p:pic>
        <p:nvPicPr>
          <p:cNvPr id="138" name=""/>
          <p:cNvPicPr/>
          <p:nvPr/>
        </p:nvPicPr>
        <p:blipFill>
          <a:blip r:embed="rId1"/>
          <a:stretch/>
        </p:blipFill>
        <p:spPr>
          <a:xfrm>
            <a:off x="11049480" y="1828800"/>
            <a:ext cx="2894400" cy="274212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
          <p:cNvSpPr/>
          <p:nvPr/>
        </p:nvSpPr>
        <p:spPr>
          <a:xfrm>
            <a:off x="446400" y="734400"/>
            <a:ext cx="481068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lang="en-US" sz="2400" b="1" u="none" strike="noStrike">
                <a:solidFill>
                  <a:srgbClr val="000000"/>
                </a:solidFill>
                <a:effectLst/>
                <a:uFillTx/>
                <a:latin typeface="Inter bold"/>
              </a:rPr>
              <a:t>Debian LINUX (SERVEUR) </a:t>
            </a:r>
            <a:endParaRPr lang="en-US" sz="2400" b="0" u="none" strike="noStrike">
              <a:solidFill>
                <a:srgbClr val="000000"/>
              </a:solidFill>
              <a:effectLst/>
              <a:uFillTx/>
              <a:latin typeface="Arial"/>
            </a:endParaRPr>
          </a:p>
        </p:txBody>
      </p:sp>
      <p:sp>
        <p:nvSpPr>
          <p:cNvPr id="140" name="Shape 40"/>
          <p:cNvSpPr/>
          <p:nvPr/>
        </p:nvSpPr>
        <p:spPr>
          <a:xfrm>
            <a:off x="0" y="7772400"/>
            <a:ext cx="14628960" cy="455760"/>
          </a:xfrm>
          <a:prstGeom prst="roundRect">
            <a:avLst>
              <a:gd name="adj" fmla="val 4099"/>
            </a:avLst>
          </a:prstGeom>
          <a:solidFill>
            <a:srgbClr val="ffffff"/>
          </a:solidFill>
          <a:ln w="7620">
            <a:solidFill>
              <a:srgbClr val="ffffff"/>
            </a:solidFill>
            <a:round/>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pic>
        <p:nvPicPr>
          <p:cNvPr id="141" name=""/>
          <p:cNvPicPr/>
          <p:nvPr/>
        </p:nvPicPr>
        <p:blipFill>
          <a:blip r:embed="rId1"/>
          <a:stretch/>
        </p:blipFill>
        <p:spPr>
          <a:xfrm>
            <a:off x="7315200" y="0"/>
            <a:ext cx="7314480" cy="8228880"/>
          </a:xfrm>
          <a:prstGeom prst="rect">
            <a:avLst/>
          </a:prstGeom>
          <a:noFill/>
          <a:ln w="0">
            <a:noFill/>
          </a:ln>
        </p:spPr>
      </p:pic>
      <p:sp>
        <p:nvSpPr>
          <p:cNvPr id="142" name=""/>
          <p:cNvSpPr/>
          <p:nvPr/>
        </p:nvSpPr>
        <p:spPr>
          <a:xfrm>
            <a:off x="505800" y="1341000"/>
            <a:ext cx="6315480" cy="22352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1" u="none" strike="noStrike">
                <a:solidFill>
                  <a:srgbClr val="000000"/>
                </a:solidFill>
                <a:effectLst/>
                <a:uFillTx/>
                <a:latin typeface="Cambria"/>
              </a:rPr>
              <a:t>C’est quoi ?</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Cambria"/>
              </a:rPr>
              <a:t>Rocky Linux est un système d’exploitation libre et gratuit, basé sur Linux.</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Cambria"/>
              </a:rPr>
              <a:t>Il est né pour remplacer CentOS, très utilisé dans les entreprises.</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Cambria"/>
              </a:rPr>
              <a:t>Compatible avec Red Hat Enterprise Linux (RHEL) → stabilité et fiabilité.</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p:txBody>
      </p:sp>
      <p:sp>
        <p:nvSpPr>
          <p:cNvPr id="143" name=""/>
          <p:cNvSpPr/>
          <p:nvPr/>
        </p:nvSpPr>
        <p:spPr>
          <a:xfrm>
            <a:off x="457200" y="3581640"/>
            <a:ext cx="6400080" cy="22352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1" u="none" strike="noStrike">
                <a:solidFill>
                  <a:srgbClr val="000000"/>
                </a:solidFill>
                <a:effectLst/>
                <a:uFillTx/>
                <a:latin typeface="Cambria"/>
              </a:rPr>
              <a:t>Utilité</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Cambria"/>
              </a:rPr>
              <a:t>Sert de plateforme pour les serveurs (hébergement de sites, bases de données, cloud).</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Cambria"/>
              </a:rPr>
              <a:t>Permet aux étudiants et entreprises d’apprendre et travailler sur un système open source.</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Cambria"/>
              </a:rPr>
              <a:t>Donne un environnement sécurisé et mis à jour régulièrement.</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
          <p:cNvSpPr/>
          <p:nvPr/>
        </p:nvSpPr>
        <p:spPr>
          <a:xfrm>
            <a:off x="446400" y="734400"/>
            <a:ext cx="481068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lang="en-US" sz="2400" b="1" u="none" strike="noStrike">
                <a:solidFill>
                  <a:srgbClr val="000000"/>
                </a:solidFill>
                <a:effectLst/>
                <a:uFillTx/>
                <a:latin typeface="Inter bold"/>
              </a:rPr>
              <a:t>ROCKY LINUX (SERVEUR) </a:t>
            </a:r>
            <a:endParaRPr lang="en-US" sz="2400" b="0" u="none" strike="noStrike">
              <a:solidFill>
                <a:srgbClr val="000000"/>
              </a:solidFill>
              <a:effectLst/>
              <a:uFillTx/>
              <a:latin typeface="Arial"/>
            </a:endParaRPr>
          </a:p>
        </p:txBody>
      </p:sp>
      <p:sp>
        <p:nvSpPr>
          <p:cNvPr id="145" name=""/>
          <p:cNvSpPr/>
          <p:nvPr/>
        </p:nvSpPr>
        <p:spPr>
          <a:xfrm>
            <a:off x="529200" y="3236400"/>
            <a:ext cx="4571280" cy="191916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289"/>
              </a:spcAft>
            </a:pPr>
            <a:r>
              <a:rPr lang="en-US" sz="1800" b="1" u="none" strike="noStrike">
                <a:solidFill>
                  <a:srgbClr val="000000"/>
                </a:solidFill>
                <a:effectLst/>
                <a:uFillTx/>
                <a:latin typeface="Cambria"/>
              </a:rPr>
              <a:t>Caractéristiques :</a:t>
            </a:r>
            <a:endParaRPr lang="en-US" sz="1800" b="0" u="none" strike="noStrike">
              <a:solidFill>
                <a:srgbClr val="000000"/>
              </a:solidFill>
              <a:effectLst/>
              <a:uFillTx/>
              <a:latin typeface="Arial"/>
            </a:endParaRPr>
          </a:p>
          <a:p>
            <a:pPr>
              <a:lnSpc>
                <a:spcPct val="100000"/>
              </a:lnSpc>
              <a:spcAft>
                <a:spcPts val="289"/>
              </a:spcAft>
            </a:pPr>
            <a:r>
              <a:rPr lang="en-US" sz="1800" b="0" u="none" strike="noStrike">
                <a:solidFill>
                  <a:srgbClr val="000000"/>
                </a:solidFill>
                <a:effectLst/>
                <a:uFillTx/>
                <a:latin typeface="Cambria"/>
              </a:rPr>
              <a:t>Serveur professionnel</a:t>
            </a:r>
            <a:endParaRPr lang="en-US" sz="1800" b="0" u="none" strike="noStrike">
              <a:solidFill>
                <a:srgbClr val="000000"/>
              </a:solidFill>
              <a:effectLst/>
              <a:uFillTx/>
              <a:latin typeface="Arial"/>
            </a:endParaRPr>
          </a:p>
          <a:p>
            <a:pPr>
              <a:lnSpc>
                <a:spcPct val="100000"/>
              </a:lnSpc>
              <a:spcAft>
                <a:spcPts val="289"/>
              </a:spcAft>
            </a:pPr>
            <a:r>
              <a:rPr lang="en-US" sz="1800" b="0" u="none" strike="noStrike">
                <a:solidFill>
                  <a:srgbClr val="000000"/>
                </a:solidFill>
                <a:effectLst/>
                <a:uFillTx/>
                <a:latin typeface="Cambria"/>
              </a:rPr>
              <a:t>Stable et sécurisé</a:t>
            </a:r>
            <a:endParaRPr lang="en-US" sz="1800" b="0" u="none" strike="noStrike">
              <a:solidFill>
                <a:srgbClr val="000000"/>
              </a:solidFill>
              <a:effectLst/>
              <a:uFillTx/>
              <a:latin typeface="Arial"/>
            </a:endParaRPr>
          </a:p>
          <a:p>
            <a:pPr>
              <a:lnSpc>
                <a:spcPct val="100000"/>
              </a:lnSpc>
              <a:spcAft>
                <a:spcPts val="289"/>
              </a:spcAft>
            </a:pPr>
            <a:r>
              <a:rPr lang="en-US" sz="1800" b="0" u="none" strike="noStrike">
                <a:solidFill>
                  <a:srgbClr val="000000"/>
                </a:solidFill>
                <a:effectLst/>
                <a:uFillTx/>
                <a:latin typeface="Cambria"/>
              </a:rPr>
              <a:t>Remplaçant de CentOS</a:t>
            </a:r>
            <a:endParaRPr lang="en-US" sz="1800" b="0" u="none" strike="noStrike">
              <a:solidFill>
                <a:srgbClr val="000000"/>
              </a:solidFill>
              <a:effectLst/>
              <a:uFillTx/>
              <a:latin typeface="Arial"/>
            </a:endParaRPr>
          </a:p>
          <a:p>
            <a:pPr>
              <a:lnSpc>
                <a:spcPct val="100000"/>
              </a:lnSpc>
              <a:spcAft>
                <a:spcPts val="289"/>
              </a:spcAft>
            </a:pPr>
            <a:r>
              <a:rPr lang="en-US" sz="1800" b="0" u="none" strike="noStrike">
                <a:solidFill>
                  <a:srgbClr val="000000"/>
                </a:solidFill>
                <a:effectLst/>
                <a:uFillTx/>
                <a:latin typeface="Cambria"/>
              </a:rPr>
              <a:t>Utilisé en entreprise</a:t>
            </a:r>
            <a:endParaRPr lang="en-US" sz="1800" b="0" u="none" strike="noStrike">
              <a:solidFill>
                <a:srgbClr val="000000"/>
              </a:solidFill>
              <a:effectLst/>
              <a:uFillTx/>
              <a:latin typeface="Arial"/>
            </a:endParaRPr>
          </a:p>
          <a:p>
            <a:pPr>
              <a:lnSpc>
                <a:spcPct val="100000"/>
              </a:lnSpc>
              <a:spcAft>
                <a:spcPts val="289"/>
              </a:spcAft>
            </a:pPr>
            <a:endParaRPr lang="en-US" sz="1800" b="0" u="none" strike="noStrike">
              <a:solidFill>
                <a:srgbClr val="000000"/>
              </a:solidFill>
              <a:effectLst/>
              <a:uFillTx/>
              <a:latin typeface="Arial"/>
            </a:endParaRPr>
          </a:p>
        </p:txBody>
      </p:sp>
      <p:sp>
        <p:nvSpPr>
          <p:cNvPr id="146" name="Shape 35"/>
          <p:cNvSpPr/>
          <p:nvPr/>
        </p:nvSpPr>
        <p:spPr>
          <a:xfrm>
            <a:off x="0" y="7772400"/>
            <a:ext cx="14628960" cy="455760"/>
          </a:xfrm>
          <a:prstGeom prst="roundRect">
            <a:avLst>
              <a:gd name="adj" fmla="val 4099"/>
            </a:avLst>
          </a:prstGeom>
          <a:solidFill>
            <a:srgbClr val="ffffff"/>
          </a:solidFill>
          <a:ln w="7620">
            <a:solidFill>
              <a:srgbClr val="ffffff"/>
            </a:solidFill>
            <a:round/>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pic>
        <p:nvPicPr>
          <p:cNvPr id="147" name=""/>
          <p:cNvPicPr/>
          <p:nvPr/>
        </p:nvPicPr>
        <p:blipFill>
          <a:blip r:embed="rId1"/>
          <a:stretch/>
        </p:blipFill>
        <p:spPr>
          <a:xfrm>
            <a:off x="7315200" y="1099800"/>
            <a:ext cx="7314480" cy="5257080"/>
          </a:xfrm>
          <a:prstGeom prst="rect">
            <a:avLst/>
          </a:prstGeom>
          <a:noFill/>
          <a:ln w="0">
            <a:noFill/>
          </a:ln>
        </p:spPr>
      </p:pic>
      <p:sp>
        <p:nvSpPr>
          <p:cNvPr id="148" name=""/>
          <p:cNvSpPr/>
          <p:nvPr/>
        </p:nvSpPr>
        <p:spPr>
          <a:xfrm>
            <a:off x="505800" y="1341000"/>
            <a:ext cx="6315480" cy="19368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1" u="none" strike="noStrike">
                <a:solidFill>
                  <a:srgbClr val="000000"/>
                </a:solidFill>
                <a:effectLst/>
                <a:uFillTx/>
                <a:latin typeface="Cambria"/>
              </a:rPr>
              <a:t>Rôle:</a:t>
            </a:r>
            <a:endParaRPr lang="en-US" sz="1800" b="0" u="none" strike="noStrike">
              <a:solidFill>
                <a:srgbClr val="000000"/>
              </a:solidFill>
              <a:effectLst/>
              <a:uFillTx/>
              <a:latin typeface="Arial"/>
            </a:endParaRPr>
          </a:p>
          <a:p>
            <a:pPr>
              <a:lnSpc>
                <a:spcPct val="100000"/>
              </a:lnSpc>
            </a:pPr>
            <a:endParaRPr lang="en-US" sz="11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Cambria"/>
              </a:rPr>
              <a:t>Serveur web : héberger des sites avec Apache/Nginx.</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Cambria"/>
              </a:rPr>
              <a:t>Serveur de bases de données : MySQL, PostgreSQL.</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Cambria"/>
              </a:rPr>
              <a:t>Cloud et virtualisation : Docker, Kubernetes.</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Cambria"/>
              </a:rPr>
              <a:t>Sécurité : pare-feu, VPN, monitoring.</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p:txBody>
      </p:sp>
      <p:sp>
        <p:nvSpPr>
          <p:cNvPr id="149" name=""/>
          <p:cNvSpPr/>
          <p:nvPr/>
        </p:nvSpPr>
        <p:spPr>
          <a:xfrm>
            <a:off x="623160" y="5339520"/>
            <a:ext cx="5776920" cy="22755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1" u="none" strike="noStrike">
                <a:solidFill>
                  <a:srgbClr val="000000"/>
                </a:solidFill>
                <a:effectLst/>
                <a:uFillTx/>
                <a:latin typeface="Cambria"/>
              </a:rPr>
              <a:t>Conclusion</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Cambria"/>
              </a:rPr>
              <a:t>Rocky Linux est une solution fiable et communautaire pour apprendre et gérer des serveurs.</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Cambria"/>
              </a:rPr>
              <a:t>Idéal pour les étudiants en informatique qui veulent comprendre le monde des systèmes et réseaux.</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Text 0"/>
          <p:cNvSpPr/>
          <p:nvPr/>
        </p:nvSpPr>
        <p:spPr>
          <a:xfrm>
            <a:off x="2397960" y="429480"/>
            <a:ext cx="7318440" cy="484200"/>
          </a:xfrm>
          <a:prstGeom prst="rect">
            <a:avLst/>
          </a:prstGeom>
          <a:noFill/>
          <a:ln w="0">
            <a:noFill/>
          </a:ln>
        </p:spPr>
        <p:style>
          <a:lnRef idx="0"/>
          <a:fillRef idx="0"/>
          <a:effectRef idx="0"/>
          <a:fontRef idx="minor"/>
        </p:style>
        <p:txBody>
          <a:bodyPr wrap="none" lIns="0" rIns="0" tIns="0" bIns="0" anchor="t">
            <a:noAutofit/>
          </a:bodyPr>
          <a:p>
            <a:pPr>
              <a:lnSpc>
                <a:spcPts val="3801"/>
              </a:lnSpc>
              <a:tabLst>
                <a:tab algn="l" pos="0"/>
              </a:tabLst>
            </a:pPr>
            <a:r>
              <a:rPr lang="en-US" sz="3050" b="1" u="none" strike="noStrike">
                <a:solidFill>
                  <a:srgbClr val="000000"/>
                </a:solidFill>
                <a:effectLst/>
                <a:uFillTx/>
                <a:latin typeface="Inter Bold"/>
                <a:ea typeface="Inter Bold"/>
              </a:rPr>
              <a:t>Structure du système de fichiers Linux</a:t>
            </a:r>
            <a:endParaRPr lang="en-US" sz="3050" b="0" u="none" strike="noStrike">
              <a:solidFill>
                <a:srgbClr val="000000"/>
              </a:solidFill>
              <a:effectLst/>
              <a:uFillTx/>
              <a:latin typeface="Arial"/>
            </a:endParaRPr>
          </a:p>
        </p:txBody>
      </p:sp>
      <p:sp>
        <p:nvSpPr>
          <p:cNvPr id="151" name="Text 1"/>
          <p:cNvSpPr/>
          <p:nvPr/>
        </p:nvSpPr>
        <p:spPr>
          <a:xfrm>
            <a:off x="2397960" y="1226520"/>
            <a:ext cx="9832680" cy="503280"/>
          </a:xfrm>
          <a:prstGeom prst="rect">
            <a:avLst/>
          </a:prstGeom>
          <a:noFill/>
          <a:ln w="0">
            <a:noFill/>
          </a:ln>
        </p:spPr>
        <p:style>
          <a:lnRef idx="0"/>
          <a:fillRef idx="0"/>
          <a:effectRef idx="0"/>
          <a:fontRef idx="minor"/>
        </p:style>
        <p:txBody>
          <a:bodyPr lIns="0" rIns="0" tIns="0" bIns="0" anchor="t">
            <a:noAutofit/>
          </a:bodyPr>
          <a:p>
            <a:pPr>
              <a:lnSpc>
                <a:spcPts val="1950"/>
              </a:lnSpc>
              <a:tabLst>
                <a:tab algn="l" pos="0"/>
              </a:tabLst>
            </a:pPr>
            <a:r>
              <a:rPr lang="en-US" sz="1200" b="0" u="none" strike="noStrike">
                <a:solidFill>
                  <a:srgbClr val="272525"/>
                </a:solidFill>
                <a:effectLst/>
                <a:uFillTx/>
                <a:latin typeface="Inter"/>
                <a:ea typeface="Inter"/>
              </a:rPr>
              <a:t>Contrairement à Windows qui utilise des lecteurs (C:, D:), Linux organise tout dans une hiérarchie unique qui part de la racine </a:t>
            </a:r>
            <a:r>
              <a:rPr lang="en-US" sz="1200" b="0" u="none" strike="noStrike">
                <a:solidFill>
                  <a:srgbClr val="272525"/>
                </a:solidFill>
                <a:effectLst/>
                <a:highlight>
                  <a:srgbClr val="f2f2f2"/>
                </a:highlight>
                <a:uFillTx/>
                <a:latin typeface="Consolas"/>
                <a:ea typeface="Consolas"/>
              </a:rPr>
              <a:t>/</a:t>
            </a:r>
            <a:r>
              <a:rPr lang="en-US" sz="1200" b="0" u="none" strike="noStrike">
                <a:solidFill>
                  <a:srgbClr val="272525"/>
                </a:solidFill>
                <a:effectLst/>
                <a:uFillTx/>
                <a:latin typeface="Inter"/>
                <a:ea typeface="Inter"/>
              </a:rPr>
              <a:t>. Chaque élément du système a sa place logique dans cette arborescence.</a:t>
            </a:r>
            <a:endParaRPr lang="en-US" sz="1200" b="0" u="none" strike="noStrike">
              <a:solidFill>
                <a:srgbClr val="000000"/>
              </a:solidFill>
              <a:effectLst/>
              <a:uFillTx/>
              <a:latin typeface="Arial"/>
            </a:endParaRPr>
          </a:p>
        </p:txBody>
      </p:sp>
      <p:pic>
        <p:nvPicPr>
          <p:cNvPr id="152" name="Image 0" descr="preencoded.png"/>
          <p:cNvPicPr/>
          <p:nvPr/>
        </p:nvPicPr>
        <p:blipFill>
          <a:blip r:embed="rId1"/>
          <a:stretch/>
        </p:blipFill>
        <p:spPr>
          <a:xfrm>
            <a:off x="2397960" y="1906200"/>
            <a:ext cx="2310840" cy="1427400"/>
          </a:xfrm>
          <a:prstGeom prst="rect">
            <a:avLst/>
          </a:prstGeom>
          <a:noFill/>
          <a:ln w="0">
            <a:noFill/>
          </a:ln>
        </p:spPr>
      </p:pic>
      <p:sp>
        <p:nvSpPr>
          <p:cNvPr id="153" name="Text 2"/>
          <p:cNvSpPr/>
          <p:nvPr/>
        </p:nvSpPr>
        <p:spPr>
          <a:xfrm>
            <a:off x="2397960" y="3490920"/>
            <a:ext cx="1941480" cy="241200"/>
          </a:xfrm>
          <a:prstGeom prst="rect">
            <a:avLst/>
          </a:prstGeom>
          <a:noFill/>
          <a:ln w="0">
            <a:noFill/>
          </a:ln>
        </p:spPr>
        <p:style>
          <a:lnRef idx="0"/>
          <a:fillRef idx="0"/>
          <a:effectRef idx="0"/>
          <a:fontRef idx="minor"/>
        </p:style>
        <p:txBody>
          <a:bodyPr wrap="none" lIns="0" rIns="0" tIns="0" bIns="0" anchor="t">
            <a:noAutofit/>
          </a:bodyPr>
          <a:p>
            <a:pPr>
              <a:lnSpc>
                <a:spcPts val="1899"/>
              </a:lnSpc>
              <a:tabLst>
                <a:tab algn="l" pos="0"/>
              </a:tabLst>
            </a:pPr>
            <a:r>
              <a:rPr lang="en-US" sz="1500" b="1" u="none" strike="noStrike">
                <a:solidFill>
                  <a:srgbClr val="272525"/>
                </a:solidFill>
                <a:effectLst/>
                <a:uFillTx/>
                <a:latin typeface="Inter Bold"/>
                <a:ea typeface="Inter Bold"/>
              </a:rPr>
              <a:t>/ (racine)</a:t>
            </a:r>
            <a:endParaRPr lang="en-US" sz="1500" b="0" u="none" strike="noStrike">
              <a:solidFill>
                <a:srgbClr val="000000"/>
              </a:solidFill>
              <a:effectLst/>
              <a:uFillTx/>
              <a:latin typeface="Arial"/>
            </a:endParaRPr>
          </a:p>
        </p:txBody>
      </p:sp>
      <p:sp>
        <p:nvSpPr>
          <p:cNvPr id="154" name="Text 3"/>
          <p:cNvSpPr/>
          <p:nvPr/>
        </p:nvSpPr>
        <p:spPr>
          <a:xfrm>
            <a:off x="2397960" y="3827160"/>
            <a:ext cx="2310840" cy="993240"/>
          </a:xfrm>
          <a:prstGeom prst="rect">
            <a:avLst/>
          </a:prstGeom>
          <a:noFill/>
          <a:ln w="0">
            <a:noFill/>
          </a:ln>
        </p:spPr>
        <p:style>
          <a:lnRef idx="0"/>
          <a:fillRef idx="0"/>
          <a:effectRef idx="0"/>
          <a:fontRef idx="minor"/>
        </p:style>
        <p:txBody>
          <a:bodyPr lIns="0" rIns="0" tIns="0" bIns="0" anchor="t">
            <a:noAutofit/>
          </a:bodyPr>
          <a:p>
            <a:pPr>
              <a:lnSpc>
                <a:spcPts val="1950"/>
              </a:lnSpc>
              <a:tabLst>
                <a:tab algn="l" pos="0"/>
              </a:tabLst>
            </a:pPr>
            <a:r>
              <a:rPr lang="en-US" sz="1200" b="0" u="none" strike="noStrike">
                <a:solidFill>
                  <a:srgbClr val="272525"/>
                </a:solidFill>
                <a:effectLst/>
                <a:uFillTx/>
                <a:latin typeface="Inter"/>
                <a:ea typeface="Inter"/>
              </a:rPr>
              <a:t>Le point de départ de toute l'arborescence. Tous les fichiers et dossiers en découlent.</a:t>
            </a:r>
            <a:endParaRPr lang="en-US" sz="1200" b="0" u="none" strike="noStrike">
              <a:solidFill>
                <a:srgbClr val="000000"/>
              </a:solidFill>
              <a:effectLst/>
              <a:uFillTx/>
              <a:latin typeface="Arial"/>
            </a:endParaRPr>
          </a:p>
        </p:txBody>
      </p:sp>
      <p:pic>
        <p:nvPicPr>
          <p:cNvPr id="155" name="Image 1" descr="preencoded.png"/>
          <p:cNvPicPr/>
          <p:nvPr/>
        </p:nvPicPr>
        <p:blipFill>
          <a:blip r:embed="rId2"/>
          <a:stretch/>
        </p:blipFill>
        <p:spPr>
          <a:xfrm>
            <a:off x="4905000" y="1906200"/>
            <a:ext cx="2311200" cy="1427760"/>
          </a:xfrm>
          <a:prstGeom prst="rect">
            <a:avLst/>
          </a:prstGeom>
          <a:noFill/>
          <a:ln w="0">
            <a:noFill/>
          </a:ln>
        </p:spPr>
      </p:pic>
      <p:sp>
        <p:nvSpPr>
          <p:cNvPr id="156" name="Text 4"/>
          <p:cNvSpPr/>
          <p:nvPr/>
        </p:nvSpPr>
        <p:spPr>
          <a:xfrm>
            <a:off x="4905000" y="3491280"/>
            <a:ext cx="1941480" cy="241200"/>
          </a:xfrm>
          <a:prstGeom prst="rect">
            <a:avLst/>
          </a:prstGeom>
          <a:noFill/>
          <a:ln w="0">
            <a:noFill/>
          </a:ln>
        </p:spPr>
        <p:style>
          <a:lnRef idx="0"/>
          <a:fillRef idx="0"/>
          <a:effectRef idx="0"/>
          <a:fontRef idx="minor"/>
        </p:style>
        <p:txBody>
          <a:bodyPr wrap="none" lIns="0" rIns="0" tIns="0" bIns="0" anchor="t">
            <a:noAutofit/>
          </a:bodyPr>
          <a:p>
            <a:pPr>
              <a:lnSpc>
                <a:spcPts val="1899"/>
              </a:lnSpc>
              <a:tabLst>
                <a:tab algn="l" pos="0"/>
              </a:tabLst>
            </a:pPr>
            <a:r>
              <a:rPr lang="en-US" sz="1500" b="1" u="none" strike="noStrike">
                <a:solidFill>
                  <a:srgbClr val="272525"/>
                </a:solidFill>
                <a:effectLst/>
                <a:uFillTx/>
                <a:latin typeface="Inter Bold"/>
                <a:ea typeface="Inter Bold"/>
              </a:rPr>
              <a:t>/home</a:t>
            </a:r>
            <a:endParaRPr lang="en-US" sz="1500" b="0" u="none" strike="noStrike">
              <a:solidFill>
                <a:srgbClr val="000000"/>
              </a:solidFill>
              <a:effectLst/>
              <a:uFillTx/>
              <a:latin typeface="Arial"/>
            </a:endParaRPr>
          </a:p>
        </p:txBody>
      </p:sp>
      <p:sp>
        <p:nvSpPr>
          <p:cNvPr id="157" name="Text 5"/>
          <p:cNvSpPr/>
          <p:nvPr/>
        </p:nvSpPr>
        <p:spPr>
          <a:xfrm>
            <a:off x="4905000" y="3827160"/>
            <a:ext cx="2311200" cy="744480"/>
          </a:xfrm>
          <a:prstGeom prst="rect">
            <a:avLst/>
          </a:prstGeom>
          <a:noFill/>
          <a:ln w="0">
            <a:noFill/>
          </a:ln>
        </p:spPr>
        <p:style>
          <a:lnRef idx="0"/>
          <a:fillRef idx="0"/>
          <a:effectRef idx="0"/>
          <a:fontRef idx="minor"/>
        </p:style>
        <p:txBody>
          <a:bodyPr lIns="0" rIns="0" tIns="0" bIns="0" anchor="t">
            <a:noAutofit/>
          </a:bodyPr>
          <a:p>
            <a:pPr>
              <a:lnSpc>
                <a:spcPts val="1950"/>
              </a:lnSpc>
              <a:tabLst>
                <a:tab algn="l" pos="0"/>
              </a:tabLst>
            </a:pPr>
            <a:r>
              <a:rPr lang="en-US" sz="1200" b="0" u="none" strike="noStrike">
                <a:solidFill>
                  <a:srgbClr val="272525"/>
                </a:solidFill>
                <a:effectLst/>
                <a:uFillTx/>
                <a:latin typeface="Inter"/>
                <a:ea typeface="Inter"/>
              </a:rPr>
              <a:t>Contient les dossiers personnels de tous les utilisateurs du système.</a:t>
            </a:r>
            <a:endParaRPr lang="en-US" sz="1200" b="0" u="none" strike="noStrike">
              <a:solidFill>
                <a:srgbClr val="000000"/>
              </a:solidFill>
              <a:effectLst/>
              <a:uFillTx/>
              <a:latin typeface="Arial"/>
            </a:endParaRPr>
          </a:p>
        </p:txBody>
      </p:sp>
      <p:pic>
        <p:nvPicPr>
          <p:cNvPr id="158" name="Image 2" descr="preencoded.png"/>
          <p:cNvPicPr/>
          <p:nvPr/>
        </p:nvPicPr>
        <p:blipFill>
          <a:blip r:embed="rId3"/>
          <a:stretch/>
        </p:blipFill>
        <p:spPr>
          <a:xfrm>
            <a:off x="7412400" y="1906200"/>
            <a:ext cx="2310840" cy="1427400"/>
          </a:xfrm>
          <a:prstGeom prst="rect">
            <a:avLst/>
          </a:prstGeom>
          <a:noFill/>
          <a:ln w="0">
            <a:noFill/>
          </a:ln>
        </p:spPr>
      </p:pic>
      <p:sp>
        <p:nvSpPr>
          <p:cNvPr id="159" name="Text 6"/>
          <p:cNvSpPr/>
          <p:nvPr/>
        </p:nvSpPr>
        <p:spPr>
          <a:xfrm>
            <a:off x="7412400" y="3490920"/>
            <a:ext cx="1941480" cy="241200"/>
          </a:xfrm>
          <a:prstGeom prst="rect">
            <a:avLst/>
          </a:prstGeom>
          <a:noFill/>
          <a:ln w="0">
            <a:noFill/>
          </a:ln>
        </p:spPr>
        <p:style>
          <a:lnRef idx="0"/>
          <a:fillRef idx="0"/>
          <a:effectRef idx="0"/>
          <a:fontRef idx="minor"/>
        </p:style>
        <p:txBody>
          <a:bodyPr wrap="none" lIns="0" rIns="0" tIns="0" bIns="0" anchor="t">
            <a:noAutofit/>
          </a:bodyPr>
          <a:p>
            <a:pPr>
              <a:lnSpc>
                <a:spcPts val="1899"/>
              </a:lnSpc>
              <a:tabLst>
                <a:tab algn="l" pos="0"/>
              </a:tabLst>
            </a:pPr>
            <a:r>
              <a:rPr lang="en-US" sz="1500" b="1" u="none" strike="noStrike">
                <a:solidFill>
                  <a:srgbClr val="272525"/>
                </a:solidFill>
                <a:effectLst/>
                <a:uFillTx/>
                <a:latin typeface="Inter Bold"/>
                <a:ea typeface="Inter Bold"/>
              </a:rPr>
              <a:t>/etc</a:t>
            </a:r>
            <a:endParaRPr lang="en-US" sz="1500" b="0" u="none" strike="noStrike">
              <a:solidFill>
                <a:srgbClr val="000000"/>
              </a:solidFill>
              <a:effectLst/>
              <a:uFillTx/>
              <a:latin typeface="Arial"/>
            </a:endParaRPr>
          </a:p>
        </p:txBody>
      </p:sp>
      <p:sp>
        <p:nvSpPr>
          <p:cNvPr id="160" name="Text 7"/>
          <p:cNvSpPr/>
          <p:nvPr/>
        </p:nvSpPr>
        <p:spPr>
          <a:xfrm>
            <a:off x="7412400" y="3827160"/>
            <a:ext cx="2310840" cy="744480"/>
          </a:xfrm>
          <a:prstGeom prst="rect">
            <a:avLst/>
          </a:prstGeom>
          <a:noFill/>
          <a:ln w="0">
            <a:noFill/>
          </a:ln>
        </p:spPr>
        <p:style>
          <a:lnRef idx="0"/>
          <a:fillRef idx="0"/>
          <a:effectRef idx="0"/>
          <a:fontRef idx="minor"/>
        </p:style>
        <p:txBody>
          <a:bodyPr lIns="0" rIns="0" tIns="0" bIns="0" anchor="t">
            <a:noAutofit/>
          </a:bodyPr>
          <a:p>
            <a:pPr>
              <a:lnSpc>
                <a:spcPts val="1950"/>
              </a:lnSpc>
              <a:tabLst>
                <a:tab algn="l" pos="0"/>
              </a:tabLst>
            </a:pPr>
            <a:r>
              <a:rPr lang="en-US" sz="1200" b="0" u="none" strike="noStrike">
                <a:solidFill>
                  <a:srgbClr val="272525"/>
                </a:solidFill>
                <a:effectLst/>
                <a:uFillTx/>
                <a:latin typeface="Inter"/>
                <a:ea typeface="Inter"/>
              </a:rPr>
              <a:t>Fichiers de configuration système et des applications installées.</a:t>
            </a:r>
            <a:endParaRPr lang="en-US" sz="1200" b="0" u="none" strike="noStrike">
              <a:solidFill>
                <a:srgbClr val="000000"/>
              </a:solidFill>
              <a:effectLst/>
              <a:uFillTx/>
              <a:latin typeface="Arial"/>
            </a:endParaRPr>
          </a:p>
        </p:txBody>
      </p:sp>
      <p:pic>
        <p:nvPicPr>
          <p:cNvPr id="161" name="Image 3" descr="preencoded.png"/>
          <p:cNvPicPr/>
          <p:nvPr/>
        </p:nvPicPr>
        <p:blipFill>
          <a:blip r:embed="rId4"/>
          <a:stretch/>
        </p:blipFill>
        <p:spPr>
          <a:xfrm>
            <a:off x="9919440" y="1906200"/>
            <a:ext cx="2311200" cy="1427760"/>
          </a:xfrm>
          <a:prstGeom prst="rect">
            <a:avLst/>
          </a:prstGeom>
          <a:noFill/>
          <a:ln w="0">
            <a:noFill/>
          </a:ln>
        </p:spPr>
      </p:pic>
      <p:sp>
        <p:nvSpPr>
          <p:cNvPr id="162" name="Text 8"/>
          <p:cNvSpPr/>
          <p:nvPr/>
        </p:nvSpPr>
        <p:spPr>
          <a:xfrm>
            <a:off x="9919440" y="3491280"/>
            <a:ext cx="1941480" cy="241200"/>
          </a:xfrm>
          <a:prstGeom prst="rect">
            <a:avLst/>
          </a:prstGeom>
          <a:noFill/>
          <a:ln w="0">
            <a:noFill/>
          </a:ln>
        </p:spPr>
        <p:style>
          <a:lnRef idx="0"/>
          <a:fillRef idx="0"/>
          <a:effectRef idx="0"/>
          <a:fontRef idx="minor"/>
        </p:style>
        <p:txBody>
          <a:bodyPr wrap="none" lIns="0" rIns="0" tIns="0" bIns="0" anchor="t">
            <a:noAutofit/>
          </a:bodyPr>
          <a:p>
            <a:pPr>
              <a:lnSpc>
                <a:spcPts val="1899"/>
              </a:lnSpc>
              <a:tabLst>
                <a:tab algn="l" pos="0"/>
              </a:tabLst>
            </a:pPr>
            <a:r>
              <a:rPr lang="en-US" sz="1500" b="1" u="none" strike="noStrike">
                <a:solidFill>
                  <a:srgbClr val="272525"/>
                </a:solidFill>
                <a:effectLst/>
                <a:uFillTx/>
                <a:latin typeface="Inter Bold"/>
                <a:ea typeface="Inter Bold"/>
              </a:rPr>
              <a:t>/bin</a:t>
            </a:r>
            <a:endParaRPr lang="en-US" sz="1500" b="0" u="none" strike="noStrike">
              <a:solidFill>
                <a:srgbClr val="000000"/>
              </a:solidFill>
              <a:effectLst/>
              <a:uFillTx/>
              <a:latin typeface="Arial"/>
            </a:endParaRPr>
          </a:p>
        </p:txBody>
      </p:sp>
      <p:sp>
        <p:nvSpPr>
          <p:cNvPr id="163" name="Text 9"/>
          <p:cNvSpPr/>
          <p:nvPr/>
        </p:nvSpPr>
        <p:spPr>
          <a:xfrm>
            <a:off x="9919440" y="3827160"/>
            <a:ext cx="2311200" cy="744480"/>
          </a:xfrm>
          <a:prstGeom prst="rect">
            <a:avLst/>
          </a:prstGeom>
          <a:noFill/>
          <a:ln w="0">
            <a:noFill/>
          </a:ln>
        </p:spPr>
        <p:style>
          <a:lnRef idx="0"/>
          <a:fillRef idx="0"/>
          <a:effectRef idx="0"/>
          <a:fontRef idx="minor"/>
        </p:style>
        <p:txBody>
          <a:bodyPr lIns="0" rIns="0" tIns="0" bIns="0" anchor="t">
            <a:noAutofit/>
          </a:bodyPr>
          <a:p>
            <a:pPr>
              <a:lnSpc>
                <a:spcPts val="1950"/>
              </a:lnSpc>
              <a:tabLst>
                <a:tab algn="l" pos="0"/>
              </a:tabLst>
            </a:pPr>
            <a:r>
              <a:rPr lang="en-US" sz="1200" b="0" u="none" strike="noStrike">
                <a:solidFill>
                  <a:srgbClr val="272525"/>
                </a:solidFill>
                <a:effectLst/>
                <a:uFillTx/>
                <a:latin typeface="Inter"/>
                <a:ea typeface="Inter"/>
              </a:rPr>
              <a:t>Programmes et commandes essentiels au fonctionnement du système.</a:t>
            </a:r>
            <a:endParaRPr lang="en-US" sz="1200" b="0" u="none" strike="noStrike">
              <a:solidFill>
                <a:srgbClr val="000000"/>
              </a:solidFill>
              <a:effectLst/>
              <a:uFillTx/>
              <a:latin typeface="Arial"/>
            </a:endParaRPr>
          </a:p>
        </p:txBody>
      </p:sp>
      <p:pic>
        <p:nvPicPr>
          <p:cNvPr id="164" name="Image 4" descr="preencoded.png"/>
          <p:cNvPicPr/>
          <p:nvPr/>
        </p:nvPicPr>
        <p:blipFill>
          <a:blip r:embed="rId5"/>
          <a:stretch/>
        </p:blipFill>
        <p:spPr>
          <a:xfrm>
            <a:off x="2397960" y="5132880"/>
            <a:ext cx="2310840" cy="1427400"/>
          </a:xfrm>
          <a:prstGeom prst="rect">
            <a:avLst/>
          </a:prstGeom>
          <a:noFill/>
          <a:ln w="0">
            <a:noFill/>
          </a:ln>
        </p:spPr>
      </p:pic>
      <p:sp>
        <p:nvSpPr>
          <p:cNvPr id="165" name="Text 10"/>
          <p:cNvSpPr/>
          <p:nvPr/>
        </p:nvSpPr>
        <p:spPr>
          <a:xfrm>
            <a:off x="2397960" y="6717600"/>
            <a:ext cx="1941480" cy="241200"/>
          </a:xfrm>
          <a:prstGeom prst="rect">
            <a:avLst/>
          </a:prstGeom>
          <a:noFill/>
          <a:ln w="0">
            <a:noFill/>
          </a:ln>
        </p:spPr>
        <p:style>
          <a:lnRef idx="0"/>
          <a:fillRef idx="0"/>
          <a:effectRef idx="0"/>
          <a:fontRef idx="minor"/>
        </p:style>
        <p:txBody>
          <a:bodyPr wrap="none" lIns="0" rIns="0" tIns="0" bIns="0" anchor="t">
            <a:noAutofit/>
          </a:bodyPr>
          <a:p>
            <a:pPr>
              <a:lnSpc>
                <a:spcPts val="1899"/>
              </a:lnSpc>
              <a:tabLst>
                <a:tab algn="l" pos="0"/>
              </a:tabLst>
            </a:pPr>
            <a:r>
              <a:rPr lang="en-US" sz="1500" b="1" u="none" strike="noStrike">
                <a:solidFill>
                  <a:srgbClr val="272525"/>
                </a:solidFill>
                <a:effectLst/>
                <a:uFillTx/>
                <a:latin typeface="Inter Bold"/>
                <a:ea typeface="Inter Bold"/>
              </a:rPr>
              <a:t>/var</a:t>
            </a:r>
            <a:endParaRPr lang="en-US" sz="1500" b="0" u="none" strike="noStrike">
              <a:solidFill>
                <a:srgbClr val="000000"/>
              </a:solidFill>
              <a:effectLst/>
              <a:uFillTx/>
              <a:latin typeface="Arial"/>
            </a:endParaRPr>
          </a:p>
        </p:txBody>
      </p:sp>
      <p:sp>
        <p:nvSpPr>
          <p:cNvPr id="166" name="Text 11"/>
          <p:cNvSpPr/>
          <p:nvPr/>
        </p:nvSpPr>
        <p:spPr>
          <a:xfrm>
            <a:off x="2397960" y="7053840"/>
            <a:ext cx="2310840" cy="744480"/>
          </a:xfrm>
          <a:prstGeom prst="rect">
            <a:avLst/>
          </a:prstGeom>
          <a:noFill/>
          <a:ln w="0">
            <a:noFill/>
          </a:ln>
        </p:spPr>
        <p:style>
          <a:lnRef idx="0"/>
          <a:fillRef idx="0"/>
          <a:effectRef idx="0"/>
          <a:fontRef idx="minor"/>
        </p:style>
        <p:txBody>
          <a:bodyPr lIns="0" rIns="0" tIns="0" bIns="0" anchor="t">
            <a:noAutofit/>
          </a:bodyPr>
          <a:p>
            <a:pPr>
              <a:lnSpc>
                <a:spcPts val="1950"/>
              </a:lnSpc>
              <a:tabLst>
                <a:tab algn="l" pos="0"/>
              </a:tabLst>
            </a:pPr>
            <a:r>
              <a:rPr lang="en-US" sz="1200" b="0" u="none" strike="noStrike">
                <a:solidFill>
                  <a:srgbClr val="272525"/>
                </a:solidFill>
                <a:effectLst/>
                <a:uFillTx/>
                <a:latin typeface="Inter"/>
                <a:ea typeface="Inter"/>
              </a:rPr>
              <a:t>Données variables : logs, bases de données, fichiers temporaires.</a:t>
            </a:r>
            <a:endParaRPr lang="en-US" sz="1200" b="0" u="none" strike="noStrike">
              <a:solidFill>
                <a:srgbClr val="000000"/>
              </a:solidFill>
              <a:effectLst/>
              <a:uFillTx/>
              <a:latin typeface="Arial"/>
            </a:endParaRPr>
          </a:p>
        </p:txBody>
      </p:sp>
      <p:sp>
        <p:nvSpPr>
          <p:cNvPr id="167" name="Shape 20"/>
          <p:cNvSpPr/>
          <p:nvPr/>
        </p:nvSpPr>
        <p:spPr>
          <a:xfrm>
            <a:off x="0" y="7772400"/>
            <a:ext cx="14628960" cy="455760"/>
          </a:xfrm>
          <a:prstGeom prst="roundRect">
            <a:avLst>
              <a:gd name="adj" fmla="val 4099"/>
            </a:avLst>
          </a:prstGeom>
          <a:solidFill>
            <a:srgbClr val="ffffff"/>
          </a:solidFill>
          <a:ln w="7620">
            <a:solidFill>
              <a:srgbClr val="ffffff"/>
            </a:solidFill>
            <a:round/>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Shape 0"/>
          <p:cNvSpPr/>
          <p:nvPr/>
        </p:nvSpPr>
        <p:spPr>
          <a:xfrm>
            <a:off x="793800" y="633960"/>
            <a:ext cx="2066040" cy="424440"/>
          </a:xfrm>
          <a:prstGeom prst="roundRect">
            <a:avLst>
              <a:gd name="adj" fmla="val 17880"/>
            </a:avLst>
          </a:prstGeom>
          <a:solidFill>
            <a:srgbClr val="dadbf1"/>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pic>
        <p:nvPicPr>
          <p:cNvPr id="169" name="Image 0" descr="preencoded.png"/>
          <p:cNvPicPr/>
          <p:nvPr/>
        </p:nvPicPr>
        <p:blipFill>
          <a:blip r:embed="rId1">
            <a:extLst>
              <a:ext uri="{96DAC541-7B7A-43D3-8B79-37D633B846F1}">
                <asvg:svgBlip xmlns:asvg="http://schemas.microsoft.com/office/drawing/2016/SVG/main" r:embed="rId2"/>
              </a:ext>
            </a:extLst>
          </a:blip>
          <a:stretch/>
        </p:blipFill>
        <p:spPr>
          <a:xfrm>
            <a:off x="929880" y="756360"/>
            <a:ext cx="179640" cy="179640"/>
          </a:xfrm>
          <a:prstGeom prst="rect">
            <a:avLst/>
          </a:prstGeom>
          <a:noFill/>
          <a:ln w="0">
            <a:noFill/>
          </a:ln>
        </p:spPr>
      </p:pic>
      <p:sp>
        <p:nvSpPr>
          <p:cNvPr id="170" name="Text 1"/>
          <p:cNvSpPr/>
          <p:nvPr/>
        </p:nvSpPr>
        <p:spPr>
          <a:xfrm>
            <a:off x="1202040" y="702000"/>
            <a:ext cx="1521720" cy="288360"/>
          </a:xfrm>
          <a:prstGeom prst="rect">
            <a:avLst/>
          </a:prstGeom>
          <a:noFill/>
          <a:ln w="0">
            <a:noFill/>
          </a:ln>
        </p:spPr>
        <p:style>
          <a:lnRef idx="0"/>
          <a:fillRef idx="0"/>
          <a:effectRef idx="0"/>
          <a:fontRef idx="minor"/>
        </p:style>
        <p:txBody>
          <a:bodyPr wrap="none" lIns="0" rIns="0" tIns="0" bIns="0" anchor="t">
            <a:noAutofit/>
          </a:bodyPr>
          <a:p>
            <a:pPr>
              <a:lnSpc>
                <a:spcPts val="2251"/>
              </a:lnSpc>
              <a:tabLst>
                <a:tab algn="l" pos="0"/>
              </a:tabLst>
            </a:pPr>
            <a:r>
              <a:rPr lang="en-US" sz="1400" b="0" u="none" strike="noStrike">
                <a:solidFill>
                  <a:srgbClr val="272525"/>
                </a:solidFill>
                <a:effectLst/>
                <a:uFillTx/>
                <a:latin typeface="Inter"/>
                <a:ea typeface="Inter"/>
              </a:rPr>
              <a:t>FONDAMENTAUX</a:t>
            </a:r>
            <a:endParaRPr lang="en-US" sz="1400" b="0" u="none" strike="noStrike">
              <a:solidFill>
                <a:srgbClr val="000000"/>
              </a:solidFill>
              <a:effectLst/>
              <a:uFillTx/>
              <a:latin typeface="Arial"/>
            </a:endParaRPr>
          </a:p>
        </p:txBody>
      </p:sp>
      <p:sp>
        <p:nvSpPr>
          <p:cNvPr id="171" name="Text 2"/>
          <p:cNvSpPr/>
          <p:nvPr/>
        </p:nvSpPr>
        <p:spPr>
          <a:xfrm>
            <a:off x="793800" y="1150920"/>
            <a:ext cx="10528200" cy="707040"/>
          </a:xfrm>
          <a:prstGeom prst="rect">
            <a:avLst/>
          </a:prstGeom>
          <a:noFill/>
          <a:ln w="0">
            <a:noFill/>
          </a:ln>
        </p:spPr>
        <p:style>
          <a:lnRef idx="0"/>
          <a:fillRef idx="0"/>
          <a:effectRef idx="0"/>
          <a:fontRef idx="minor"/>
        </p:style>
        <p:txBody>
          <a:bodyPr wrap="none" lIns="0" rIns="0" tIns="0" bIns="0" anchor="t">
            <a:noAutofit/>
          </a:bodyPr>
          <a:p>
            <a:pPr>
              <a:lnSpc>
                <a:spcPts val="5550"/>
              </a:lnSpc>
              <a:tabLst>
                <a:tab algn="l" pos="0"/>
              </a:tabLst>
            </a:pPr>
            <a:r>
              <a:rPr lang="en-US" sz="4450" b="1" u="none" strike="noStrike">
                <a:solidFill>
                  <a:srgbClr val="000000"/>
                </a:solidFill>
                <a:effectLst/>
                <a:uFillTx/>
                <a:latin typeface="Inter Bold"/>
                <a:ea typeface="Inter Bold"/>
              </a:rPr>
              <a:t>Le terminal Linux : votre outil principal</a:t>
            </a:r>
            <a:endParaRPr lang="en-US" sz="4450" b="0" u="none" strike="noStrike">
              <a:solidFill>
                <a:srgbClr val="000000"/>
              </a:solidFill>
              <a:effectLst/>
              <a:uFillTx/>
              <a:latin typeface="Arial"/>
            </a:endParaRPr>
          </a:p>
        </p:txBody>
      </p:sp>
      <p:sp>
        <p:nvSpPr>
          <p:cNvPr id="172" name="Text 3"/>
          <p:cNvSpPr/>
          <p:nvPr/>
        </p:nvSpPr>
        <p:spPr>
          <a:xfrm>
            <a:off x="793800" y="2116080"/>
            <a:ext cx="7602480" cy="1086840"/>
          </a:xfrm>
          <a:prstGeom prst="rect">
            <a:avLst/>
          </a:prstGeom>
          <a:noFill/>
          <a:ln w="0">
            <a:noFill/>
          </a:ln>
        </p:spPr>
        <p:style>
          <a:lnRef idx="0"/>
          <a:fillRef idx="0"/>
          <a:effectRef idx="0"/>
          <a:fontRef idx="minor"/>
        </p:style>
        <p:txBody>
          <a:bodyPr lIns="0" rIns="0" tIns="0" bIns="0" anchor="t">
            <a:noAutofit/>
          </a:bodyPr>
          <a:p>
            <a:pPr>
              <a:lnSpc>
                <a:spcPts val="2849"/>
              </a:lnSpc>
              <a:tabLst>
                <a:tab algn="l" pos="0"/>
              </a:tabLst>
            </a:pPr>
            <a:r>
              <a:rPr lang="en-US" sz="1750" b="0" u="none" strike="noStrike">
                <a:solidFill>
                  <a:srgbClr val="272525"/>
                </a:solidFill>
                <a:effectLst/>
                <a:uFillTx/>
                <a:latin typeface="Inter"/>
                <a:ea typeface="Inter"/>
              </a:rPr>
              <a:t>Le terminal est l'interface en ligne de commande qui permet de contrôler entièrement le système Linux. Contrairement à l'interface graphique, le terminal offre une puissance et une précision inégalées.</a:t>
            </a:r>
            <a:endParaRPr lang="en-US" sz="1750" b="0" u="none" strike="noStrike">
              <a:solidFill>
                <a:srgbClr val="000000"/>
              </a:solidFill>
              <a:effectLst/>
              <a:uFillTx/>
              <a:latin typeface="Arial"/>
            </a:endParaRPr>
          </a:p>
        </p:txBody>
      </p:sp>
      <p:sp>
        <p:nvSpPr>
          <p:cNvPr id="173" name="Shape 4"/>
          <p:cNvSpPr/>
          <p:nvPr/>
        </p:nvSpPr>
        <p:spPr>
          <a:xfrm>
            <a:off x="793800" y="3531960"/>
            <a:ext cx="7602480" cy="2050560"/>
          </a:xfrm>
          <a:prstGeom prst="roundRect">
            <a:avLst>
              <a:gd name="adj" fmla="val 4642"/>
            </a:avLst>
          </a:prstGeom>
          <a:solidFill>
            <a:srgbClr val="c7c9ea"/>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pic>
        <p:nvPicPr>
          <p:cNvPr id="174" name="Image 1" descr="preencoded.png"/>
          <p:cNvPicPr/>
          <p:nvPr/>
        </p:nvPicPr>
        <p:blipFill>
          <a:blip r:embed="rId3"/>
          <a:stretch/>
        </p:blipFill>
        <p:spPr>
          <a:xfrm>
            <a:off x="1020600" y="3732120"/>
            <a:ext cx="281520" cy="225000"/>
          </a:xfrm>
          <a:prstGeom prst="rect">
            <a:avLst/>
          </a:prstGeom>
          <a:noFill/>
          <a:ln w="0">
            <a:noFill/>
          </a:ln>
        </p:spPr>
      </p:pic>
      <p:sp>
        <p:nvSpPr>
          <p:cNvPr id="175" name="Text 5"/>
          <p:cNvSpPr/>
          <p:nvPr/>
        </p:nvSpPr>
        <p:spPr>
          <a:xfrm>
            <a:off x="1531080" y="3671280"/>
            <a:ext cx="6638400" cy="1449720"/>
          </a:xfrm>
          <a:prstGeom prst="rect">
            <a:avLst/>
          </a:prstGeom>
          <a:noFill/>
          <a:ln w="0">
            <a:noFill/>
          </a:ln>
        </p:spPr>
        <p:style>
          <a:lnRef idx="0"/>
          <a:fillRef idx="0"/>
          <a:effectRef idx="0"/>
          <a:fontRef idx="minor"/>
        </p:style>
        <p:txBody>
          <a:bodyPr lIns="0" rIns="0" tIns="0" bIns="0" anchor="t">
            <a:noAutofit/>
          </a:bodyPr>
          <a:p>
            <a:pPr>
              <a:lnSpc>
                <a:spcPts val="2849"/>
              </a:lnSpc>
              <a:tabLst>
                <a:tab algn="l" pos="0"/>
              </a:tabLst>
            </a:pPr>
            <a:r>
              <a:rPr lang="en-US" sz="1750" b="1" u="none" strike="noStrike">
                <a:solidFill>
                  <a:srgbClr val="000000"/>
                </a:solidFill>
                <a:effectLst/>
                <a:uFillTx/>
                <a:latin typeface="Inter"/>
                <a:ea typeface="Inter"/>
              </a:rPr>
              <a:t>Pourquoi le terminal ?</a:t>
            </a:r>
            <a:r>
              <a:rPr lang="en-US" sz="1750" b="0" u="none" strike="noStrike">
                <a:solidFill>
                  <a:srgbClr val="000000"/>
                </a:solidFill>
                <a:effectLst/>
                <a:uFillTx/>
                <a:latin typeface="Inter"/>
                <a:ea typeface="Inter"/>
              </a:rPr>
              <a:t> Les administrateurs système privilégient le terminal car il permet d'automatiser des tâches, de gérer des serveurs distants sans interface graphique, et d'exécuter des opérations complexes rapidement.</a:t>
            </a:r>
            <a:endParaRPr lang="en-US" sz="1750" b="0" u="none" strike="noStrike">
              <a:solidFill>
                <a:srgbClr val="000000"/>
              </a:solidFill>
              <a:effectLst/>
              <a:uFillTx/>
              <a:latin typeface="Arial"/>
            </a:endParaRPr>
          </a:p>
        </p:txBody>
      </p:sp>
      <p:sp>
        <p:nvSpPr>
          <p:cNvPr id="176" name="Text 6"/>
          <p:cNvSpPr/>
          <p:nvPr/>
        </p:nvSpPr>
        <p:spPr>
          <a:xfrm>
            <a:off x="829800" y="5875560"/>
            <a:ext cx="7602480" cy="1086840"/>
          </a:xfrm>
          <a:prstGeom prst="rect">
            <a:avLst/>
          </a:prstGeom>
          <a:noFill/>
          <a:ln w="0">
            <a:noFill/>
          </a:ln>
        </p:spPr>
        <p:style>
          <a:lnRef idx="0"/>
          <a:fillRef idx="0"/>
          <a:effectRef idx="0"/>
          <a:fontRef idx="minor"/>
        </p:style>
        <p:txBody>
          <a:bodyPr lIns="0" rIns="0" tIns="0" bIns="0" anchor="t">
            <a:noAutofit/>
          </a:bodyPr>
          <a:p>
            <a:pPr>
              <a:lnSpc>
                <a:spcPts val="2849"/>
              </a:lnSpc>
              <a:tabLst>
                <a:tab algn="l" pos="0"/>
              </a:tabLst>
            </a:pPr>
            <a:r>
              <a:rPr lang="en-US" sz="1750" b="0" u="none" strike="noStrike">
                <a:solidFill>
                  <a:srgbClr val="272525"/>
                </a:solidFill>
                <a:effectLst/>
                <a:uFillTx/>
                <a:latin typeface="Inter"/>
                <a:ea typeface="Inter"/>
              </a:rPr>
              <a:t>Apprendre à utiliser le terminal, c'est comme apprendre à conduire une voiture manuelle : cela demande de la pratique, mais cela vous donne un contrôle total sur votre machine.</a:t>
            </a:r>
            <a:endParaRPr lang="en-US" sz="1750" b="0" u="none" strike="noStrike">
              <a:solidFill>
                <a:srgbClr val="000000"/>
              </a:solidFill>
              <a:effectLst/>
              <a:uFillTx/>
              <a:latin typeface="Arial"/>
            </a:endParaRPr>
          </a:p>
        </p:txBody>
      </p:sp>
      <p:pic>
        <p:nvPicPr>
          <p:cNvPr id="177" name="Image 2" descr="preencoded.png"/>
          <p:cNvPicPr/>
          <p:nvPr/>
        </p:nvPicPr>
        <p:blipFill>
          <a:blip r:embed="rId4"/>
          <a:stretch/>
        </p:blipFill>
        <p:spPr>
          <a:xfrm>
            <a:off x="8958960" y="2455200"/>
            <a:ext cx="4883040" cy="4883040"/>
          </a:xfrm>
          <a:prstGeom prst="rect">
            <a:avLst/>
          </a:prstGeom>
          <a:noFill/>
          <a:ln w="0">
            <a:noFill/>
          </a:ln>
        </p:spPr>
      </p:pic>
      <p:sp>
        <p:nvSpPr>
          <p:cNvPr id="178" name="Shape 19"/>
          <p:cNvSpPr/>
          <p:nvPr/>
        </p:nvSpPr>
        <p:spPr>
          <a:xfrm>
            <a:off x="0" y="7772400"/>
            <a:ext cx="14628960" cy="455760"/>
          </a:xfrm>
          <a:prstGeom prst="roundRect">
            <a:avLst>
              <a:gd name="adj" fmla="val 4099"/>
            </a:avLst>
          </a:prstGeom>
          <a:solidFill>
            <a:srgbClr val="ffffff"/>
          </a:solidFill>
          <a:ln w="7620">
            <a:solidFill>
              <a:srgbClr val="ffffff"/>
            </a:solidFill>
            <a:round/>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9" name="Image 0" descr="preencoded.png"/>
          <p:cNvPicPr/>
          <p:nvPr/>
        </p:nvPicPr>
        <p:blipFill>
          <a:blip r:embed="rId1"/>
          <a:stretch/>
        </p:blipFill>
        <p:spPr>
          <a:xfrm>
            <a:off x="0" y="0"/>
            <a:ext cx="5484600" cy="8227800"/>
          </a:xfrm>
          <a:prstGeom prst="rect">
            <a:avLst/>
          </a:prstGeom>
          <a:noFill/>
          <a:ln w="0">
            <a:noFill/>
          </a:ln>
        </p:spPr>
      </p:pic>
      <p:sp>
        <p:nvSpPr>
          <p:cNvPr id="180" name="Text 0"/>
          <p:cNvSpPr/>
          <p:nvPr/>
        </p:nvSpPr>
        <p:spPr>
          <a:xfrm>
            <a:off x="6163200" y="1205280"/>
            <a:ext cx="7788960" cy="1206720"/>
          </a:xfrm>
          <a:prstGeom prst="rect">
            <a:avLst/>
          </a:prstGeom>
          <a:noFill/>
          <a:ln w="0">
            <a:noFill/>
          </a:ln>
        </p:spPr>
        <p:style>
          <a:lnRef idx="0"/>
          <a:fillRef idx="0"/>
          <a:effectRef idx="0"/>
          <a:fontRef idx="minor"/>
        </p:style>
        <p:txBody>
          <a:bodyPr lIns="0" rIns="0" tIns="0" bIns="0" anchor="t">
            <a:noAutofit/>
          </a:bodyPr>
          <a:p>
            <a:pPr>
              <a:lnSpc>
                <a:spcPts val="4751"/>
              </a:lnSpc>
              <a:tabLst>
                <a:tab algn="l" pos="0"/>
              </a:tabLst>
            </a:pPr>
            <a:r>
              <a:rPr lang="en-US" sz="3800" b="1" u="none" strike="noStrike">
                <a:solidFill>
                  <a:srgbClr val="000000"/>
                </a:solidFill>
                <a:effectLst/>
                <a:uFillTx/>
                <a:latin typeface="Inter Bold"/>
                <a:ea typeface="Inter Bold"/>
              </a:rPr>
              <a:t>Utilisateurs et système de permissions</a:t>
            </a:r>
            <a:endParaRPr lang="en-US" sz="3800" b="0" u="none" strike="noStrike">
              <a:solidFill>
                <a:srgbClr val="000000"/>
              </a:solidFill>
              <a:effectLst/>
              <a:uFillTx/>
              <a:latin typeface="Arial"/>
            </a:endParaRPr>
          </a:p>
        </p:txBody>
      </p:sp>
      <p:sp>
        <p:nvSpPr>
          <p:cNvPr id="181" name="Text 1"/>
          <p:cNvSpPr/>
          <p:nvPr/>
        </p:nvSpPr>
        <p:spPr>
          <a:xfrm>
            <a:off x="6163200" y="2896920"/>
            <a:ext cx="3000240" cy="300240"/>
          </a:xfrm>
          <a:prstGeom prst="rect">
            <a:avLst/>
          </a:prstGeom>
          <a:noFill/>
          <a:ln w="0">
            <a:noFill/>
          </a:ln>
        </p:spPr>
        <p:style>
          <a:lnRef idx="0"/>
          <a:fillRef idx="0"/>
          <a:effectRef idx="0"/>
          <a:fontRef idx="minor"/>
        </p:style>
        <p:txBody>
          <a:bodyPr wrap="none" lIns="0" rIns="0" tIns="0" bIns="0" anchor="t">
            <a:noAutofit/>
          </a:bodyPr>
          <a:p>
            <a:pPr>
              <a:lnSpc>
                <a:spcPts val="2350"/>
              </a:lnSpc>
              <a:tabLst>
                <a:tab algn="l" pos="0"/>
              </a:tabLst>
            </a:pPr>
            <a:r>
              <a:rPr lang="en-US" sz="1900" b="1" u="none" strike="noStrike">
                <a:solidFill>
                  <a:srgbClr val="000000"/>
                </a:solidFill>
                <a:effectLst/>
                <a:uFillTx/>
                <a:latin typeface="Inter Bold"/>
                <a:ea typeface="Inter Bold"/>
              </a:rPr>
              <a:t>Gestion multi-utilisateurs</a:t>
            </a:r>
            <a:endParaRPr lang="en-US" sz="1900" b="0" u="none" strike="noStrike">
              <a:solidFill>
                <a:srgbClr val="000000"/>
              </a:solidFill>
              <a:effectLst/>
              <a:uFillTx/>
              <a:latin typeface="Arial"/>
            </a:endParaRPr>
          </a:p>
        </p:txBody>
      </p:sp>
      <p:sp>
        <p:nvSpPr>
          <p:cNvPr id="182" name="Text 2"/>
          <p:cNvSpPr/>
          <p:nvPr/>
        </p:nvSpPr>
        <p:spPr>
          <a:xfrm>
            <a:off x="6163200" y="3392280"/>
            <a:ext cx="3657600" cy="154476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lang="en-US" sz="1500" b="0" u="none" strike="noStrike">
                <a:solidFill>
                  <a:srgbClr val="272525"/>
                </a:solidFill>
                <a:effectLst/>
                <a:uFillTx/>
                <a:latin typeface="Inter"/>
                <a:ea typeface="Inter"/>
              </a:rPr>
              <a:t>Linux est conçu pour gérer plusieurs utilisateurs simultanément. Chaque utilisateur possède son propre espace de travail, ses fichiers personnels et ses droits d'accès spécifiques.</a:t>
            </a:r>
            <a:endParaRPr lang="en-US" sz="1500" b="0" u="none" strike="noStrike">
              <a:solidFill>
                <a:srgbClr val="000000"/>
              </a:solidFill>
              <a:effectLst/>
              <a:uFillTx/>
              <a:latin typeface="Arial"/>
            </a:endParaRPr>
          </a:p>
        </p:txBody>
      </p:sp>
      <p:sp>
        <p:nvSpPr>
          <p:cNvPr id="183" name="Text 3"/>
          <p:cNvSpPr/>
          <p:nvPr/>
        </p:nvSpPr>
        <p:spPr>
          <a:xfrm>
            <a:off x="6163200" y="5113080"/>
            <a:ext cx="3657600" cy="154476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lang="en-US" sz="1500" b="0" u="none" strike="noStrike">
                <a:solidFill>
                  <a:srgbClr val="272525"/>
                </a:solidFill>
                <a:effectLst/>
                <a:uFillTx/>
                <a:latin typeface="Inter"/>
                <a:ea typeface="Inter"/>
              </a:rPr>
              <a:t>L'utilisateur </a:t>
            </a:r>
            <a:r>
              <a:rPr lang="en-US" sz="1500" b="1" u="none" strike="noStrike">
                <a:solidFill>
                  <a:srgbClr val="272525"/>
                </a:solidFill>
                <a:effectLst/>
                <a:uFillTx/>
                <a:latin typeface="Inter"/>
                <a:ea typeface="Inter"/>
              </a:rPr>
              <a:t>root</a:t>
            </a:r>
            <a:r>
              <a:rPr lang="en-US" sz="1500" b="0" u="none" strike="noStrike">
                <a:solidFill>
                  <a:srgbClr val="272525"/>
                </a:solidFill>
                <a:effectLst/>
                <a:uFillTx/>
                <a:latin typeface="Inter"/>
                <a:ea typeface="Inter"/>
              </a:rPr>
              <a:t> (superutilisateur) dispose de tous les privilèges sur le système. Il peut modifier n'importe quel fichier, installer des logiciels et configurer l'ensemble du système.</a:t>
            </a:r>
            <a:endParaRPr lang="en-US" sz="1500" b="0" u="none" strike="noStrike">
              <a:solidFill>
                <a:srgbClr val="000000"/>
              </a:solidFill>
              <a:effectLst/>
              <a:uFillTx/>
              <a:latin typeface="Arial"/>
            </a:endParaRPr>
          </a:p>
        </p:txBody>
      </p:sp>
      <p:sp>
        <p:nvSpPr>
          <p:cNvPr id="184" name="Text 4"/>
          <p:cNvSpPr/>
          <p:nvPr/>
        </p:nvSpPr>
        <p:spPr>
          <a:xfrm>
            <a:off x="10301760" y="2896920"/>
            <a:ext cx="2894400" cy="300240"/>
          </a:xfrm>
          <a:prstGeom prst="rect">
            <a:avLst/>
          </a:prstGeom>
          <a:noFill/>
          <a:ln w="0">
            <a:noFill/>
          </a:ln>
        </p:spPr>
        <p:style>
          <a:lnRef idx="0"/>
          <a:fillRef idx="0"/>
          <a:effectRef idx="0"/>
          <a:fontRef idx="minor"/>
        </p:style>
        <p:txBody>
          <a:bodyPr wrap="none" lIns="0" rIns="0" tIns="0" bIns="0" anchor="t">
            <a:noAutofit/>
          </a:bodyPr>
          <a:p>
            <a:pPr>
              <a:lnSpc>
                <a:spcPts val="2350"/>
              </a:lnSpc>
              <a:tabLst>
                <a:tab algn="l" pos="0"/>
              </a:tabLst>
            </a:pPr>
            <a:r>
              <a:rPr lang="en-US" sz="1900" b="1" u="none" strike="noStrike">
                <a:solidFill>
                  <a:srgbClr val="000000"/>
                </a:solidFill>
                <a:effectLst/>
                <a:uFillTx/>
                <a:latin typeface="Inter Bold"/>
                <a:ea typeface="Inter Bold"/>
              </a:rPr>
              <a:t>Système de permissions</a:t>
            </a:r>
            <a:endParaRPr lang="en-US" sz="1900" b="0" u="none" strike="noStrike">
              <a:solidFill>
                <a:srgbClr val="000000"/>
              </a:solidFill>
              <a:effectLst/>
              <a:uFillTx/>
              <a:latin typeface="Arial"/>
            </a:endParaRPr>
          </a:p>
        </p:txBody>
      </p:sp>
      <p:sp>
        <p:nvSpPr>
          <p:cNvPr id="185" name="Text 5"/>
          <p:cNvSpPr/>
          <p:nvPr/>
        </p:nvSpPr>
        <p:spPr>
          <a:xfrm>
            <a:off x="10301760" y="3276360"/>
            <a:ext cx="3657600" cy="904320"/>
          </a:xfrm>
          <a:prstGeom prst="rect">
            <a:avLst/>
          </a:prstGeom>
          <a:noFill/>
          <a:ln w="0">
            <a:noFill/>
          </a:ln>
        </p:spPr>
        <p:style>
          <a:lnRef idx="0"/>
          <a:fillRef idx="0"/>
          <a:effectRef idx="0"/>
          <a:fontRef idx="minor"/>
        </p:style>
        <p:txBody>
          <a:bodyPr lIns="0" rIns="0" tIns="0" bIns="0" anchor="t">
            <a:noAutofit/>
          </a:bodyPr>
          <a:p>
            <a:pPr>
              <a:lnSpc>
                <a:spcPts val="2350"/>
              </a:lnSpc>
              <a:tabLst>
                <a:tab algn="l" pos="0"/>
              </a:tabLst>
            </a:pPr>
            <a:r>
              <a:rPr lang="en-US" sz="1900" b="1" u="none" strike="noStrike">
                <a:solidFill>
                  <a:srgbClr val="000000"/>
                </a:solidFill>
                <a:effectLst/>
                <a:uFillTx/>
                <a:latin typeface="Inter Bold"/>
                <a:ea typeface="Inter Bold"/>
              </a:rPr>
              <a:t>Chaque fichier et dossier possède trois types de permissions :</a:t>
            </a:r>
            <a:endParaRPr lang="en-US" sz="1900" b="0" u="none" strike="noStrike">
              <a:solidFill>
                <a:srgbClr val="000000"/>
              </a:solidFill>
              <a:effectLst/>
              <a:uFillTx/>
              <a:latin typeface="Arial"/>
            </a:endParaRPr>
          </a:p>
        </p:txBody>
      </p:sp>
      <p:sp>
        <p:nvSpPr>
          <p:cNvPr id="186" name="Text 6"/>
          <p:cNvSpPr/>
          <p:nvPr/>
        </p:nvSpPr>
        <p:spPr>
          <a:xfrm>
            <a:off x="10301760" y="4375800"/>
            <a:ext cx="3657600" cy="3074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lang="en-US" sz="1500" b="1" u="none" strike="noStrike">
                <a:solidFill>
                  <a:srgbClr val="272525"/>
                </a:solidFill>
                <a:effectLst/>
                <a:uFillTx/>
                <a:latin typeface="Inter"/>
                <a:ea typeface="Inter"/>
              </a:rPr>
              <a:t>Lecture (r)</a:t>
            </a:r>
            <a:r>
              <a:rPr lang="en-US" sz="1500" b="0" u="none" strike="noStrike">
                <a:solidFill>
                  <a:srgbClr val="272525"/>
                </a:solidFill>
                <a:effectLst/>
                <a:uFillTx/>
                <a:latin typeface="Inter"/>
                <a:ea typeface="Inter"/>
              </a:rPr>
              <a:t> : voir le contenu</a:t>
            </a:r>
            <a:endParaRPr lang="en-US" sz="1500" b="0" u="none" strike="noStrike">
              <a:solidFill>
                <a:srgbClr val="000000"/>
              </a:solidFill>
              <a:effectLst/>
              <a:uFillTx/>
              <a:latin typeface="Arial"/>
            </a:endParaRPr>
          </a:p>
        </p:txBody>
      </p:sp>
      <p:sp>
        <p:nvSpPr>
          <p:cNvPr id="187" name="Text 7"/>
          <p:cNvSpPr/>
          <p:nvPr/>
        </p:nvSpPr>
        <p:spPr>
          <a:xfrm>
            <a:off x="10301760" y="4752720"/>
            <a:ext cx="3657600" cy="3074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lang="en-US" sz="1500" b="1" u="none" strike="noStrike">
                <a:solidFill>
                  <a:srgbClr val="272525"/>
                </a:solidFill>
                <a:effectLst/>
                <a:uFillTx/>
                <a:latin typeface="Inter"/>
                <a:ea typeface="Inter"/>
              </a:rPr>
              <a:t>Écriture (w)</a:t>
            </a:r>
            <a:r>
              <a:rPr lang="en-US" sz="1500" b="0" u="none" strike="noStrike">
                <a:solidFill>
                  <a:srgbClr val="272525"/>
                </a:solidFill>
                <a:effectLst/>
                <a:uFillTx/>
                <a:latin typeface="Inter"/>
                <a:ea typeface="Inter"/>
              </a:rPr>
              <a:t> : modifier le contenu</a:t>
            </a:r>
            <a:endParaRPr lang="en-US" sz="1500" b="0" u="none" strike="noStrike">
              <a:solidFill>
                <a:srgbClr val="000000"/>
              </a:solidFill>
              <a:effectLst/>
              <a:uFillTx/>
              <a:latin typeface="Arial"/>
            </a:endParaRPr>
          </a:p>
        </p:txBody>
      </p:sp>
      <p:sp>
        <p:nvSpPr>
          <p:cNvPr id="188" name="Text 8"/>
          <p:cNvSpPr/>
          <p:nvPr/>
        </p:nvSpPr>
        <p:spPr>
          <a:xfrm>
            <a:off x="10301760" y="5129640"/>
            <a:ext cx="3657600" cy="61668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lang="en-US" sz="1500" b="1" u="none" strike="noStrike">
                <a:solidFill>
                  <a:srgbClr val="272525"/>
                </a:solidFill>
                <a:effectLst/>
                <a:uFillTx/>
                <a:latin typeface="Inter"/>
                <a:ea typeface="Inter"/>
              </a:rPr>
              <a:t>Exécution (x)</a:t>
            </a:r>
            <a:r>
              <a:rPr lang="en-US" sz="1500" b="0" u="none" strike="noStrike">
                <a:solidFill>
                  <a:srgbClr val="272525"/>
                </a:solidFill>
                <a:effectLst/>
                <a:uFillTx/>
                <a:latin typeface="Inter"/>
                <a:ea typeface="Inter"/>
              </a:rPr>
              <a:t> : lancer un programme</a:t>
            </a:r>
            <a:endParaRPr lang="en-US" sz="1500" b="0" u="none" strike="noStrike">
              <a:solidFill>
                <a:srgbClr val="000000"/>
              </a:solidFill>
              <a:effectLst/>
              <a:uFillTx/>
              <a:latin typeface="Arial"/>
            </a:endParaRPr>
          </a:p>
        </p:txBody>
      </p:sp>
      <p:sp>
        <p:nvSpPr>
          <p:cNvPr id="189" name="Text 9"/>
          <p:cNvSpPr/>
          <p:nvPr/>
        </p:nvSpPr>
        <p:spPr>
          <a:xfrm>
            <a:off x="10301760" y="5922360"/>
            <a:ext cx="3657600" cy="92628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lang="en-US" sz="1500" b="0" u="none" strike="noStrike">
                <a:solidFill>
                  <a:srgbClr val="272525"/>
                </a:solidFill>
                <a:effectLst/>
                <a:uFillTx/>
                <a:latin typeface="Inter"/>
                <a:ea typeface="Inter"/>
              </a:rPr>
              <a:t>Ces permissions s'appliquent à trois catégories : le propriétaire, le groupe et les autres utilisateurs.</a:t>
            </a:r>
            <a:endParaRPr lang="en-US" sz="1500" b="0" u="none" strike="noStrike">
              <a:solidFill>
                <a:srgbClr val="000000"/>
              </a:solidFill>
              <a:effectLst/>
              <a:uFillTx/>
              <a:latin typeface="Arial"/>
            </a:endParaRPr>
          </a:p>
        </p:txBody>
      </p:sp>
      <p:sp>
        <p:nvSpPr>
          <p:cNvPr id="190" name="Shape 21"/>
          <p:cNvSpPr/>
          <p:nvPr/>
        </p:nvSpPr>
        <p:spPr>
          <a:xfrm>
            <a:off x="5643000" y="7772400"/>
            <a:ext cx="8913960" cy="455760"/>
          </a:xfrm>
          <a:prstGeom prst="roundRect">
            <a:avLst>
              <a:gd name="adj" fmla="val 4099"/>
            </a:avLst>
          </a:prstGeom>
          <a:solidFill>
            <a:srgbClr val="ffffff"/>
          </a:solidFill>
          <a:ln w="7620">
            <a:solidFill>
              <a:srgbClr val="ffffff"/>
            </a:solidFill>
            <a:round/>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Shape 0"/>
          <p:cNvSpPr/>
          <p:nvPr/>
        </p:nvSpPr>
        <p:spPr>
          <a:xfrm>
            <a:off x="2039040" y="458640"/>
            <a:ext cx="1053360" cy="311760"/>
          </a:xfrm>
          <a:prstGeom prst="roundRect">
            <a:avLst>
              <a:gd name="adj" fmla="val 17881"/>
            </a:avLst>
          </a:prstGeom>
          <a:solidFill>
            <a:srgbClr val="dadbf1"/>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pic>
        <p:nvPicPr>
          <p:cNvPr id="192" name="Image 0" descr="preencoded.png"/>
          <p:cNvPicPr/>
          <p:nvPr/>
        </p:nvPicPr>
        <p:blipFill>
          <a:blip r:embed="rId1">
            <a:extLst>
              <a:ext uri="{96DAC541-7B7A-43D3-8B79-37D633B846F1}">
                <asvg:svgBlip xmlns:asvg="http://schemas.microsoft.com/office/drawing/2016/SVG/main" r:embed="rId2"/>
              </a:ext>
            </a:extLst>
          </a:blip>
          <a:stretch/>
        </p:blipFill>
        <p:spPr>
          <a:xfrm>
            <a:off x="2139120" y="548640"/>
            <a:ext cx="131400" cy="131400"/>
          </a:xfrm>
          <a:prstGeom prst="rect">
            <a:avLst/>
          </a:prstGeom>
          <a:noFill/>
          <a:ln w="0">
            <a:noFill/>
          </a:ln>
        </p:spPr>
      </p:pic>
      <p:sp>
        <p:nvSpPr>
          <p:cNvPr id="193" name="Text 1"/>
          <p:cNvSpPr/>
          <p:nvPr/>
        </p:nvSpPr>
        <p:spPr>
          <a:xfrm>
            <a:off x="2339280" y="508680"/>
            <a:ext cx="653040" cy="211680"/>
          </a:xfrm>
          <a:prstGeom prst="rect">
            <a:avLst/>
          </a:prstGeom>
          <a:noFill/>
          <a:ln w="0">
            <a:noFill/>
          </a:ln>
        </p:spPr>
        <p:style>
          <a:lnRef idx="0"/>
          <a:fillRef idx="0"/>
          <a:effectRef idx="0"/>
          <a:fontRef idx="minor"/>
        </p:style>
        <p:txBody>
          <a:bodyPr wrap="none" lIns="0" rIns="0" tIns="0" bIns="0" anchor="t">
            <a:noAutofit/>
          </a:bodyPr>
          <a:p>
            <a:pPr>
              <a:lnSpc>
                <a:spcPts val="1650"/>
              </a:lnSpc>
              <a:tabLst>
                <a:tab algn="l" pos="0"/>
              </a:tabLst>
            </a:pPr>
            <a:r>
              <a:rPr lang="en-US" sz="1050" b="0" u="none" strike="noStrike">
                <a:solidFill>
                  <a:srgbClr val="272525"/>
                </a:solidFill>
                <a:effectLst/>
                <a:uFillTx/>
                <a:latin typeface="Inter"/>
                <a:ea typeface="Inter"/>
              </a:rPr>
              <a:t>PRATIQUE</a:t>
            </a:r>
            <a:endParaRPr lang="en-US" sz="1050" b="0" u="none" strike="noStrike">
              <a:solidFill>
                <a:srgbClr val="000000"/>
              </a:solidFill>
              <a:effectLst/>
              <a:uFillTx/>
              <a:latin typeface="Arial"/>
            </a:endParaRPr>
          </a:p>
        </p:txBody>
      </p:sp>
      <p:sp>
        <p:nvSpPr>
          <p:cNvPr id="194" name="Text 2"/>
          <p:cNvSpPr/>
          <p:nvPr/>
        </p:nvSpPr>
        <p:spPr>
          <a:xfrm>
            <a:off x="2039040" y="838800"/>
            <a:ext cx="6322320" cy="519480"/>
          </a:xfrm>
          <a:prstGeom prst="rect">
            <a:avLst/>
          </a:prstGeom>
          <a:noFill/>
          <a:ln w="0">
            <a:noFill/>
          </a:ln>
        </p:spPr>
        <p:style>
          <a:lnRef idx="0"/>
          <a:fillRef idx="0"/>
          <a:effectRef idx="0"/>
          <a:fontRef idx="minor"/>
        </p:style>
        <p:txBody>
          <a:bodyPr wrap="none" lIns="0" rIns="0" tIns="0" bIns="0" anchor="t">
            <a:noAutofit/>
          </a:bodyPr>
          <a:p>
            <a:pPr>
              <a:lnSpc>
                <a:spcPts val="4099"/>
              </a:lnSpc>
              <a:tabLst>
                <a:tab algn="l" pos="0"/>
              </a:tabLst>
            </a:pPr>
            <a:r>
              <a:rPr lang="en-US" sz="3250" b="1" u="none" strike="noStrike">
                <a:solidFill>
                  <a:srgbClr val="000000"/>
                </a:solidFill>
                <a:effectLst/>
                <a:uFillTx/>
                <a:latin typeface="Inter Bold"/>
                <a:ea typeface="Inter Bold"/>
              </a:rPr>
              <a:t>Commandes Linux essentielles</a:t>
            </a:r>
            <a:endParaRPr lang="en-US" sz="3250" b="0" u="none" strike="noStrike">
              <a:solidFill>
                <a:srgbClr val="000000"/>
              </a:solidFill>
              <a:effectLst/>
              <a:uFillTx/>
              <a:latin typeface="Arial"/>
            </a:endParaRPr>
          </a:p>
        </p:txBody>
      </p:sp>
      <p:sp>
        <p:nvSpPr>
          <p:cNvPr id="195" name="Text 3"/>
          <p:cNvSpPr/>
          <p:nvPr/>
        </p:nvSpPr>
        <p:spPr>
          <a:xfrm>
            <a:off x="2039040" y="1610280"/>
            <a:ext cx="10550520" cy="531720"/>
          </a:xfrm>
          <a:prstGeom prst="rect">
            <a:avLst/>
          </a:prstGeom>
          <a:noFill/>
          <a:ln w="0">
            <a:noFill/>
          </a:ln>
        </p:spPr>
        <p:style>
          <a:lnRef idx="0"/>
          <a:fillRef idx="0"/>
          <a:effectRef idx="0"/>
          <a:fontRef idx="minor"/>
        </p:style>
        <p:txBody>
          <a:bodyPr lIns="0" rIns="0" tIns="0" bIns="0" anchor="t">
            <a:noAutofit/>
          </a:bodyPr>
          <a:p>
            <a:pPr>
              <a:lnSpc>
                <a:spcPts val="2100"/>
              </a:lnSpc>
              <a:tabLst>
                <a:tab algn="l" pos="0"/>
              </a:tabLst>
            </a:pPr>
            <a:r>
              <a:rPr lang="en-US" sz="1300" b="0" u="none" strike="noStrike">
                <a:solidFill>
                  <a:srgbClr val="272525"/>
                </a:solidFill>
                <a:effectLst/>
                <a:uFillTx/>
                <a:latin typeface="Inter"/>
                <a:ea typeface="Inter"/>
              </a:rPr>
              <a:t>Voici les commandes de base que tout administrateur Linux doit maîtriser. Ces outils vous permettront de naviguer dans le système et de manipuler les fichiers efficacement.</a:t>
            </a:r>
            <a:endParaRPr lang="en-US" sz="1300" b="0" u="none" strike="noStrike">
              <a:solidFill>
                <a:srgbClr val="000000"/>
              </a:solidFill>
              <a:effectLst/>
              <a:uFillTx/>
              <a:latin typeface="Arial"/>
            </a:endParaRPr>
          </a:p>
        </p:txBody>
      </p:sp>
      <p:sp>
        <p:nvSpPr>
          <p:cNvPr id="196" name="Shape 4"/>
          <p:cNvSpPr/>
          <p:nvPr/>
        </p:nvSpPr>
        <p:spPr>
          <a:xfrm>
            <a:off x="2039040" y="2331720"/>
            <a:ext cx="3404520" cy="2045880"/>
          </a:xfrm>
          <a:prstGeom prst="roundRect">
            <a:avLst>
              <a:gd name="adj" fmla="val 3422"/>
            </a:avLst>
          </a:prstGeom>
          <a:solidFill>
            <a:srgbClr val="dadbf1"/>
          </a:solidFill>
          <a:ln w="7620">
            <a:solidFill>
              <a:srgbClr val="c0c1d7"/>
            </a:solidFill>
            <a:round/>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197" name="Text 5"/>
          <p:cNvSpPr/>
          <p:nvPr/>
        </p:nvSpPr>
        <p:spPr>
          <a:xfrm>
            <a:off x="2213640" y="2505960"/>
            <a:ext cx="2083680" cy="258840"/>
          </a:xfrm>
          <a:prstGeom prst="rect">
            <a:avLst/>
          </a:prstGeom>
          <a:noFill/>
          <a:ln w="0">
            <a:noFill/>
          </a:ln>
        </p:spPr>
        <p:style>
          <a:lnRef idx="0"/>
          <a:fillRef idx="0"/>
          <a:effectRef idx="0"/>
          <a:fontRef idx="minor"/>
        </p:style>
        <p:txBody>
          <a:bodyPr wrap="none" lIns="0" rIns="0" tIns="0" bIns="0" anchor="t">
            <a:noAutofit/>
          </a:bodyPr>
          <a:p>
            <a:pPr>
              <a:lnSpc>
                <a:spcPts val="2049"/>
              </a:lnSpc>
              <a:tabLst>
                <a:tab algn="l" pos="0"/>
              </a:tabLst>
            </a:pPr>
            <a:r>
              <a:rPr lang="en-US" sz="1600" b="1" u="none" strike="noStrike">
                <a:solidFill>
                  <a:srgbClr val="272525"/>
                </a:solidFill>
                <a:effectLst/>
                <a:uFillTx/>
                <a:latin typeface="Inter Bold"/>
                <a:ea typeface="Inter Bold"/>
              </a:rPr>
              <a:t>ls</a:t>
            </a:r>
            <a:endParaRPr lang="en-US" sz="1600" b="0" u="none" strike="noStrike">
              <a:solidFill>
                <a:srgbClr val="000000"/>
              </a:solidFill>
              <a:effectLst/>
              <a:uFillTx/>
              <a:latin typeface="Arial"/>
            </a:endParaRPr>
          </a:p>
        </p:txBody>
      </p:sp>
      <p:sp>
        <p:nvSpPr>
          <p:cNvPr id="198" name="Text 6"/>
          <p:cNvSpPr/>
          <p:nvPr/>
        </p:nvSpPr>
        <p:spPr>
          <a:xfrm>
            <a:off x="2213640" y="2866680"/>
            <a:ext cx="3055320" cy="26496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lang="en-US" sz="1300" b="1" u="none" strike="noStrike">
                <a:solidFill>
                  <a:srgbClr val="272525"/>
                </a:solidFill>
                <a:effectLst/>
                <a:uFillTx/>
                <a:latin typeface="Inter"/>
                <a:ea typeface="Inter"/>
              </a:rPr>
              <a:t>Lister les fichiers</a:t>
            </a:r>
            <a:endParaRPr lang="en-US" sz="1300" b="0" u="none" strike="noStrike">
              <a:solidFill>
                <a:srgbClr val="000000"/>
              </a:solidFill>
              <a:effectLst/>
              <a:uFillTx/>
              <a:latin typeface="Arial"/>
            </a:endParaRPr>
          </a:p>
        </p:txBody>
      </p:sp>
      <p:sp>
        <p:nvSpPr>
          <p:cNvPr id="199" name="Text 7"/>
          <p:cNvSpPr/>
          <p:nvPr/>
        </p:nvSpPr>
        <p:spPr>
          <a:xfrm>
            <a:off x="2213640" y="3233520"/>
            <a:ext cx="3055320" cy="26496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lang="en-US" sz="1300" b="0" u="none" strike="noStrike">
                <a:solidFill>
                  <a:srgbClr val="272525"/>
                </a:solidFill>
                <a:effectLst/>
                <a:uFillTx/>
                <a:latin typeface="Inter"/>
                <a:ea typeface="Inter"/>
              </a:rPr>
              <a:t>Affiche le contenu d'un dossier</a:t>
            </a:r>
            <a:endParaRPr lang="en-US" sz="1300" b="0" u="none" strike="noStrike">
              <a:solidFill>
                <a:srgbClr val="000000"/>
              </a:solidFill>
              <a:effectLst/>
              <a:uFillTx/>
              <a:latin typeface="Arial"/>
            </a:endParaRPr>
          </a:p>
        </p:txBody>
      </p:sp>
      <p:sp>
        <p:nvSpPr>
          <p:cNvPr id="200" name="Shape 8"/>
          <p:cNvSpPr/>
          <p:nvPr/>
        </p:nvSpPr>
        <p:spPr>
          <a:xfrm>
            <a:off x="2213640" y="3688200"/>
            <a:ext cx="3055320" cy="515160"/>
          </a:xfrm>
          <a:prstGeom prst="roundRect">
            <a:avLst>
              <a:gd name="adj" fmla="val 13557"/>
            </a:avLst>
          </a:prstGeom>
          <a:solidFill>
            <a:srgbClr val="f2f2f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201" name="Shape 9"/>
          <p:cNvSpPr/>
          <p:nvPr/>
        </p:nvSpPr>
        <p:spPr>
          <a:xfrm>
            <a:off x="2205000" y="3688200"/>
            <a:ext cx="3072240" cy="515160"/>
          </a:xfrm>
          <a:prstGeom prst="roundRect">
            <a:avLst>
              <a:gd name="adj" fmla="val 4842"/>
            </a:avLst>
          </a:prstGeom>
          <a:solidFill>
            <a:srgbClr val="f2f2f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202" name="Text 10"/>
          <p:cNvSpPr/>
          <p:nvPr/>
        </p:nvSpPr>
        <p:spPr>
          <a:xfrm>
            <a:off x="2372040" y="3813120"/>
            <a:ext cx="2738520" cy="26496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lang="en-US" sz="1300" b="0" u="none" strike="noStrike">
                <a:solidFill>
                  <a:srgbClr val="272525"/>
                </a:solidFill>
                <a:effectLst/>
                <a:highlight>
                  <a:srgbClr val="f2f2f2"/>
                </a:highlight>
                <a:uFillTx/>
                <a:latin typeface="Consolas"/>
                <a:ea typeface="Consolas"/>
              </a:rPr>
              <a:t>ls -la</a:t>
            </a:r>
            <a:endParaRPr lang="en-US" sz="1300" b="0" u="none" strike="noStrike">
              <a:solidFill>
                <a:srgbClr val="000000"/>
              </a:solidFill>
              <a:effectLst/>
              <a:uFillTx/>
              <a:latin typeface="Arial"/>
            </a:endParaRPr>
          </a:p>
        </p:txBody>
      </p:sp>
      <p:sp>
        <p:nvSpPr>
          <p:cNvPr id="203" name="Shape 11"/>
          <p:cNvSpPr/>
          <p:nvPr/>
        </p:nvSpPr>
        <p:spPr>
          <a:xfrm>
            <a:off x="5612040" y="2331720"/>
            <a:ext cx="3404520" cy="2045880"/>
          </a:xfrm>
          <a:prstGeom prst="roundRect">
            <a:avLst>
              <a:gd name="adj" fmla="val 3422"/>
            </a:avLst>
          </a:prstGeom>
          <a:solidFill>
            <a:srgbClr val="dadbf1"/>
          </a:solidFill>
          <a:ln w="7620">
            <a:solidFill>
              <a:srgbClr val="c0c1d7"/>
            </a:solidFill>
            <a:round/>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204" name="Text 12"/>
          <p:cNvSpPr/>
          <p:nvPr/>
        </p:nvSpPr>
        <p:spPr>
          <a:xfrm>
            <a:off x="5786280" y="2505960"/>
            <a:ext cx="2083680" cy="258840"/>
          </a:xfrm>
          <a:prstGeom prst="rect">
            <a:avLst/>
          </a:prstGeom>
          <a:noFill/>
          <a:ln w="0">
            <a:noFill/>
          </a:ln>
        </p:spPr>
        <p:style>
          <a:lnRef idx="0"/>
          <a:fillRef idx="0"/>
          <a:effectRef idx="0"/>
          <a:fontRef idx="minor"/>
        </p:style>
        <p:txBody>
          <a:bodyPr wrap="none" lIns="0" rIns="0" tIns="0" bIns="0" anchor="t">
            <a:noAutofit/>
          </a:bodyPr>
          <a:p>
            <a:pPr>
              <a:lnSpc>
                <a:spcPts val="2049"/>
              </a:lnSpc>
              <a:tabLst>
                <a:tab algn="l" pos="0"/>
              </a:tabLst>
            </a:pPr>
            <a:r>
              <a:rPr lang="en-US" sz="1600" b="1" u="none" strike="noStrike">
                <a:solidFill>
                  <a:srgbClr val="272525"/>
                </a:solidFill>
                <a:effectLst/>
                <a:uFillTx/>
                <a:latin typeface="Inter Bold"/>
                <a:ea typeface="Inter Bold"/>
              </a:rPr>
              <a:t>cd</a:t>
            </a:r>
            <a:endParaRPr lang="en-US" sz="1600" b="0" u="none" strike="noStrike">
              <a:solidFill>
                <a:srgbClr val="000000"/>
              </a:solidFill>
              <a:effectLst/>
              <a:uFillTx/>
              <a:latin typeface="Arial"/>
            </a:endParaRPr>
          </a:p>
        </p:txBody>
      </p:sp>
      <p:sp>
        <p:nvSpPr>
          <p:cNvPr id="205" name="Text 13"/>
          <p:cNvSpPr/>
          <p:nvPr/>
        </p:nvSpPr>
        <p:spPr>
          <a:xfrm>
            <a:off x="5786280" y="2866680"/>
            <a:ext cx="3055680" cy="26496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lang="en-US" sz="1300" b="1" u="none" strike="noStrike">
                <a:solidFill>
                  <a:srgbClr val="272525"/>
                </a:solidFill>
                <a:effectLst/>
                <a:uFillTx/>
                <a:latin typeface="Inter"/>
                <a:ea typeface="Inter"/>
              </a:rPr>
              <a:t>Changer de dossier</a:t>
            </a:r>
            <a:endParaRPr lang="en-US" sz="1300" b="0" u="none" strike="noStrike">
              <a:solidFill>
                <a:srgbClr val="000000"/>
              </a:solidFill>
              <a:effectLst/>
              <a:uFillTx/>
              <a:latin typeface="Arial"/>
            </a:endParaRPr>
          </a:p>
        </p:txBody>
      </p:sp>
      <p:sp>
        <p:nvSpPr>
          <p:cNvPr id="206" name="Text 14"/>
          <p:cNvSpPr/>
          <p:nvPr/>
        </p:nvSpPr>
        <p:spPr>
          <a:xfrm>
            <a:off x="5786280" y="3233520"/>
            <a:ext cx="3055680" cy="26496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lang="en-US" sz="1300" b="0" u="none" strike="noStrike">
                <a:solidFill>
                  <a:srgbClr val="272525"/>
                </a:solidFill>
                <a:effectLst/>
                <a:uFillTx/>
                <a:latin typeface="Inter"/>
                <a:ea typeface="Inter"/>
              </a:rPr>
              <a:t>Se déplacer dans l'arborescence</a:t>
            </a:r>
            <a:endParaRPr lang="en-US" sz="1300" b="0" u="none" strike="noStrike">
              <a:solidFill>
                <a:srgbClr val="000000"/>
              </a:solidFill>
              <a:effectLst/>
              <a:uFillTx/>
              <a:latin typeface="Arial"/>
            </a:endParaRPr>
          </a:p>
        </p:txBody>
      </p:sp>
      <p:sp>
        <p:nvSpPr>
          <p:cNvPr id="207" name="Shape 15"/>
          <p:cNvSpPr/>
          <p:nvPr/>
        </p:nvSpPr>
        <p:spPr>
          <a:xfrm>
            <a:off x="5786280" y="3688200"/>
            <a:ext cx="3055680" cy="515160"/>
          </a:xfrm>
          <a:prstGeom prst="roundRect">
            <a:avLst>
              <a:gd name="adj" fmla="val 13557"/>
            </a:avLst>
          </a:prstGeom>
          <a:solidFill>
            <a:srgbClr val="f2f2f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208" name="Shape 16"/>
          <p:cNvSpPr/>
          <p:nvPr/>
        </p:nvSpPr>
        <p:spPr>
          <a:xfrm>
            <a:off x="5778000" y="3688200"/>
            <a:ext cx="3072240" cy="515160"/>
          </a:xfrm>
          <a:prstGeom prst="roundRect">
            <a:avLst>
              <a:gd name="adj" fmla="val 4842"/>
            </a:avLst>
          </a:prstGeom>
          <a:solidFill>
            <a:srgbClr val="f2f2f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209" name="Text 17"/>
          <p:cNvSpPr/>
          <p:nvPr/>
        </p:nvSpPr>
        <p:spPr>
          <a:xfrm>
            <a:off x="5945040" y="3813120"/>
            <a:ext cx="2738520" cy="26496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lang="en-US" sz="1300" b="0" u="none" strike="noStrike">
                <a:solidFill>
                  <a:srgbClr val="272525"/>
                </a:solidFill>
                <a:effectLst/>
                <a:highlight>
                  <a:srgbClr val="f2f2f2"/>
                </a:highlight>
                <a:uFillTx/>
                <a:latin typeface="Consolas"/>
                <a:ea typeface="Consolas"/>
              </a:rPr>
              <a:t>cd /home/user</a:t>
            </a:r>
            <a:endParaRPr lang="en-US" sz="1300" b="0" u="none" strike="noStrike">
              <a:solidFill>
                <a:srgbClr val="000000"/>
              </a:solidFill>
              <a:effectLst/>
              <a:uFillTx/>
              <a:latin typeface="Arial"/>
            </a:endParaRPr>
          </a:p>
        </p:txBody>
      </p:sp>
      <p:sp>
        <p:nvSpPr>
          <p:cNvPr id="210" name="Shape 18"/>
          <p:cNvSpPr/>
          <p:nvPr/>
        </p:nvSpPr>
        <p:spPr>
          <a:xfrm>
            <a:off x="9185040" y="2331720"/>
            <a:ext cx="3404520" cy="2045880"/>
          </a:xfrm>
          <a:prstGeom prst="roundRect">
            <a:avLst>
              <a:gd name="adj" fmla="val 3422"/>
            </a:avLst>
          </a:prstGeom>
          <a:solidFill>
            <a:srgbClr val="dadbf1"/>
          </a:solidFill>
          <a:ln w="7620">
            <a:solidFill>
              <a:srgbClr val="c0c1d7"/>
            </a:solidFill>
            <a:round/>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211" name="Text 19"/>
          <p:cNvSpPr/>
          <p:nvPr/>
        </p:nvSpPr>
        <p:spPr>
          <a:xfrm>
            <a:off x="9359640" y="2505960"/>
            <a:ext cx="2083680" cy="258840"/>
          </a:xfrm>
          <a:prstGeom prst="rect">
            <a:avLst/>
          </a:prstGeom>
          <a:noFill/>
          <a:ln w="0">
            <a:noFill/>
          </a:ln>
        </p:spPr>
        <p:style>
          <a:lnRef idx="0"/>
          <a:fillRef idx="0"/>
          <a:effectRef idx="0"/>
          <a:fontRef idx="minor"/>
        </p:style>
        <p:txBody>
          <a:bodyPr wrap="none" lIns="0" rIns="0" tIns="0" bIns="0" anchor="t">
            <a:noAutofit/>
          </a:bodyPr>
          <a:p>
            <a:pPr>
              <a:lnSpc>
                <a:spcPts val="2049"/>
              </a:lnSpc>
              <a:tabLst>
                <a:tab algn="l" pos="0"/>
              </a:tabLst>
            </a:pPr>
            <a:r>
              <a:rPr lang="en-US" sz="1600" b="1" u="none" strike="noStrike">
                <a:solidFill>
                  <a:srgbClr val="272525"/>
                </a:solidFill>
                <a:effectLst/>
                <a:uFillTx/>
                <a:latin typeface="Inter Bold"/>
                <a:ea typeface="Inter Bold"/>
              </a:rPr>
              <a:t>mkdir</a:t>
            </a:r>
            <a:endParaRPr lang="en-US" sz="1600" b="0" u="none" strike="noStrike">
              <a:solidFill>
                <a:srgbClr val="000000"/>
              </a:solidFill>
              <a:effectLst/>
              <a:uFillTx/>
              <a:latin typeface="Arial"/>
            </a:endParaRPr>
          </a:p>
        </p:txBody>
      </p:sp>
      <p:sp>
        <p:nvSpPr>
          <p:cNvPr id="212" name="Text 20"/>
          <p:cNvSpPr/>
          <p:nvPr/>
        </p:nvSpPr>
        <p:spPr>
          <a:xfrm>
            <a:off x="9359640" y="2866680"/>
            <a:ext cx="3055320" cy="26496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lang="en-US" sz="1300" b="1" u="none" strike="noStrike">
                <a:solidFill>
                  <a:srgbClr val="272525"/>
                </a:solidFill>
                <a:effectLst/>
                <a:uFillTx/>
                <a:latin typeface="Inter"/>
                <a:ea typeface="Inter"/>
              </a:rPr>
              <a:t>Créer un dossier</a:t>
            </a:r>
            <a:endParaRPr lang="en-US" sz="1300" b="0" u="none" strike="noStrike">
              <a:solidFill>
                <a:srgbClr val="000000"/>
              </a:solidFill>
              <a:effectLst/>
              <a:uFillTx/>
              <a:latin typeface="Arial"/>
            </a:endParaRPr>
          </a:p>
        </p:txBody>
      </p:sp>
      <p:sp>
        <p:nvSpPr>
          <p:cNvPr id="213" name="Text 21"/>
          <p:cNvSpPr/>
          <p:nvPr/>
        </p:nvSpPr>
        <p:spPr>
          <a:xfrm>
            <a:off x="9359640" y="3233520"/>
            <a:ext cx="3055320" cy="26496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lang="en-US" sz="1300" b="0" u="none" strike="noStrike">
                <a:solidFill>
                  <a:srgbClr val="272525"/>
                </a:solidFill>
                <a:effectLst/>
                <a:uFillTx/>
                <a:latin typeface="Inter"/>
                <a:ea typeface="Inter"/>
              </a:rPr>
              <a:t>Créer un nouveau répertoire</a:t>
            </a:r>
            <a:endParaRPr lang="en-US" sz="1300" b="0" u="none" strike="noStrike">
              <a:solidFill>
                <a:srgbClr val="000000"/>
              </a:solidFill>
              <a:effectLst/>
              <a:uFillTx/>
              <a:latin typeface="Arial"/>
            </a:endParaRPr>
          </a:p>
        </p:txBody>
      </p:sp>
      <p:sp>
        <p:nvSpPr>
          <p:cNvPr id="214" name="Shape 22"/>
          <p:cNvSpPr/>
          <p:nvPr/>
        </p:nvSpPr>
        <p:spPr>
          <a:xfrm>
            <a:off x="9359640" y="3688200"/>
            <a:ext cx="3055320" cy="515160"/>
          </a:xfrm>
          <a:prstGeom prst="roundRect">
            <a:avLst>
              <a:gd name="adj" fmla="val 13557"/>
            </a:avLst>
          </a:prstGeom>
          <a:solidFill>
            <a:srgbClr val="f2f2f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215" name="Shape 23"/>
          <p:cNvSpPr/>
          <p:nvPr/>
        </p:nvSpPr>
        <p:spPr>
          <a:xfrm>
            <a:off x="9351000" y="3688200"/>
            <a:ext cx="3072240" cy="515160"/>
          </a:xfrm>
          <a:prstGeom prst="roundRect">
            <a:avLst>
              <a:gd name="adj" fmla="val 4842"/>
            </a:avLst>
          </a:prstGeom>
          <a:solidFill>
            <a:srgbClr val="f2f2f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216" name="Text 24"/>
          <p:cNvSpPr/>
          <p:nvPr/>
        </p:nvSpPr>
        <p:spPr>
          <a:xfrm>
            <a:off x="9518040" y="3813120"/>
            <a:ext cx="2738520" cy="26496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lang="en-US" sz="1300" b="0" u="none" strike="noStrike">
                <a:solidFill>
                  <a:srgbClr val="272525"/>
                </a:solidFill>
                <a:effectLst/>
                <a:highlight>
                  <a:srgbClr val="f2f2f2"/>
                </a:highlight>
                <a:uFillTx/>
                <a:latin typeface="Consolas"/>
                <a:ea typeface="Consolas"/>
              </a:rPr>
              <a:t>mkdir projet</a:t>
            </a:r>
            <a:endParaRPr lang="en-US" sz="1300" b="0" u="none" strike="noStrike">
              <a:solidFill>
                <a:srgbClr val="000000"/>
              </a:solidFill>
              <a:effectLst/>
              <a:uFillTx/>
              <a:latin typeface="Arial"/>
            </a:endParaRPr>
          </a:p>
        </p:txBody>
      </p:sp>
      <p:sp>
        <p:nvSpPr>
          <p:cNvPr id="217" name="Shape 25"/>
          <p:cNvSpPr/>
          <p:nvPr/>
        </p:nvSpPr>
        <p:spPr>
          <a:xfrm>
            <a:off x="2039040" y="4546080"/>
            <a:ext cx="5190840" cy="2045880"/>
          </a:xfrm>
          <a:prstGeom prst="roundRect">
            <a:avLst>
              <a:gd name="adj" fmla="val 3422"/>
            </a:avLst>
          </a:prstGeom>
          <a:solidFill>
            <a:srgbClr val="dadbf1"/>
          </a:solidFill>
          <a:ln w="7620">
            <a:solidFill>
              <a:srgbClr val="c0c1d7"/>
            </a:solidFill>
            <a:round/>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218" name="Text 26"/>
          <p:cNvSpPr/>
          <p:nvPr/>
        </p:nvSpPr>
        <p:spPr>
          <a:xfrm>
            <a:off x="2213640" y="4720680"/>
            <a:ext cx="2083680" cy="258840"/>
          </a:xfrm>
          <a:prstGeom prst="rect">
            <a:avLst/>
          </a:prstGeom>
          <a:noFill/>
          <a:ln w="0">
            <a:noFill/>
          </a:ln>
        </p:spPr>
        <p:style>
          <a:lnRef idx="0"/>
          <a:fillRef idx="0"/>
          <a:effectRef idx="0"/>
          <a:fontRef idx="minor"/>
        </p:style>
        <p:txBody>
          <a:bodyPr wrap="none" lIns="0" rIns="0" tIns="0" bIns="0" anchor="t">
            <a:noAutofit/>
          </a:bodyPr>
          <a:p>
            <a:pPr>
              <a:lnSpc>
                <a:spcPts val="2049"/>
              </a:lnSpc>
              <a:tabLst>
                <a:tab algn="l" pos="0"/>
              </a:tabLst>
            </a:pPr>
            <a:r>
              <a:rPr lang="en-US" sz="1600" b="1" u="none" strike="noStrike">
                <a:solidFill>
                  <a:srgbClr val="272525"/>
                </a:solidFill>
                <a:effectLst/>
                <a:uFillTx/>
                <a:latin typeface="Inter Bold"/>
                <a:ea typeface="Inter Bold"/>
              </a:rPr>
              <a:t>rm</a:t>
            </a:r>
            <a:endParaRPr lang="en-US" sz="1600" b="0" u="none" strike="noStrike">
              <a:solidFill>
                <a:srgbClr val="000000"/>
              </a:solidFill>
              <a:effectLst/>
              <a:uFillTx/>
              <a:latin typeface="Arial"/>
            </a:endParaRPr>
          </a:p>
        </p:txBody>
      </p:sp>
      <p:sp>
        <p:nvSpPr>
          <p:cNvPr id="219" name="Text 27"/>
          <p:cNvSpPr/>
          <p:nvPr/>
        </p:nvSpPr>
        <p:spPr>
          <a:xfrm>
            <a:off x="2213640" y="5081400"/>
            <a:ext cx="4842000" cy="26496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lang="en-US" sz="1300" b="1" u="none" strike="noStrike">
                <a:solidFill>
                  <a:srgbClr val="272525"/>
                </a:solidFill>
                <a:effectLst/>
                <a:uFillTx/>
                <a:latin typeface="Inter"/>
                <a:ea typeface="Inter"/>
              </a:rPr>
              <a:t>Supprimer</a:t>
            </a:r>
            <a:endParaRPr lang="en-US" sz="1300" b="0" u="none" strike="noStrike">
              <a:solidFill>
                <a:srgbClr val="000000"/>
              </a:solidFill>
              <a:effectLst/>
              <a:uFillTx/>
              <a:latin typeface="Arial"/>
            </a:endParaRPr>
          </a:p>
        </p:txBody>
      </p:sp>
      <p:sp>
        <p:nvSpPr>
          <p:cNvPr id="220" name="Text 28"/>
          <p:cNvSpPr/>
          <p:nvPr/>
        </p:nvSpPr>
        <p:spPr>
          <a:xfrm>
            <a:off x="2213640" y="5448240"/>
            <a:ext cx="4842000" cy="26496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lang="en-US" sz="1300" b="0" u="none" strike="noStrike">
                <a:solidFill>
                  <a:srgbClr val="272525"/>
                </a:solidFill>
                <a:effectLst/>
                <a:uFillTx/>
                <a:latin typeface="Inter"/>
                <a:ea typeface="Inter"/>
              </a:rPr>
              <a:t>Effacer fichiers ou dossiers</a:t>
            </a:r>
            <a:endParaRPr lang="en-US" sz="1300" b="0" u="none" strike="noStrike">
              <a:solidFill>
                <a:srgbClr val="000000"/>
              </a:solidFill>
              <a:effectLst/>
              <a:uFillTx/>
              <a:latin typeface="Arial"/>
            </a:endParaRPr>
          </a:p>
        </p:txBody>
      </p:sp>
      <p:sp>
        <p:nvSpPr>
          <p:cNvPr id="221" name="Shape 29"/>
          <p:cNvSpPr/>
          <p:nvPr/>
        </p:nvSpPr>
        <p:spPr>
          <a:xfrm>
            <a:off x="2213640" y="5902560"/>
            <a:ext cx="4842000" cy="515160"/>
          </a:xfrm>
          <a:prstGeom prst="roundRect">
            <a:avLst>
              <a:gd name="adj" fmla="val 13557"/>
            </a:avLst>
          </a:prstGeom>
          <a:solidFill>
            <a:srgbClr val="f2f2f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222" name="Shape 30"/>
          <p:cNvSpPr/>
          <p:nvPr/>
        </p:nvSpPr>
        <p:spPr>
          <a:xfrm>
            <a:off x="2205000" y="5902560"/>
            <a:ext cx="4858560" cy="515160"/>
          </a:xfrm>
          <a:prstGeom prst="roundRect">
            <a:avLst>
              <a:gd name="adj" fmla="val 4842"/>
            </a:avLst>
          </a:prstGeom>
          <a:solidFill>
            <a:srgbClr val="f2f2f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223" name="Text 31"/>
          <p:cNvSpPr/>
          <p:nvPr/>
        </p:nvSpPr>
        <p:spPr>
          <a:xfrm>
            <a:off x="2372040" y="6027480"/>
            <a:ext cx="4525200" cy="26496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lang="en-US" sz="1300" b="0" u="none" strike="noStrike">
                <a:solidFill>
                  <a:srgbClr val="272525"/>
                </a:solidFill>
                <a:effectLst/>
                <a:highlight>
                  <a:srgbClr val="f2f2f2"/>
                </a:highlight>
                <a:uFillTx/>
                <a:latin typeface="Consolas"/>
                <a:ea typeface="Consolas"/>
              </a:rPr>
              <a:t>rm fichier.txt</a:t>
            </a:r>
            <a:endParaRPr lang="en-US" sz="1300" b="0" u="none" strike="noStrike">
              <a:solidFill>
                <a:srgbClr val="000000"/>
              </a:solidFill>
              <a:effectLst/>
              <a:uFillTx/>
              <a:latin typeface="Arial"/>
            </a:endParaRPr>
          </a:p>
        </p:txBody>
      </p:sp>
      <p:sp>
        <p:nvSpPr>
          <p:cNvPr id="224" name="Shape 32"/>
          <p:cNvSpPr/>
          <p:nvPr/>
        </p:nvSpPr>
        <p:spPr>
          <a:xfrm>
            <a:off x="7398720" y="4546080"/>
            <a:ext cx="5190840" cy="2045880"/>
          </a:xfrm>
          <a:prstGeom prst="roundRect">
            <a:avLst>
              <a:gd name="adj" fmla="val 3422"/>
            </a:avLst>
          </a:prstGeom>
          <a:solidFill>
            <a:srgbClr val="dadbf1"/>
          </a:solidFill>
          <a:ln w="7620">
            <a:solidFill>
              <a:srgbClr val="c0c1d7"/>
            </a:solidFill>
            <a:round/>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225" name="Text 33"/>
          <p:cNvSpPr/>
          <p:nvPr/>
        </p:nvSpPr>
        <p:spPr>
          <a:xfrm>
            <a:off x="7572960" y="4720680"/>
            <a:ext cx="2083680" cy="258840"/>
          </a:xfrm>
          <a:prstGeom prst="rect">
            <a:avLst/>
          </a:prstGeom>
          <a:noFill/>
          <a:ln w="0">
            <a:noFill/>
          </a:ln>
        </p:spPr>
        <p:style>
          <a:lnRef idx="0"/>
          <a:fillRef idx="0"/>
          <a:effectRef idx="0"/>
          <a:fontRef idx="minor"/>
        </p:style>
        <p:txBody>
          <a:bodyPr wrap="none" lIns="0" rIns="0" tIns="0" bIns="0" anchor="t">
            <a:noAutofit/>
          </a:bodyPr>
          <a:p>
            <a:pPr>
              <a:lnSpc>
                <a:spcPts val="2049"/>
              </a:lnSpc>
              <a:tabLst>
                <a:tab algn="l" pos="0"/>
              </a:tabLst>
            </a:pPr>
            <a:r>
              <a:rPr lang="en-US" sz="1600" b="1" u="none" strike="noStrike">
                <a:solidFill>
                  <a:srgbClr val="272525"/>
                </a:solidFill>
                <a:effectLst/>
                <a:uFillTx/>
                <a:latin typeface="Inter Bold"/>
                <a:ea typeface="Inter Bold"/>
              </a:rPr>
              <a:t>cat</a:t>
            </a:r>
            <a:endParaRPr lang="en-US" sz="1600" b="0" u="none" strike="noStrike">
              <a:solidFill>
                <a:srgbClr val="000000"/>
              </a:solidFill>
              <a:effectLst/>
              <a:uFillTx/>
              <a:latin typeface="Arial"/>
            </a:endParaRPr>
          </a:p>
        </p:txBody>
      </p:sp>
      <p:sp>
        <p:nvSpPr>
          <p:cNvPr id="226" name="Text 34"/>
          <p:cNvSpPr/>
          <p:nvPr/>
        </p:nvSpPr>
        <p:spPr>
          <a:xfrm>
            <a:off x="7572960" y="5081400"/>
            <a:ext cx="4842000" cy="26496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lang="en-US" sz="1300" b="1" u="none" strike="noStrike">
                <a:solidFill>
                  <a:srgbClr val="272525"/>
                </a:solidFill>
                <a:effectLst/>
                <a:uFillTx/>
                <a:latin typeface="Inter"/>
                <a:ea typeface="Inter"/>
              </a:rPr>
              <a:t>Lire un fichier</a:t>
            </a:r>
            <a:endParaRPr lang="en-US" sz="1300" b="0" u="none" strike="noStrike">
              <a:solidFill>
                <a:srgbClr val="000000"/>
              </a:solidFill>
              <a:effectLst/>
              <a:uFillTx/>
              <a:latin typeface="Arial"/>
            </a:endParaRPr>
          </a:p>
        </p:txBody>
      </p:sp>
      <p:sp>
        <p:nvSpPr>
          <p:cNvPr id="227" name="Text 35"/>
          <p:cNvSpPr/>
          <p:nvPr/>
        </p:nvSpPr>
        <p:spPr>
          <a:xfrm>
            <a:off x="7572960" y="5448240"/>
            <a:ext cx="4842000" cy="26496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lang="en-US" sz="1300" b="0" u="none" strike="noStrike">
                <a:solidFill>
                  <a:srgbClr val="272525"/>
                </a:solidFill>
                <a:effectLst/>
                <a:uFillTx/>
                <a:latin typeface="Inter"/>
                <a:ea typeface="Inter"/>
              </a:rPr>
              <a:t>Afficher le contenu d'un fichier</a:t>
            </a:r>
            <a:endParaRPr lang="en-US" sz="1300" b="0" u="none" strike="noStrike">
              <a:solidFill>
                <a:srgbClr val="000000"/>
              </a:solidFill>
              <a:effectLst/>
              <a:uFillTx/>
              <a:latin typeface="Arial"/>
            </a:endParaRPr>
          </a:p>
        </p:txBody>
      </p:sp>
      <p:sp>
        <p:nvSpPr>
          <p:cNvPr id="228" name="Shape 36"/>
          <p:cNvSpPr/>
          <p:nvPr/>
        </p:nvSpPr>
        <p:spPr>
          <a:xfrm>
            <a:off x="7572960" y="5902560"/>
            <a:ext cx="4842000" cy="515160"/>
          </a:xfrm>
          <a:prstGeom prst="roundRect">
            <a:avLst>
              <a:gd name="adj" fmla="val 13557"/>
            </a:avLst>
          </a:prstGeom>
          <a:solidFill>
            <a:srgbClr val="f2f2f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229" name="Shape 37"/>
          <p:cNvSpPr/>
          <p:nvPr/>
        </p:nvSpPr>
        <p:spPr>
          <a:xfrm>
            <a:off x="7564680" y="5902560"/>
            <a:ext cx="4858560" cy="515160"/>
          </a:xfrm>
          <a:prstGeom prst="roundRect">
            <a:avLst>
              <a:gd name="adj" fmla="val 4842"/>
            </a:avLst>
          </a:prstGeom>
          <a:solidFill>
            <a:srgbClr val="f2f2f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230" name="Text 38"/>
          <p:cNvSpPr/>
          <p:nvPr/>
        </p:nvSpPr>
        <p:spPr>
          <a:xfrm>
            <a:off x="7731360" y="6027480"/>
            <a:ext cx="4525200" cy="26496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lang="en-US" sz="1300" b="0" u="none" strike="noStrike">
                <a:solidFill>
                  <a:srgbClr val="272525"/>
                </a:solidFill>
                <a:effectLst/>
                <a:highlight>
                  <a:srgbClr val="f2f2f2"/>
                </a:highlight>
                <a:uFillTx/>
                <a:latin typeface="Consolas"/>
                <a:ea typeface="Consolas"/>
              </a:rPr>
              <a:t>cat config.txt</a:t>
            </a:r>
            <a:endParaRPr lang="en-US" sz="1300" b="0" u="none" strike="noStrike">
              <a:solidFill>
                <a:srgbClr val="000000"/>
              </a:solidFill>
              <a:effectLst/>
              <a:uFillTx/>
              <a:latin typeface="Arial"/>
            </a:endParaRPr>
          </a:p>
        </p:txBody>
      </p:sp>
      <p:sp>
        <p:nvSpPr>
          <p:cNvPr id="231" name="Shape 39"/>
          <p:cNvSpPr/>
          <p:nvPr/>
        </p:nvSpPr>
        <p:spPr>
          <a:xfrm>
            <a:off x="2039040" y="6781680"/>
            <a:ext cx="10550520" cy="988920"/>
          </a:xfrm>
          <a:prstGeom prst="roundRect">
            <a:avLst>
              <a:gd name="adj" fmla="val 7072"/>
            </a:avLst>
          </a:prstGeom>
          <a:solidFill>
            <a:srgbClr val="c7c9ea"/>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pic>
        <p:nvPicPr>
          <p:cNvPr id="232" name="Image 1" descr="preencoded.png"/>
          <p:cNvPicPr/>
          <p:nvPr/>
        </p:nvPicPr>
        <p:blipFill>
          <a:blip r:embed="rId3"/>
          <a:stretch/>
        </p:blipFill>
        <p:spPr>
          <a:xfrm>
            <a:off x="2205720" y="7034400"/>
            <a:ext cx="206640" cy="164880"/>
          </a:xfrm>
          <a:prstGeom prst="rect">
            <a:avLst/>
          </a:prstGeom>
          <a:noFill/>
          <a:ln w="0">
            <a:noFill/>
          </a:ln>
        </p:spPr>
      </p:pic>
      <p:sp>
        <p:nvSpPr>
          <p:cNvPr id="233" name="Text 40"/>
          <p:cNvSpPr/>
          <p:nvPr/>
        </p:nvSpPr>
        <p:spPr>
          <a:xfrm>
            <a:off x="2581200" y="6990120"/>
            <a:ext cx="9841680" cy="547200"/>
          </a:xfrm>
          <a:prstGeom prst="rect">
            <a:avLst/>
          </a:prstGeom>
          <a:noFill/>
          <a:ln w="0">
            <a:noFill/>
          </a:ln>
        </p:spPr>
        <p:style>
          <a:lnRef idx="0"/>
          <a:fillRef idx="0"/>
          <a:effectRef idx="0"/>
          <a:fontRef idx="minor"/>
        </p:style>
        <p:txBody>
          <a:bodyPr lIns="0" rIns="0" tIns="0" bIns="0" anchor="t">
            <a:noAutofit/>
          </a:bodyPr>
          <a:p>
            <a:pPr>
              <a:lnSpc>
                <a:spcPts val="2100"/>
              </a:lnSpc>
              <a:tabLst>
                <a:tab algn="l" pos="0"/>
              </a:tabLst>
            </a:pPr>
            <a:r>
              <a:rPr lang="en-US" sz="1300" b="1" u="none" strike="noStrike">
                <a:solidFill>
                  <a:srgbClr val="000000"/>
                </a:solidFill>
                <a:effectLst/>
                <a:uFillTx/>
                <a:latin typeface="Inter"/>
                <a:ea typeface="Inter"/>
              </a:rPr>
              <a:t>Conseil pratique :</a:t>
            </a:r>
            <a:r>
              <a:rPr lang="en-US" sz="1300" b="0" u="none" strike="noStrike">
                <a:solidFill>
                  <a:srgbClr val="000000"/>
                </a:solidFill>
                <a:effectLst/>
                <a:uFillTx/>
                <a:latin typeface="Inter"/>
                <a:ea typeface="Inter"/>
              </a:rPr>
              <a:t> Utilisez </a:t>
            </a:r>
            <a:r>
              <a:rPr lang="en-US" sz="1300" b="0" u="none" strike="noStrike">
                <a:solidFill>
                  <a:srgbClr val="000000"/>
                </a:solidFill>
                <a:effectLst/>
                <a:highlight>
                  <a:srgbClr val="f2f2f2"/>
                </a:highlight>
                <a:uFillTx/>
                <a:latin typeface="Consolas"/>
                <a:ea typeface="Consolas"/>
              </a:rPr>
              <a:t>man</a:t>
            </a:r>
            <a:r>
              <a:rPr lang="en-US" sz="1300" b="0" u="none" strike="noStrike">
                <a:solidFill>
                  <a:srgbClr val="000000"/>
                </a:solidFill>
                <a:effectLst/>
                <a:uFillTx/>
                <a:latin typeface="Inter"/>
                <a:ea typeface="Inter"/>
              </a:rPr>
              <a:t> suivi du nom d'une commande pour accéder à son manuel d'utilisation complet. Par exemple : </a:t>
            </a:r>
            <a:r>
              <a:rPr lang="en-US" sz="1300" b="0" u="none" strike="noStrike">
                <a:solidFill>
                  <a:srgbClr val="000000"/>
                </a:solidFill>
                <a:effectLst/>
                <a:highlight>
                  <a:srgbClr val="f2f2f2"/>
                </a:highlight>
                <a:uFillTx/>
                <a:latin typeface="Consolas"/>
                <a:ea typeface="Consolas"/>
              </a:rPr>
              <a:t>man ls</a:t>
            </a:r>
            <a:endParaRPr lang="en-US" sz="1300" b="0" u="none" strike="noStrike">
              <a:solidFill>
                <a:srgbClr val="000000"/>
              </a:solidFill>
              <a:effectLst/>
              <a:uFillTx/>
              <a:latin typeface="Arial"/>
            </a:endParaRPr>
          </a:p>
        </p:txBody>
      </p:sp>
      <p:sp>
        <p:nvSpPr>
          <p:cNvPr id="234" name="Shape 24"/>
          <p:cNvSpPr/>
          <p:nvPr/>
        </p:nvSpPr>
        <p:spPr>
          <a:xfrm>
            <a:off x="0" y="7772400"/>
            <a:ext cx="14628960" cy="455760"/>
          </a:xfrm>
          <a:prstGeom prst="roundRect">
            <a:avLst>
              <a:gd name="adj" fmla="val 4099"/>
            </a:avLst>
          </a:prstGeom>
          <a:solidFill>
            <a:srgbClr val="ffffff"/>
          </a:solidFill>
          <a:ln w="7620">
            <a:solidFill>
              <a:srgbClr val="ffffff"/>
            </a:solidFill>
            <a:round/>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Text 0"/>
          <p:cNvSpPr/>
          <p:nvPr/>
        </p:nvSpPr>
        <p:spPr>
          <a:xfrm>
            <a:off x="1938960" y="603720"/>
            <a:ext cx="6600240" cy="529560"/>
          </a:xfrm>
          <a:prstGeom prst="rect">
            <a:avLst/>
          </a:prstGeom>
          <a:noFill/>
          <a:ln w="0">
            <a:noFill/>
          </a:ln>
        </p:spPr>
        <p:style>
          <a:lnRef idx="0"/>
          <a:fillRef idx="0"/>
          <a:effectRef idx="0"/>
          <a:fontRef idx="minor"/>
        </p:style>
        <p:txBody>
          <a:bodyPr wrap="none" lIns="0" rIns="0" tIns="0" bIns="0" anchor="t">
            <a:noAutofit/>
          </a:bodyPr>
          <a:p>
            <a:pPr>
              <a:lnSpc>
                <a:spcPts val="4150"/>
              </a:lnSpc>
              <a:tabLst>
                <a:tab algn="l" pos="0"/>
              </a:tabLst>
            </a:pPr>
            <a:r>
              <a:rPr lang="en-US" sz="3300" b="1" u="none" strike="noStrike">
                <a:solidFill>
                  <a:srgbClr val="000000"/>
                </a:solidFill>
                <a:effectLst/>
                <a:uFillTx/>
                <a:latin typeface="Inter Bold"/>
                <a:ea typeface="Inter Bold"/>
              </a:rPr>
              <a:t>Gestion des logiciels et paquets</a:t>
            </a:r>
            <a:endParaRPr lang="en-US" sz="3300" b="0" u="none" strike="noStrike">
              <a:solidFill>
                <a:srgbClr val="000000"/>
              </a:solidFill>
              <a:effectLst/>
              <a:uFillTx/>
              <a:latin typeface="Arial"/>
            </a:endParaRPr>
          </a:p>
        </p:txBody>
      </p:sp>
      <p:sp>
        <p:nvSpPr>
          <p:cNvPr id="236" name="Text 1"/>
          <p:cNvSpPr/>
          <p:nvPr/>
        </p:nvSpPr>
        <p:spPr>
          <a:xfrm>
            <a:off x="1938960" y="1542960"/>
            <a:ext cx="5725440" cy="813960"/>
          </a:xfrm>
          <a:prstGeom prst="rect">
            <a:avLst/>
          </a:prstGeom>
          <a:noFill/>
          <a:ln w="0">
            <a:noFill/>
          </a:ln>
        </p:spPr>
        <p:style>
          <a:lnRef idx="0"/>
          <a:fillRef idx="0"/>
          <a:effectRef idx="0"/>
          <a:fontRef idx="minor"/>
        </p:style>
        <p:txBody>
          <a:bodyPr lIns="0" rIns="0" tIns="0" bIns="0" anchor="t">
            <a:noAutofit/>
          </a:bodyPr>
          <a:p>
            <a:pPr>
              <a:lnSpc>
                <a:spcPts val="2100"/>
              </a:lnSpc>
              <a:tabLst>
                <a:tab algn="l" pos="0"/>
              </a:tabLst>
            </a:pPr>
            <a:r>
              <a:rPr lang="en-US" sz="1300" b="0" u="none" strike="noStrike">
                <a:solidFill>
                  <a:srgbClr val="272525"/>
                </a:solidFill>
                <a:effectLst/>
                <a:uFillTx/>
                <a:latin typeface="Inter"/>
                <a:ea typeface="Inter"/>
              </a:rPr>
              <a:t>Linux utilise des </a:t>
            </a:r>
            <a:r>
              <a:rPr lang="en-US" sz="1300" b="1" u="none" strike="noStrike">
                <a:solidFill>
                  <a:srgbClr val="272525"/>
                </a:solidFill>
                <a:effectLst/>
                <a:uFillTx/>
                <a:latin typeface="Inter"/>
                <a:ea typeface="Inter"/>
              </a:rPr>
              <a:t>gestionnaires de paquets</a:t>
            </a:r>
            <a:r>
              <a:rPr lang="en-US" sz="1300" b="0" u="none" strike="noStrike">
                <a:solidFill>
                  <a:srgbClr val="272525"/>
                </a:solidFill>
                <a:effectLst/>
                <a:uFillTx/>
                <a:latin typeface="Inter"/>
                <a:ea typeface="Inter"/>
              </a:rPr>
              <a:t> pour installer, mettre à jour et supprimer des logiciels. Ces outils automatisent la gestion des dépendances et garantissent la cohérence du système.</a:t>
            </a:r>
            <a:endParaRPr lang="en-US" sz="1300" b="0" u="none" strike="noStrike">
              <a:solidFill>
                <a:srgbClr val="000000"/>
              </a:solidFill>
              <a:effectLst/>
              <a:uFillTx/>
              <a:latin typeface="Arial"/>
            </a:endParaRPr>
          </a:p>
        </p:txBody>
      </p:sp>
      <p:pic>
        <p:nvPicPr>
          <p:cNvPr id="237" name="Image 0" descr="preencoded.png"/>
          <p:cNvPicPr/>
          <p:nvPr/>
        </p:nvPicPr>
        <p:blipFill>
          <a:blip r:embed="rId1">
            <a:extLst>
              <a:ext uri="{96DAC541-7B7A-43D3-8B79-37D633B846F1}">
                <asvg:svgBlip xmlns:asvg="http://schemas.microsoft.com/office/drawing/2016/SVG/main" r:embed="rId2"/>
              </a:ext>
            </a:extLst>
          </a:blip>
          <a:stretch/>
        </p:blipFill>
        <p:spPr>
          <a:xfrm>
            <a:off x="1938960" y="2571120"/>
            <a:ext cx="168120" cy="168120"/>
          </a:xfrm>
          <a:prstGeom prst="rect">
            <a:avLst/>
          </a:prstGeom>
          <a:noFill/>
          <a:ln w="0">
            <a:noFill/>
          </a:ln>
        </p:spPr>
      </p:pic>
      <p:sp>
        <p:nvSpPr>
          <p:cNvPr id="238" name="Shape 2"/>
          <p:cNvSpPr/>
          <p:nvPr/>
        </p:nvSpPr>
        <p:spPr>
          <a:xfrm>
            <a:off x="1938960" y="2815920"/>
            <a:ext cx="5725440" cy="21240"/>
          </a:xfrm>
          <a:prstGeom prst="rect">
            <a:avLst/>
          </a:prstGeom>
          <a:solidFill>
            <a:srgbClr val="4950bc"/>
          </a:solidFill>
          <a:ln w="0">
            <a:noFill/>
          </a:ln>
        </p:spPr>
        <p:style>
          <a:lnRef idx="0"/>
          <a:fillRef idx="0"/>
          <a:effectRef idx="0"/>
          <a:fontRef idx="minor"/>
        </p:style>
        <p:txBody>
          <a:bodyPr lIns="90000" rIns="90000" tIns="-21960" bIns="-21960" anchor="t">
            <a:noAutofit/>
          </a:bodyPr>
          <a:p>
            <a:pPr>
              <a:lnSpc>
                <a:spcPct val="100000"/>
              </a:lnSpc>
            </a:pPr>
            <a:endParaRPr lang="en-US" sz="1800" b="0" u="none" strike="noStrike">
              <a:solidFill>
                <a:srgbClr val="ffffff"/>
              </a:solidFill>
              <a:effectLst/>
              <a:uFillTx/>
              <a:latin typeface="Arial"/>
            </a:endParaRPr>
          </a:p>
        </p:txBody>
      </p:sp>
      <p:sp>
        <p:nvSpPr>
          <p:cNvPr id="239" name="Text 3"/>
          <p:cNvSpPr/>
          <p:nvPr/>
        </p:nvSpPr>
        <p:spPr>
          <a:xfrm>
            <a:off x="1938960" y="2946600"/>
            <a:ext cx="2223720" cy="263880"/>
          </a:xfrm>
          <a:prstGeom prst="rect">
            <a:avLst/>
          </a:prstGeom>
          <a:noFill/>
          <a:ln w="0">
            <a:noFill/>
          </a:ln>
        </p:spPr>
        <p:style>
          <a:lnRef idx="0"/>
          <a:fillRef idx="0"/>
          <a:effectRef idx="0"/>
          <a:fontRef idx="minor"/>
        </p:style>
        <p:txBody>
          <a:bodyPr wrap="none" lIns="0" rIns="0" tIns="0" bIns="0" anchor="t">
            <a:noAutofit/>
          </a:bodyPr>
          <a:p>
            <a:pPr>
              <a:lnSpc>
                <a:spcPts val="2049"/>
              </a:lnSpc>
              <a:tabLst>
                <a:tab algn="l" pos="0"/>
              </a:tabLst>
            </a:pPr>
            <a:r>
              <a:rPr lang="en-US" sz="1650" b="1" u="none" strike="noStrike">
                <a:solidFill>
                  <a:srgbClr val="272525"/>
                </a:solidFill>
                <a:effectLst/>
                <a:uFillTx/>
                <a:latin typeface="Inter Bold"/>
                <a:ea typeface="Inter Bold"/>
              </a:rPr>
              <a:t>APT (Debian/Ubuntu)</a:t>
            </a:r>
            <a:endParaRPr lang="en-US" sz="1650" b="0" u="none" strike="noStrike">
              <a:solidFill>
                <a:srgbClr val="000000"/>
              </a:solidFill>
              <a:effectLst/>
              <a:uFillTx/>
              <a:latin typeface="Arial"/>
            </a:endParaRPr>
          </a:p>
        </p:txBody>
      </p:sp>
      <p:sp>
        <p:nvSpPr>
          <p:cNvPr id="240" name="Text 4"/>
          <p:cNvSpPr/>
          <p:nvPr/>
        </p:nvSpPr>
        <p:spPr>
          <a:xfrm>
            <a:off x="1938960" y="3382200"/>
            <a:ext cx="5725440" cy="542160"/>
          </a:xfrm>
          <a:prstGeom prst="rect">
            <a:avLst/>
          </a:prstGeom>
          <a:noFill/>
          <a:ln w="0">
            <a:noFill/>
          </a:ln>
        </p:spPr>
        <p:style>
          <a:lnRef idx="0"/>
          <a:fillRef idx="0"/>
          <a:effectRef idx="0"/>
          <a:fontRef idx="minor"/>
        </p:style>
        <p:txBody>
          <a:bodyPr lIns="0" rIns="0" tIns="0" bIns="0" anchor="t">
            <a:noAutofit/>
          </a:bodyPr>
          <a:p>
            <a:pPr>
              <a:lnSpc>
                <a:spcPts val="2100"/>
              </a:lnSpc>
              <a:tabLst>
                <a:tab algn="l" pos="0"/>
              </a:tabLst>
            </a:pPr>
            <a:r>
              <a:rPr lang="en-US" sz="1300" b="0" u="none" strike="noStrike">
                <a:solidFill>
                  <a:srgbClr val="272525"/>
                </a:solidFill>
                <a:effectLst/>
                <a:uFillTx/>
                <a:latin typeface="Inter"/>
                <a:ea typeface="Inter"/>
              </a:rPr>
              <a:t>Le gestionnaire le plus populaire pour les distributions basées sur Debian</a:t>
            </a:r>
            <a:endParaRPr lang="en-US" sz="1300" b="0" u="none" strike="noStrike">
              <a:solidFill>
                <a:srgbClr val="000000"/>
              </a:solidFill>
              <a:effectLst/>
              <a:uFillTx/>
              <a:latin typeface="Arial"/>
            </a:endParaRPr>
          </a:p>
        </p:txBody>
      </p:sp>
      <p:sp>
        <p:nvSpPr>
          <p:cNvPr id="241" name="Shape 5"/>
          <p:cNvSpPr/>
          <p:nvPr/>
        </p:nvSpPr>
        <p:spPr>
          <a:xfrm>
            <a:off x="1938960" y="4117320"/>
            <a:ext cx="5725440" cy="797040"/>
          </a:xfrm>
          <a:prstGeom prst="roundRect">
            <a:avLst>
              <a:gd name="adj" fmla="val 8940"/>
            </a:avLst>
          </a:prstGeom>
          <a:solidFill>
            <a:srgbClr val="f2f2f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242" name="Shape 6"/>
          <p:cNvSpPr/>
          <p:nvPr/>
        </p:nvSpPr>
        <p:spPr>
          <a:xfrm>
            <a:off x="1930320" y="4117320"/>
            <a:ext cx="5742360" cy="797040"/>
          </a:xfrm>
          <a:prstGeom prst="roundRect">
            <a:avLst>
              <a:gd name="adj" fmla="val 3193"/>
            </a:avLst>
          </a:prstGeom>
          <a:solidFill>
            <a:srgbClr val="f2f2f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243" name="Text 7"/>
          <p:cNvSpPr/>
          <p:nvPr/>
        </p:nvSpPr>
        <p:spPr>
          <a:xfrm>
            <a:off x="2100240" y="4244400"/>
            <a:ext cx="5402520" cy="542160"/>
          </a:xfrm>
          <a:prstGeom prst="rect">
            <a:avLst/>
          </a:prstGeom>
          <a:noFill/>
          <a:ln w="0">
            <a:noFill/>
          </a:ln>
        </p:spPr>
        <p:style>
          <a:lnRef idx="0"/>
          <a:fillRef idx="0"/>
          <a:effectRef idx="0"/>
          <a:fontRef idx="minor"/>
        </p:style>
        <p:txBody>
          <a:bodyPr lIns="0" rIns="0" tIns="0" bIns="0" anchor="t">
            <a:noAutofit/>
          </a:bodyPr>
          <a:p>
            <a:pPr>
              <a:lnSpc>
                <a:spcPts val="2100"/>
              </a:lnSpc>
              <a:tabLst>
                <a:tab algn="l" pos="0"/>
              </a:tabLst>
            </a:pPr>
            <a:r>
              <a:rPr lang="en-US" sz="1300" b="0" u="none" strike="noStrike">
                <a:solidFill>
                  <a:srgbClr val="272525"/>
                </a:solidFill>
                <a:effectLst/>
                <a:highlight>
                  <a:srgbClr val="f2f2f2"/>
                </a:highlight>
                <a:uFillTx/>
                <a:latin typeface="Consolas"/>
                <a:ea typeface="Consolas"/>
              </a:rPr>
              <a:t>sudo apt update</a:t>
            </a:r>
            <a:endParaRPr lang="en-US" sz="1300" b="0" u="none" strike="noStrike">
              <a:solidFill>
                <a:srgbClr val="000000"/>
              </a:solidFill>
              <a:effectLst/>
              <a:uFillTx/>
              <a:latin typeface="Arial"/>
            </a:endParaRPr>
          </a:p>
          <a:p>
            <a:pPr>
              <a:lnSpc>
                <a:spcPts val="2100"/>
              </a:lnSpc>
              <a:tabLst>
                <a:tab algn="l" pos="0"/>
              </a:tabLst>
            </a:pPr>
            <a:r>
              <a:rPr lang="en-US" sz="1300" b="0" u="none" strike="noStrike">
                <a:solidFill>
                  <a:srgbClr val="272525"/>
                </a:solidFill>
                <a:effectLst/>
                <a:highlight>
                  <a:srgbClr val="f2f2f2"/>
                </a:highlight>
                <a:uFillTx/>
                <a:latin typeface="Consolas"/>
                <a:ea typeface="Consolas"/>
              </a:rPr>
              <a:t>sudo apt install nginx</a:t>
            </a:r>
            <a:endParaRPr lang="en-US" sz="1300" b="0" u="none" strike="noStrike">
              <a:solidFill>
                <a:srgbClr val="000000"/>
              </a:solidFill>
              <a:effectLst/>
              <a:uFillTx/>
              <a:latin typeface="Arial"/>
            </a:endParaRPr>
          </a:p>
        </p:txBody>
      </p:sp>
      <p:pic>
        <p:nvPicPr>
          <p:cNvPr id="244" name="Image 1" descr="preencoded.png"/>
          <p:cNvPicPr/>
          <p:nvPr/>
        </p:nvPicPr>
        <p:blipFill>
          <a:blip r:embed="rId3">
            <a:extLst>
              <a:ext uri="{96DAC541-7B7A-43D3-8B79-37D633B846F1}">
                <asvg:svgBlip xmlns:asvg="http://schemas.microsoft.com/office/drawing/2016/SVG/main" r:embed="rId4"/>
              </a:ext>
            </a:extLst>
          </a:blip>
          <a:stretch/>
        </p:blipFill>
        <p:spPr>
          <a:xfrm>
            <a:off x="1938960" y="5234400"/>
            <a:ext cx="168120" cy="168120"/>
          </a:xfrm>
          <a:prstGeom prst="rect">
            <a:avLst/>
          </a:prstGeom>
          <a:noFill/>
          <a:ln w="0">
            <a:noFill/>
          </a:ln>
        </p:spPr>
      </p:pic>
      <p:sp>
        <p:nvSpPr>
          <p:cNvPr id="245" name="Shape 8"/>
          <p:cNvSpPr/>
          <p:nvPr/>
        </p:nvSpPr>
        <p:spPr>
          <a:xfrm>
            <a:off x="1938960" y="5478840"/>
            <a:ext cx="5725440" cy="21240"/>
          </a:xfrm>
          <a:prstGeom prst="rect">
            <a:avLst/>
          </a:prstGeom>
          <a:solidFill>
            <a:srgbClr val="4950bc"/>
          </a:solidFill>
          <a:ln w="0">
            <a:noFill/>
          </a:ln>
        </p:spPr>
        <p:style>
          <a:lnRef idx="0"/>
          <a:fillRef idx="0"/>
          <a:effectRef idx="0"/>
          <a:fontRef idx="minor"/>
        </p:style>
        <p:txBody>
          <a:bodyPr lIns="90000" rIns="90000" tIns="-21960" bIns="-21960" anchor="t">
            <a:noAutofit/>
          </a:bodyPr>
          <a:p>
            <a:pPr>
              <a:lnSpc>
                <a:spcPct val="100000"/>
              </a:lnSpc>
            </a:pPr>
            <a:endParaRPr lang="en-US" sz="1800" b="0" u="none" strike="noStrike">
              <a:solidFill>
                <a:srgbClr val="ffffff"/>
              </a:solidFill>
              <a:effectLst/>
              <a:uFillTx/>
              <a:latin typeface="Arial"/>
            </a:endParaRPr>
          </a:p>
        </p:txBody>
      </p:sp>
      <p:sp>
        <p:nvSpPr>
          <p:cNvPr id="246" name="Text 9"/>
          <p:cNvSpPr/>
          <p:nvPr/>
        </p:nvSpPr>
        <p:spPr>
          <a:xfrm>
            <a:off x="1938960" y="5609520"/>
            <a:ext cx="2123280" cy="263880"/>
          </a:xfrm>
          <a:prstGeom prst="rect">
            <a:avLst/>
          </a:prstGeom>
          <a:noFill/>
          <a:ln w="0">
            <a:noFill/>
          </a:ln>
        </p:spPr>
        <p:style>
          <a:lnRef idx="0"/>
          <a:fillRef idx="0"/>
          <a:effectRef idx="0"/>
          <a:fontRef idx="minor"/>
        </p:style>
        <p:txBody>
          <a:bodyPr wrap="none" lIns="0" rIns="0" tIns="0" bIns="0" anchor="t">
            <a:noAutofit/>
          </a:bodyPr>
          <a:p>
            <a:pPr>
              <a:lnSpc>
                <a:spcPts val="2049"/>
              </a:lnSpc>
              <a:tabLst>
                <a:tab algn="l" pos="0"/>
              </a:tabLst>
            </a:pPr>
            <a:r>
              <a:rPr lang="en-US" sz="1650" b="1" u="none" strike="noStrike">
                <a:solidFill>
                  <a:srgbClr val="272525"/>
                </a:solidFill>
                <a:effectLst/>
                <a:uFillTx/>
                <a:latin typeface="Inter Bold"/>
                <a:ea typeface="Inter Bold"/>
              </a:rPr>
              <a:t>DNF (Fedora/RHEL)</a:t>
            </a:r>
            <a:endParaRPr lang="en-US" sz="1650" b="0" u="none" strike="noStrike">
              <a:solidFill>
                <a:srgbClr val="000000"/>
              </a:solidFill>
              <a:effectLst/>
              <a:uFillTx/>
              <a:latin typeface="Arial"/>
            </a:endParaRPr>
          </a:p>
        </p:txBody>
      </p:sp>
      <p:sp>
        <p:nvSpPr>
          <p:cNvPr id="247" name="Text 10"/>
          <p:cNvSpPr/>
          <p:nvPr/>
        </p:nvSpPr>
        <p:spPr>
          <a:xfrm>
            <a:off x="1938960" y="6045120"/>
            <a:ext cx="5725440" cy="27000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lang="en-US" sz="1300" b="0" u="none" strike="noStrike">
                <a:solidFill>
                  <a:srgbClr val="272525"/>
                </a:solidFill>
                <a:effectLst/>
                <a:uFillTx/>
                <a:latin typeface="Inter"/>
                <a:ea typeface="Inter"/>
              </a:rPr>
              <a:t>Gestionnaire moderne pour les systèmes Red Hat et Fedora</a:t>
            </a:r>
            <a:endParaRPr lang="en-US" sz="1300" b="0" u="none" strike="noStrike">
              <a:solidFill>
                <a:srgbClr val="000000"/>
              </a:solidFill>
              <a:effectLst/>
              <a:uFillTx/>
              <a:latin typeface="Arial"/>
            </a:endParaRPr>
          </a:p>
        </p:txBody>
      </p:sp>
      <p:sp>
        <p:nvSpPr>
          <p:cNvPr id="248" name="Shape 11"/>
          <p:cNvSpPr/>
          <p:nvPr/>
        </p:nvSpPr>
        <p:spPr>
          <a:xfrm>
            <a:off x="1938960" y="6508440"/>
            <a:ext cx="5725440" cy="797040"/>
          </a:xfrm>
          <a:prstGeom prst="roundRect">
            <a:avLst>
              <a:gd name="adj" fmla="val 8940"/>
            </a:avLst>
          </a:prstGeom>
          <a:solidFill>
            <a:srgbClr val="f2f2f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249" name="Shape 12"/>
          <p:cNvSpPr/>
          <p:nvPr/>
        </p:nvSpPr>
        <p:spPr>
          <a:xfrm>
            <a:off x="1930320" y="6508440"/>
            <a:ext cx="5742360" cy="797040"/>
          </a:xfrm>
          <a:prstGeom prst="roundRect">
            <a:avLst>
              <a:gd name="adj" fmla="val 3193"/>
            </a:avLst>
          </a:prstGeom>
          <a:solidFill>
            <a:srgbClr val="f2f2f2"/>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250" name="Text 13"/>
          <p:cNvSpPr/>
          <p:nvPr/>
        </p:nvSpPr>
        <p:spPr>
          <a:xfrm>
            <a:off x="2100240" y="6635880"/>
            <a:ext cx="5402520" cy="542160"/>
          </a:xfrm>
          <a:prstGeom prst="rect">
            <a:avLst/>
          </a:prstGeom>
          <a:noFill/>
          <a:ln w="0">
            <a:noFill/>
          </a:ln>
        </p:spPr>
        <p:style>
          <a:lnRef idx="0"/>
          <a:fillRef idx="0"/>
          <a:effectRef idx="0"/>
          <a:fontRef idx="minor"/>
        </p:style>
        <p:txBody>
          <a:bodyPr lIns="0" rIns="0" tIns="0" bIns="0" anchor="t">
            <a:noAutofit/>
          </a:bodyPr>
          <a:p>
            <a:pPr>
              <a:lnSpc>
                <a:spcPts val="2100"/>
              </a:lnSpc>
              <a:tabLst>
                <a:tab algn="l" pos="0"/>
              </a:tabLst>
            </a:pPr>
            <a:r>
              <a:rPr lang="en-US" sz="1300" b="0" u="none" strike="noStrike">
                <a:solidFill>
                  <a:srgbClr val="272525"/>
                </a:solidFill>
                <a:effectLst/>
                <a:highlight>
                  <a:srgbClr val="f2f2f2"/>
                </a:highlight>
                <a:uFillTx/>
                <a:latin typeface="Consolas"/>
                <a:ea typeface="Consolas"/>
              </a:rPr>
              <a:t>sudo dnf update</a:t>
            </a:r>
            <a:endParaRPr lang="en-US" sz="1300" b="0" u="none" strike="noStrike">
              <a:solidFill>
                <a:srgbClr val="000000"/>
              </a:solidFill>
              <a:effectLst/>
              <a:uFillTx/>
              <a:latin typeface="Arial"/>
            </a:endParaRPr>
          </a:p>
          <a:p>
            <a:pPr>
              <a:lnSpc>
                <a:spcPts val="2100"/>
              </a:lnSpc>
              <a:tabLst>
                <a:tab algn="l" pos="0"/>
              </a:tabLst>
            </a:pPr>
            <a:r>
              <a:rPr lang="en-US" sz="1300" b="0" u="none" strike="noStrike">
                <a:solidFill>
                  <a:srgbClr val="272525"/>
                </a:solidFill>
                <a:effectLst/>
                <a:highlight>
                  <a:srgbClr val="f2f2f2"/>
                </a:highlight>
                <a:uFillTx/>
                <a:latin typeface="Consolas"/>
                <a:ea typeface="Consolas"/>
              </a:rPr>
              <a:t>sudo dnf install httpd</a:t>
            </a:r>
            <a:endParaRPr lang="en-US" sz="1300" b="0" u="none" strike="noStrike">
              <a:solidFill>
                <a:srgbClr val="000000"/>
              </a:solidFill>
              <a:effectLst/>
              <a:uFillTx/>
              <a:latin typeface="Arial"/>
            </a:endParaRPr>
          </a:p>
        </p:txBody>
      </p:sp>
      <p:pic>
        <p:nvPicPr>
          <p:cNvPr id="251" name="Image 2" descr="preencoded.png"/>
          <p:cNvPicPr/>
          <p:nvPr/>
        </p:nvPicPr>
        <p:blipFill>
          <a:blip r:embed="rId5"/>
          <a:stretch/>
        </p:blipFill>
        <p:spPr>
          <a:xfrm>
            <a:off x="8088480" y="1581120"/>
            <a:ext cx="4608720" cy="4608720"/>
          </a:xfrm>
          <a:prstGeom prst="rect">
            <a:avLst/>
          </a:prstGeom>
          <a:noFill/>
          <a:ln w="0">
            <a:noFill/>
          </a:ln>
        </p:spPr>
      </p:pic>
      <p:sp>
        <p:nvSpPr>
          <p:cNvPr id="252" name="Text 14"/>
          <p:cNvSpPr/>
          <p:nvPr/>
        </p:nvSpPr>
        <p:spPr>
          <a:xfrm>
            <a:off x="8088480" y="6383160"/>
            <a:ext cx="4608720" cy="813960"/>
          </a:xfrm>
          <a:prstGeom prst="rect">
            <a:avLst/>
          </a:prstGeom>
          <a:noFill/>
          <a:ln w="0">
            <a:noFill/>
          </a:ln>
        </p:spPr>
        <p:style>
          <a:lnRef idx="0"/>
          <a:fillRef idx="0"/>
          <a:effectRef idx="0"/>
          <a:fontRef idx="minor"/>
        </p:style>
        <p:txBody>
          <a:bodyPr lIns="0" rIns="0" tIns="0" bIns="0" anchor="t">
            <a:noAutofit/>
          </a:bodyPr>
          <a:p>
            <a:pPr>
              <a:lnSpc>
                <a:spcPts val="2100"/>
              </a:lnSpc>
              <a:tabLst>
                <a:tab algn="l" pos="0"/>
              </a:tabLst>
            </a:pPr>
            <a:r>
              <a:rPr lang="en-US" sz="1300" b="0" u="none" strike="noStrike">
                <a:solidFill>
                  <a:srgbClr val="272525"/>
                </a:solidFill>
                <a:effectLst/>
                <a:uFillTx/>
                <a:latin typeface="Inter"/>
                <a:ea typeface="Inter"/>
              </a:rPr>
              <a:t>Les gestionnaires de paquets vérifient automatiquement les signatures numériques pour garantir la sécurité des logiciels installés.</a:t>
            </a:r>
            <a:endParaRPr lang="en-US" sz="1300" b="0" u="none" strike="noStrike">
              <a:solidFill>
                <a:srgbClr val="000000"/>
              </a:solidFill>
              <a:effectLst/>
              <a:uFillTx/>
              <a:latin typeface="Arial"/>
            </a:endParaRPr>
          </a:p>
        </p:txBody>
      </p:sp>
      <p:sp>
        <p:nvSpPr>
          <p:cNvPr id="253" name="Shape 31"/>
          <p:cNvSpPr/>
          <p:nvPr/>
        </p:nvSpPr>
        <p:spPr>
          <a:xfrm>
            <a:off x="0" y="7772400"/>
            <a:ext cx="14628960" cy="455760"/>
          </a:xfrm>
          <a:prstGeom prst="roundRect">
            <a:avLst>
              <a:gd name="adj" fmla="val 4099"/>
            </a:avLst>
          </a:prstGeom>
          <a:solidFill>
            <a:srgbClr val="ffffff"/>
          </a:solidFill>
          <a:ln w="7620">
            <a:solidFill>
              <a:srgbClr val="ffffff"/>
            </a:solidFill>
            <a:round/>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
          <p:cNvSpPr/>
          <p:nvPr/>
        </p:nvSpPr>
        <p:spPr>
          <a:xfrm>
            <a:off x="2174400" y="770400"/>
            <a:ext cx="7999560" cy="57744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lang="en-US" sz="3200" b="1" u="none" strike="noStrike">
                <a:solidFill>
                  <a:srgbClr val="000000"/>
                </a:solidFill>
                <a:effectLst/>
                <a:uFillTx/>
                <a:latin typeface="Cambria"/>
              </a:rPr>
              <a:t>COMMENT RÉAGIR AUX PROBLÈMES</a:t>
            </a:r>
            <a:endParaRPr lang="en-US" sz="3200" b="0" u="none" strike="noStrike">
              <a:solidFill>
                <a:srgbClr val="000000"/>
              </a:solidFill>
              <a:effectLst/>
              <a:uFillTx/>
              <a:latin typeface="Arial"/>
            </a:endParaRPr>
          </a:p>
        </p:txBody>
      </p:sp>
      <p:sp>
        <p:nvSpPr>
          <p:cNvPr id="255" name="Shape 42"/>
          <p:cNvSpPr/>
          <p:nvPr/>
        </p:nvSpPr>
        <p:spPr>
          <a:xfrm>
            <a:off x="0" y="7772400"/>
            <a:ext cx="14628960" cy="455760"/>
          </a:xfrm>
          <a:prstGeom prst="roundRect">
            <a:avLst>
              <a:gd name="adj" fmla="val 4099"/>
            </a:avLst>
          </a:prstGeom>
          <a:solidFill>
            <a:srgbClr val="ffffff"/>
          </a:solidFill>
          <a:ln w="7620">
            <a:solidFill>
              <a:srgbClr val="ffffff"/>
            </a:solidFill>
            <a:round/>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256" name=""/>
          <p:cNvSpPr/>
          <p:nvPr/>
        </p:nvSpPr>
        <p:spPr>
          <a:xfrm>
            <a:off x="457200" y="1984320"/>
            <a:ext cx="5486040" cy="1654848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624"/>
              </a:spcBef>
              <a:spcAft>
                <a:spcPts val="425"/>
              </a:spcAft>
            </a:pPr>
            <a:r>
              <a:rPr lang="en-US" sz="2200" b="0" u="none" strike="noStrike">
                <a:solidFill>
                  <a:srgbClr val="000000"/>
                </a:solidFill>
                <a:effectLst/>
                <a:uFillTx/>
                <a:latin typeface="Inter Bold"/>
              </a:rPr>
              <a:t>Méthode simple en 5 étapes</a:t>
            </a:r>
            <a:endParaRPr lang="en-US" sz="2200" b="0" u="none" strike="noStrike">
              <a:solidFill>
                <a:srgbClr val="000000"/>
              </a:solidFill>
              <a:effectLst/>
              <a:uFillTx/>
              <a:latin typeface="Arial"/>
              <a:ea typeface="Microsoft YaHei"/>
            </a:endParaRPr>
          </a:p>
          <a:p>
            <a:pPr>
              <a:lnSpc>
                <a:spcPct val="100000"/>
              </a:lnSpc>
              <a:spcBef>
                <a:spcPts val="624"/>
              </a:spcBef>
              <a:spcAft>
                <a:spcPts val="425"/>
              </a:spcAft>
            </a:pPr>
            <a:r>
              <a:rPr lang="en-US" sz="2200" b="0" u="none" strike="noStrike">
                <a:solidFill>
                  <a:srgbClr val="000000"/>
                </a:solidFill>
                <a:effectLst/>
                <a:uFillTx/>
                <a:latin typeface="Inter Bold"/>
              </a:rPr>
              <a:t>Identifier le problème</a:t>
            </a:r>
            <a:endParaRPr lang="en-US" sz="2200" b="0" u="none" strike="noStrike">
              <a:solidFill>
                <a:srgbClr val="000000"/>
              </a:solidFill>
              <a:effectLst/>
              <a:uFillTx/>
              <a:latin typeface="Arial"/>
              <a:ea typeface="Microsoft YaHei"/>
            </a:endParaRPr>
          </a:p>
          <a:p>
            <a:pPr>
              <a:lnSpc>
                <a:spcPct val="100000"/>
              </a:lnSpc>
              <a:spcBef>
                <a:spcPts val="624"/>
              </a:spcBef>
              <a:spcAft>
                <a:spcPts val="425"/>
              </a:spcAft>
            </a:pPr>
            <a:r>
              <a:rPr lang="en-US" sz="2200" b="0" u="none" strike="noStrike">
                <a:solidFill>
                  <a:srgbClr val="000000"/>
                </a:solidFill>
                <a:effectLst/>
                <a:uFillTx/>
                <a:latin typeface="Inter Bold"/>
              </a:rPr>
              <a:t>Que se passe-t-il ?</a:t>
            </a:r>
            <a:endParaRPr lang="en-US" sz="2200" b="0" u="none" strike="noStrike">
              <a:solidFill>
                <a:srgbClr val="000000"/>
              </a:solidFill>
              <a:effectLst/>
              <a:uFillTx/>
              <a:latin typeface="Arial"/>
              <a:ea typeface="Microsoft YaHei"/>
            </a:endParaRPr>
          </a:p>
          <a:p>
            <a:pPr>
              <a:lnSpc>
                <a:spcPct val="100000"/>
              </a:lnSpc>
              <a:spcBef>
                <a:spcPts val="624"/>
              </a:spcBef>
              <a:spcAft>
                <a:spcPts val="425"/>
              </a:spcAft>
            </a:pPr>
            <a:r>
              <a:rPr lang="en-US" sz="2200" b="0" u="none" strike="noStrike">
                <a:solidFill>
                  <a:srgbClr val="000000"/>
                </a:solidFill>
                <a:effectLst/>
                <a:uFillTx/>
                <a:latin typeface="Inter Bold"/>
              </a:rPr>
              <a:t>Exemples : connexion impossible, fichier introuvable, service arrêté.</a:t>
            </a:r>
            <a:endParaRPr lang="en-US" sz="2200" b="0" u="none" strike="noStrike">
              <a:solidFill>
                <a:srgbClr val="000000"/>
              </a:solidFill>
              <a:effectLst/>
              <a:uFillTx/>
              <a:latin typeface="Arial"/>
              <a:ea typeface="Microsoft YaHei"/>
            </a:endParaRPr>
          </a:p>
          <a:p>
            <a:pPr>
              <a:lnSpc>
                <a:spcPct val="100000"/>
              </a:lnSpc>
              <a:spcBef>
                <a:spcPts val="624"/>
              </a:spcBef>
              <a:spcAft>
                <a:spcPts val="425"/>
              </a:spcAft>
            </a:pPr>
            <a:r>
              <a:rPr lang="en-US" sz="2200" b="0" u="none" strike="noStrike">
                <a:solidFill>
                  <a:srgbClr val="000000"/>
                </a:solidFill>
                <a:effectLst/>
                <a:uFillTx/>
                <a:latin typeface="Inter Bold"/>
              </a:rPr>
              <a:t>Lire les messages d’erreur</a:t>
            </a:r>
            <a:endParaRPr lang="en-US" sz="2200" b="0" u="none" strike="noStrike">
              <a:solidFill>
                <a:srgbClr val="000000"/>
              </a:solidFill>
              <a:effectLst/>
              <a:uFillTx/>
              <a:latin typeface="Arial"/>
              <a:ea typeface="Microsoft YaHei"/>
            </a:endParaRPr>
          </a:p>
          <a:p>
            <a:pPr>
              <a:lnSpc>
                <a:spcPct val="100000"/>
              </a:lnSpc>
              <a:spcBef>
                <a:spcPts val="624"/>
              </a:spcBef>
              <a:spcAft>
                <a:spcPts val="425"/>
              </a:spcAft>
            </a:pPr>
            <a:r>
              <a:rPr lang="en-US" sz="2200" b="0" u="none" strike="noStrike">
                <a:solidFill>
                  <a:srgbClr val="000000"/>
                </a:solidFill>
                <a:effectLst/>
                <a:uFillTx/>
                <a:latin typeface="Inter Bold"/>
              </a:rPr>
              <a:t>Ne pas ignorer le terminal.</a:t>
            </a:r>
            <a:endParaRPr lang="en-US" sz="2200" b="0" u="none" strike="noStrike">
              <a:solidFill>
                <a:srgbClr val="000000"/>
              </a:solidFill>
              <a:effectLst/>
              <a:uFillTx/>
              <a:latin typeface="Arial"/>
              <a:ea typeface="Microsoft YaHei"/>
            </a:endParaRPr>
          </a:p>
          <a:p>
            <a:pPr>
              <a:lnSpc>
                <a:spcPct val="100000"/>
              </a:lnSpc>
              <a:spcBef>
                <a:spcPts val="624"/>
              </a:spcBef>
              <a:spcAft>
                <a:spcPts val="425"/>
              </a:spcAft>
            </a:pPr>
            <a:r>
              <a:rPr lang="en-US" sz="2200" b="0" u="none" strike="noStrike">
                <a:solidFill>
                  <a:srgbClr val="000000"/>
                </a:solidFill>
                <a:effectLst/>
                <a:uFillTx/>
                <a:latin typeface="Inter Bold"/>
              </a:rPr>
              <a:t>Les messages donnent souvent la cause du problème.</a:t>
            </a:r>
            <a:endParaRPr lang="en-US" sz="2200" b="0" u="none" strike="noStrike">
              <a:solidFill>
                <a:srgbClr val="000000"/>
              </a:solidFill>
              <a:effectLst/>
              <a:uFillTx/>
              <a:latin typeface="Arial"/>
              <a:ea typeface="Microsoft YaHei"/>
            </a:endParaRPr>
          </a:p>
          <a:p>
            <a:pPr>
              <a:lnSpc>
                <a:spcPct val="100000"/>
              </a:lnSpc>
              <a:spcBef>
                <a:spcPts val="624"/>
              </a:spcBef>
              <a:spcAft>
                <a:spcPts val="425"/>
              </a:spcAft>
            </a:pPr>
            <a:r>
              <a:rPr lang="en-US" sz="2200" b="0" u="none" strike="noStrike">
                <a:solidFill>
                  <a:srgbClr val="000000"/>
                </a:solidFill>
                <a:effectLst/>
                <a:uFillTx/>
                <a:latin typeface="Inter Bold"/>
              </a:rPr>
              <a:t>Vérifier les éléments de base</a:t>
            </a:r>
            <a:endParaRPr lang="en-US" sz="2200" b="0" u="none" strike="noStrike">
              <a:solidFill>
                <a:srgbClr val="000000"/>
              </a:solidFill>
              <a:effectLst/>
              <a:uFillTx/>
              <a:latin typeface="Arial"/>
              <a:ea typeface="Microsoft YaHei"/>
            </a:endParaRPr>
          </a:p>
          <a:p>
            <a:pPr>
              <a:lnSpc>
                <a:spcPct val="100000"/>
              </a:lnSpc>
              <a:spcBef>
                <a:spcPts val="624"/>
              </a:spcBef>
              <a:spcAft>
                <a:spcPts val="425"/>
              </a:spcAft>
            </a:pPr>
            <a:r>
              <a:rPr lang="en-US" sz="2200" b="0" u="none" strike="noStrike">
                <a:solidFill>
                  <a:srgbClr val="000000"/>
                </a:solidFill>
                <a:effectLst/>
                <a:uFillTx/>
                <a:latin typeface="Inter Bold"/>
              </a:rPr>
              <a:t>Connexion réseau</a:t>
            </a:r>
            <a:endParaRPr lang="en-US" sz="2200" b="0" u="none" strike="noStrike">
              <a:solidFill>
                <a:srgbClr val="000000"/>
              </a:solidFill>
              <a:effectLst/>
              <a:uFillTx/>
              <a:latin typeface="Arial"/>
              <a:ea typeface="Microsoft YaHei"/>
            </a:endParaRPr>
          </a:p>
          <a:p>
            <a:pPr>
              <a:lnSpc>
                <a:spcPct val="100000"/>
              </a:lnSpc>
              <a:spcBef>
                <a:spcPts val="624"/>
              </a:spcBef>
              <a:spcAft>
                <a:spcPts val="425"/>
              </a:spcAft>
            </a:pPr>
            <a:r>
              <a:rPr lang="en-US" sz="2200" b="0" u="none" strike="noStrike">
                <a:solidFill>
                  <a:srgbClr val="000000"/>
                </a:solidFill>
                <a:effectLst/>
                <a:uFillTx/>
                <a:latin typeface="Inter Bold"/>
              </a:rPr>
              <a:t>Permissions utilisateur</a:t>
            </a:r>
            <a:endParaRPr lang="en-US" sz="2200" b="0" u="none" strike="noStrike">
              <a:solidFill>
                <a:srgbClr val="000000"/>
              </a:solidFill>
              <a:effectLst/>
              <a:uFillTx/>
              <a:latin typeface="Arial"/>
              <a:ea typeface="Microsoft YaHei"/>
            </a:endParaRPr>
          </a:p>
          <a:p>
            <a:pPr>
              <a:lnSpc>
                <a:spcPct val="100000"/>
              </a:lnSpc>
              <a:spcBef>
                <a:spcPts val="624"/>
              </a:spcBef>
              <a:spcAft>
                <a:spcPts val="425"/>
              </a:spcAft>
            </a:pPr>
            <a:r>
              <a:rPr lang="en-US" sz="2200" b="0" u="none" strike="noStrike">
                <a:solidFill>
                  <a:srgbClr val="000000"/>
                </a:solidFill>
                <a:effectLst/>
                <a:uFillTx/>
                <a:latin typeface="Inter Bold"/>
              </a:rPr>
              <a:t>Espace disque disponible</a:t>
            </a:r>
            <a:endParaRPr lang="en-US" sz="2200" b="0" u="none" strike="noStrike">
              <a:solidFill>
                <a:srgbClr val="000000"/>
              </a:solidFill>
              <a:effectLst/>
              <a:uFillTx/>
              <a:latin typeface="Arial"/>
              <a:ea typeface="Microsoft YaHei"/>
            </a:endParaRPr>
          </a:p>
          <a:p>
            <a:pPr>
              <a:lnSpc>
                <a:spcPct val="100000"/>
              </a:lnSpc>
              <a:spcBef>
                <a:spcPts val="624"/>
              </a:spcBef>
              <a:spcAft>
                <a:spcPts val="425"/>
              </a:spcAft>
            </a:pPr>
            <a:r>
              <a:rPr lang="en-US" sz="2200" b="0" u="none" strike="noStrike">
                <a:solidFill>
                  <a:srgbClr val="000000"/>
                </a:solidFill>
                <a:effectLst/>
                <a:uFillTx/>
                <a:latin typeface="Inter Bold"/>
              </a:rPr>
              <a:t>État des services</a:t>
            </a:r>
            <a:endParaRPr lang="en-US" sz="2200" b="0" u="none" strike="noStrike">
              <a:solidFill>
                <a:srgbClr val="000000"/>
              </a:solidFill>
              <a:effectLst/>
              <a:uFillTx/>
              <a:latin typeface="Arial"/>
              <a:ea typeface="Microsoft YaHei"/>
            </a:endParaRPr>
          </a:p>
          <a:p>
            <a:pPr>
              <a:lnSpc>
                <a:spcPct val="100000"/>
              </a:lnSpc>
              <a:spcBef>
                <a:spcPts val="624"/>
              </a:spcBef>
              <a:spcAft>
                <a:spcPts val="425"/>
              </a:spcAft>
            </a:pPr>
            <a:r>
              <a:rPr lang="en-US" sz="2200" b="0" u="none" strike="noStrike">
                <a:solidFill>
                  <a:srgbClr val="000000"/>
                </a:solidFill>
                <a:effectLst/>
                <a:uFillTx/>
                <a:latin typeface="Inter Bold"/>
              </a:rPr>
              <a:t>Consulter les journaux (logs)</a:t>
            </a:r>
            <a:endParaRPr lang="en-US" sz="2200" b="0" u="none" strike="noStrike">
              <a:solidFill>
                <a:srgbClr val="000000"/>
              </a:solidFill>
              <a:effectLst/>
              <a:uFillTx/>
              <a:latin typeface="Arial"/>
              <a:ea typeface="Microsoft YaHei"/>
            </a:endParaRPr>
          </a:p>
          <a:p>
            <a:pPr>
              <a:lnSpc>
                <a:spcPct val="100000"/>
              </a:lnSpc>
              <a:spcBef>
                <a:spcPts val="624"/>
              </a:spcBef>
              <a:spcAft>
                <a:spcPts val="425"/>
              </a:spcAft>
            </a:pPr>
            <a:r>
              <a:rPr lang="en-US" sz="2200" b="0" u="none" strike="noStrike">
                <a:solidFill>
                  <a:srgbClr val="000000"/>
                </a:solidFill>
                <a:effectLst/>
                <a:uFillTx/>
                <a:latin typeface="Inter Bold"/>
              </a:rPr>
              <a:t>Exemples :</a:t>
            </a:r>
            <a:endParaRPr lang="en-US" sz="2200" b="0" u="none" strike="noStrike">
              <a:solidFill>
                <a:srgbClr val="000000"/>
              </a:solidFill>
              <a:effectLst/>
              <a:uFillTx/>
              <a:latin typeface="Arial"/>
              <a:ea typeface="Microsoft YaHei"/>
            </a:endParaRPr>
          </a:p>
          <a:p>
            <a:pPr>
              <a:lnSpc>
                <a:spcPct val="100000"/>
              </a:lnSpc>
              <a:spcBef>
                <a:spcPts val="624"/>
              </a:spcBef>
              <a:spcAft>
                <a:spcPts val="425"/>
              </a:spcAft>
            </a:pPr>
            <a:r>
              <a:rPr lang="en-US" sz="2200" b="0" u="none" strike="noStrike">
                <a:solidFill>
                  <a:srgbClr val="000000"/>
                </a:solidFill>
                <a:effectLst/>
                <a:uFillTx/>
                <a:latin typeface="Inter Bold"/>
              </a:rPr>
              <a:t>Tester une solution progressivement</a:t>
            </a:r>
            <a:endParaRPr lang="en-US" sz="2200" b="0" u="none" strike="noStrike">
              <a:solidFill>
                <a:srgbClr val="000000"/>
              </a:solidFill>
              <a:effectLst/>
              <a:uFillTx/>
              <a:latin typeface="Arial"/>
              <a:ea typeface="Microsoft YaHei"/>
            </a:endParaRPr>
          </a:p>
          <a:p>
            <a:pPr>
              <a:lnSpc>
                <a:spcPct val="100000"/>
              </a:lnSpc>
              <a:spcBef>
                <a:spcPts val="624"/>
              </a:spcBef>
              <a:spcAft>
                <a:spcPts val="425"/>
              </a:spcAft>
            </a:pPr>
            <a:r>
              <a:rPr lang="en-US" sz="2200" b="0" u="none" strike="noStrike">
                <a:solidFill>
                  <a:srgbClr val="000000"/>
                </a:solidFill>
                <a:effectLst/>
                <a:uFillTx/>
                <a:latin typeface="Inter Bold"/>
              </a:rPr>
              <a:t>Faire un changement à la fois et vérifier le résultat avant de continuer.</a:t>
            </a:r>
            <a:endParaRPr lang="en-US" sz="2200" b="0" u="none" strike="noStrike">
              <a:solidFill>
                <a:srgbClr val="000000"/>
              </a:solidFill>
              <a:effectLst/>
              <a:uFillTx/>
              <a:latin typeface="Arial"/>
              <a:ea typeface="Microsoft YaHei"/>
            </a:endParaRPr>
          </a:p>
          <a:p>
            <a:pPr>
              <a:lnSpc>
                <a:spcPct val="100000"/>
              </a:lnSpc>
              <a:spcBef>
                <a:spcPts val="624"/>
              </a:spcBef>
              <a:spcAft>
                <a:spcPts val="425"/>
              </a:spcAft>
            </a:pPr>
            <a:r>
              <a:rPr lang="en-US" sz="2200" b="0" u="none" strike="noStrike">
                <a:solidFill>
                  <a:srgbClr val="000000"/>
                </a:solidFill>
                <a:effectLst/>
                <a:uFillTx/>
                <a:latin typeface="Inter Bold"/>
              </a:rPr>
              <a:t>Exemple simple</a:t>
            </a:r>
            <a:endParaRPr lang="en-US" sz="2200" b="1" u="none" strike="noStrike">
              <a:solidFill>
                <a:srgbClr val="000000"/>
              </a:solidFill>
              <a:effectLst/>
              <a:uFillTx/>
              <a:latin typeface="Arial"/>
              <a:ea typeface="Microsoft YaHei"/>
            </a:endParaRPr>
          </a:p>
          <a:p>
            <a:pPr>
              <a:lnSpc>
                <a:spcPct val="100000"/>
              </a:lnSpc>
              <a:spcBef>
                <a:spcPts val="624"/>
              </a:spcBef>
              <a:spcAft>
                <a:spcPts val="425"/>
              </a:spcAft>
            </a:pPr>
            <a:r>
              <a:rPr lang="en-US" sz="2200" b="0" u="none" strike="noStrike">
                <a:solidFill>
                  <a:srgbClr val="000000"/>
                </a:solidFill>
                <a:effectLst/>
                <a:uFillTx/>
                <a:latin typeface="Inter Bold"/>
              </a:rPr>
              <a:t>Problème : le serveur web ne répond plus.</a:t>
            </a:r>
            <a:endParaRPr lang="en-US" sz="2200" b="0" u="none" strike="noStrike">
              <a:solidFill>
                <a:srgbClr val="000000"/>
              </a:solidFill>
              <a:effectLst/>
              <a:uFillTx/>
              <a:latin typeface="Arial"/>
              <a:ea typeface="Microsoft YaHei"/>
            </a:endParaRPr>
          </a:p>
          <a:p>
            <a:pPr>
              <a:lnSpc>
                <a:spcPct val="100000"/>
              </a:lnSpc>
              <a:spcBef>
                <a:spcPts val="624"/>
              </a:spcBef>
              <a:spcAft>
                <a:spcPts val="425"/>
              </a:spcAft>
            </a:pPr>
            <a:r>
              <a:rPr lang="en-US" sz="2200" b="0" u="none" strike="noStrike">
                <a:solidFill>
                  <a:srgbClr val="000000"/>
                </a:solidFill>
                <a:effectLst/>
                <a:uFillTx/>
                <a:latin typeface="Inter Bold"/>
              </a:rPr>
              <a:t>Réaction :</a:t>
            </a:r>
            <a:endParaRPr lang="en-US" sz="2200" b="0" u="none" strike="noStrike">
              <a:solidFill>
                <a:srgbClr val="000000"/>
              </a:solidFill>
              <a:effectLst/>
              <a:uFillTx/>
              <a:latin typeface="Arial"/>
              <a:ea typeface="Microsoft YaHei"/>
            </a:endParaRPr>
          </a:p>
          <a:p>
            <a:pPr>
              <a:lnSpc>
                <a:spcPct val="100000"/>
              </a:lnSpc>
              <a:spcBef>
                <a:spcPts val="624"/>
              </a:spcBef>
              <a:spcAft>
                <a:spcPts val="425"/>
              </a:spcAft>
            </a:pPr>
            <a:r>
              <a:rPr lang="en-US" sz="2200" b="0" u="none" strike="noStrike">
                <a:solidFill>
                  <a:srgbClr val="000000"/>
                </a:solidFill>
                <a:effectLst/>
                <a:uFillTx/>
                <a:latin typeface="Inter Bold"/>
              </a:rPr>
              <a:t>Vérifier si le service fonctionne : systemctl status nginx</a:t>
            </a:r>
            <a:endParaRPr lang="en-US" sz="2200" b="0" u="none" strike="noStrike">
              <a:solidFill>
                <a:srgbClr val="000000"/>
              </a:solidFill>
              <a:effectLst/>
              <a:uFillTx/>
              <a:latin typeface="Arial"/>
              <a:ea typeface="Microsoft YaHei"/>
            </a:endParaRPr>
          </a:p>
          <a:p>
            <a:pPr>
              <a:lnSpc>
                <a:spcPct val="100000"/>
              </a:lnSpc>
              <a:spcBef>
                <a:spcPts val="624"/>
              </a:spcBef>
              <a:spcAft>
                <a:spcPts val="425"/>
              </a:spcAft>
            </a:pPr>
            <a:r>
              <a:rPr lang="en-US" sz="2200" b="0" u="none" strike="noStrike">
                <a:solidFill>
                  <a:srgbClr val="000000"/>
                </a:solidFill>
                <a:effectLst/>
                <a:uFillTx/>
                <a:latin typeface="Inter Bold"/>
              </a:rPr>
              <a:t>Consulter les logs : journalctl -u nginx</a:t>
            </a:r>
            <a:endParaRPr lang="en-US" sz="2200" b="0" u="none" strike="noStrike">
              <a:solidFill>
                <a:srgbClr val="000000"/>
              </a:solidFill>
              <a:effectLst/>
              <a:uFillTx/>
              <a:latin typeface="Arial"/>
              <a:ea typeface="Microsoft YaHei"/>
            </a:endParaRPr>
          </a:p>
          <a:p>
            <a:pPr>
              <a:lnSpc>
                <a:spcPct val="100000"/>
              </a:lnSpc>
              <a:spcBef>
                <a:spcPts val="624"/>
              </a:spcBef>
              <a:spcAft>
                <a:spcPts val="425"/>
              </a:spcAft>
            </a:pPr>
            <a:r>
              <a:rPr lang="en-US" sz="2200" b="0" u="none" strike="noStrike">
                <a:solidFill>
                  <a:srgbClr val="000000"/>
                </a:solidFill>
                <a:effectLst/>
                <a:uFillTx/>
                <a:latin typeface="Inter Bold"/>
              </a:rPr>
              <a:t>Redémarrer si nécessaire : sudo systemctl restart nginx</a:t>
            </a:r>
            <a:endParaRPr lang="en-US" sz="2200" b="0" u="none" strike="noStrike">
              <a:solidFill>
                <a:srgbClr val="000000"/>
              </a:solidFill>
              <a:effectLst/>
              <a:uFillTx/>
              <a:latin typeface="Arial"/>
              <a:ea typeface="Microsoft YaHei"/>
            </a:endParaRPr>
          </a:p>
          <a:p>
            <a:pPr>
              <a:lnSpc>
                <a:spcPct val="100000"/>
              </a:lnSpc>
              <a:spcBef>
                <a:spcPts val="624"/>
              </a:spcBef>
              <a:spcAft>
                <a:spcPts val="425"/>
              </a:spcAft>
            </a:pPr>
            <a:r>
              <a:rPr lang="en-US" sz="2200" b="0" u="none" strike="noStrike">
                <a:solidFill>
                  <a:srgbClr val="000000"/>
                </a:solidFill>
                <a:effectLst/>
                <a:uFillTx/>
                <a:latin typeface="Inter Bold"/>
              </a:rPr>
              <a:t>Tester l’accès au site.</a:t>
            </a:r>
            <a:endParaRPr lang="en-US" sz="2200" b="0" u="none" strike="noStrike">
              <a:solidFill>
                <a:srgbClr val="000000"/>
              </a:solidFill>
              <a:effectLst/>
              <a:uFillTx/>
              <a:latin typeface="Arial"/>
              <a:ea typeface="Microsoft YaHei"/>
            </a:endParaRPr>
          </a:p>
          <a:p>
            <a:pPr>
              <a:lnSpc>
                <a:spcPct val="100000"/>
              </a:lnSpc>
              <a:spcBef>
                <a:spcPts val="624"/>
              </a:spcBef>
              <a:spcAft>
                <a:spcPts val="425"/>
              </a:spcAft>
            </a:pPr>
            <a:r>
              <a:rPr lang="en-US" sz="2200" b="0" u="none" strike="noStrike">
                <a:solidFill>
                  <a:srgbClr val="000000"/>
                </a:solidFill>
                <a:effectLst/>
                <a:uFillTx/>
                <a:latin typeface="Inter Bold"/>
              </a:rPr>
              <a:t>Bonnes pratiques</a:t>
            </a:r>
            <a:endParaRPr lang="en-US" sz="2200" b="1" u="none" strike="noStrike">
              <a:solidFill>
                <a:srgbClr val="000000"/>
              </a:solidFill>
              <a:effectLst/>
              <a:uFillTx/>
              <a:latin typeface="Arial"/>
              <a:ea typeface="Microsoft YaHei"/>
            </a:endParaRPr>
          </a:p>
          <a:p>
            <a:pPr>
              <a:lnSpc>
                <a:spcPct val="100000"/>
              </a:lnSpc>
              <a:spcBef>
                <a:spcPts val="624"/>
              </a:spcBef>
              <a:spcAft>
                <a:spcPts val="425"/>
              </a:spcAft>
            </a:pPr>
            <a:r>
              <a:rPr lang="en-US" sz="2200" b="0" u="none" strike="noStrike">
                <a:solidFill>
                  <a:srgbClr val="000000"/>
                </a:solidFill>
                <a:effectLst/>
                <a:uFillTx/>
                <a:latin typeface="Inter Bold"/>
              </a:rPr>
              <a:t>Rester calme et méthodique.</a:t>
            </a:r>
            <a:endParaRPr lang="en-US" sz="2200" b="0" u="none" strike="noStrike">
              <a:solidFill>
                <a:srgbClr val="000000"/>
              </a:solidFill>
              <a:effectLst/>
              <a:uFillTx/>
              <a:latin typeface="Arial"/>
              <a:ea typeface="Microsoft YaHei"/>
            </a:endParaRPr>
          </a:p>
          <a:p>
            <a:pPr>
              <a:lnSpc>
                <a:spcPct val="100000"/>
              </a:lnSpc>
              <a:spcBef>
                <a:spcPts val="624"/>
              </a:spcBef>
              <a:spcAft>
                <a:spcPts val="425"/>
              </a:spcAft>
            </a:pPr>
            <a:r>
              <a:rPr lang="en-US" sz="2200" b="0" u="none" strike="noStrike">
                <a:solidFill>
                  <a:srgbClr val="000000"/>
                </a:solidFill>
                <a:effectLst/>
                <a:uFillTx/>
                <a:latin typeface="Inter Bold"/>
              </a:rPr>
              <a:t>Noter les actions effectuées.</a:t>
            </a:r>
            <a:endParaRPr lang="en-US" sz="2200" b="0" u="none" strike="noStrike">
              <a:solidFill>
                <a:srgbClr val="000000"/>
              </a:solidFill>
              <a:effectLst/>
              <a:uFillTx/>
              <a:latin typeface="Arial"/>
              <a:ea typeface="Microsoft YaHei"/>
            </a:endParaRPr>
          </a:p>
          <a:p>
            <a:pPr>
              <a:lnSpc>
                <a:spcPct val="100000"/>
              </a:lnSpc>
              <a:spcBef>
                <a:spcPts val="624"/>
              </a:spcBef>
              <a:spcAft>
                <a:spcPts val="425"/>
              </a:spcAft>
            </a:pPr>
            <a:r>
              <a:rPr lang="en-US" sz="2200" b="0" u="none" strike="noStrike">
                <a:solidFill>
                  <a:srgbClr val="000000"/>
                </a:solidFill>
                <a:effectLst/>
                <a:uFillTx/>
                <a:latin typeface="Inter Bold"/>
              </a:rPr>
              <a:t>Sauvegarder avant les modifications importantes.</a:t>
            </a:r>
            <a:endParaRPr lang="en-US" sz="2200" b="0" u="none" strike="noStrike">
              <a:solidFill>
                <a:srgbClr val="000000"/>
              </a:solidFill>
              <a:effectLst/>
              <a:uFillTx/>
              <a:latin typeface="Arial"/>
              <a:ea typeface="Microsoft YaHei"/>
            </a:endParaRPr>
          </a:p>
          <a:p>
            <a:pPr>
              <a:lnSpc>
                <a:spcPct val="100000"/>
              </a:lnSpc>
              <a:spcBef>
                <a:spcPts val="624"/>
              </a:spcBef>
              <a:spcAft>
                <a:spcPts val="425"/>
              </a:spcAft>
            </a:pPr>
            <a:r>
              <a:rPr lang="en-US" sz="2200" b="0" u="none" strike="noStrike">
                <a:solidFill>
                  <a:srgbClr val="000000"/>
                </a:solidFill>
                <a:effectLst/>
                <a:uFillTx/>
                <a:latin typeface="Inter Bold"/>
              </a:rPr>
              <a:t>Éviter de lancer des commandes inconnues copiées d’Internet sans les comprendre.</a:t>
            </a:r>
            <a:endParaRPr lang="en-US" sz="2200" b="0" u="none" strike="noStrike">
              <a:solidFill>
                <a:srgbClr val="000000"/>
              </a:solidFill>
              <a:effectLst/>
              <a:uFillTx/>
              <a:latin typeface="Arial"/>
              <a:ea typeface="Microsoft YaHei"/>
            </a:endParaRPr>
          </a:p>
          <a:p>
            <a:pPr>
              <a:lnSpc>
                <a:spcPct val="100000"/>
              </a:lnSpc>
              <a:spcBef>
                <a:spcPts val="624"/>
              </a:spcBef>
              <a:spcAft>
                <a:spcPts val="425"/>
              </a:spcAft>
            </a:pPr>
            <a:r>
              <a:rPr lang="en-US" sz="2200" b="0" u="none" strike="noStrike">
                <a:solidFill>
                  <a:srgbClr val="000000"/>
                </a:solidFill>
                <a:effectLst/>
                <a:uFillTx/>
                <a:latin typeface="Inter Bold"/>
              </a:rPr>
              <a:t>Demander de l’aide ou consulter la documentation officielle si nécessaire.</a:t>
            </a:r>
            <a:endParaRPr lang="en-US" sz="2200" b="0" u="none" strike="noStrike">
              <a:solidFill>
                <a:srgbClr val="000000"/>
              </a:solidFill>
              <a:effectLst/>
              <a:uFillTx/>
              <a:latin typeface="Arial"/>
              <a:ea typeface="Microsoft YaHei"/>
            </a:endParaRPr>
          </a:p>
          <a:p>
            <a:pPr>
              <a:lnSpc>
                <a:spcPct val="100000"/>
              </a:lnSpc>
              <a:spcBef>
                <a:spcPts val="624"/>
              </a:spcBef>
              <a:spcAft>
                <a:spcPts val="425"/>
              </a:spcAft>
            </a:pPr>
            <a:r>
              <a:rPr lang="en-US" sz="2200" b="0" u="none" strike="noStrike">
                <a:solidFill>
                  <a:srgbClr val="000000"/>
                </a:solidFill>
                <a:effectLst/>
                <a:uFillTx/>
                <a:latin typeface="Inter Bold"/>
              </a:rPr>
              <a:t>À retenir</a:t>
            </a:r>
            <a:endParaRPr lang="en-US" sz="2200" b="0" u="none" strike="noStrike">
              <a:solidFill>
                <a:srgbClr val="000000"/>
              </a:solidFill>
              <a:effectLst/>
              <a:uFillTx/>
              <a:latin typeface="Arial"/>
              <a:ea typeface="Microsoft YaHei"/>
            </a:endParaRPr>
          </a:p>
          <a:p>
            <a:pPr>
              <a:lnSpc>
                <a:spcPct val="100000"/>
              </a:lnSpc>
              <a:spcBef>
                <a:spcPts val="624"/>
              </a:spcBef>
              <a:spcAft>
                <a:spcPts val="425"/>
              </a:spcAft>
            </a:pPr>
            <a:r>
              <a:rPr lang="en-US" sz="2200" b="0" u="none" strike="noStrike">
                <a:solidFill>
                  <a:srgbClr val="000000"/>
                </a:solidFill>
                <a:effectLst/>
                <a:uFillTx/>
                <a:latin typeface="Inter Bold"/>
              </a:rPr>
              <a:t>Le dépannage sous Linux repose sur l’observation et la méthode.</a:t>
            </a:r>
            <a:endParaRPr lang="en-US" sz="2200" b="0" u="none" strike="noStrike">
              <a:solidFill>
                <a:srgbClr val="000000"/>
              </a:solidFill>
              <a:effectLst/>
              <a:uFillTx/>
              <a:latin typeface="Arial"/>
              <a:ea typeface="Microsoft YaHei"/>
            </a:endParaRPr>
          </a:p>
          <a:p>
            <a:pPr>
              <a:lnSpc>
                <a:spcPct val="100000"/>
              </a:lnSpc>
              <a:spcBef>
                <a:spcPts val="624"/>
              </a:spcBef>
              <a:spcAft>
                <a:spcPts val="425"/>
              </a:spcAft>
            </a:pPr>
            <a:r>
              <a:rPr lang="en-US" sz="2200" b="0" u="none" strike="noStrike">
                <a:solidFill>
                  <a:srgbClr val="000000"/>
                </a:solidFill>
                <a:effectLst/>
                <a:uFillTx/>
                <a:latin typeface="Inter Bold"/>
              </a:rPr>
              <a:t>Observer → Vérifier → Lire les logs → Tester → Valider.</a:t>
            </a:r>
            <a:endParaRPr lang="en-US" sz="2200" b="0" u="none" strike="noStrike">
              <a:solidFill>
                <a:srgbClr val="000000"/>
              </a:solidFill>
              <a:effectLst/>
              <a:uFillTx/>
              <a:latin typeface="Arial"/>
              <a:ea typeface="Microsoft YaHei"/>
            </a:endParaRPr>
          </a:p>
          <a:p>
            <a:pPr>
              <a:lnSpc>
                <a:spcPct val="100000"/>
              </a:lnSpc>
              <a:spcBef>
                <a:spcPts val="624"/>
              </a:spcBef>
              <a:spcAft>
                <a:spcPts val="425"/>
              </a:spcAft>
            </a:pPr>
            <a:r>
              <a:rPr lang="en-US" sz="2200" b="0" u="none" strike="noStrike">
                <a:solidFill>
                  <a:srgbClr val="000000"/>
                </a:solidFill>
                <a:effectLst/>
                <a:uFillTx/>
                <a:latin typeface="Inter Bold"/>
              </a:rPr>
              <a:t>Cette approche est adaptée à un niveau débutant et donne aux étudiants un réflexe professionnel de résolution de problèmes.</a:t>
            </a:r>
            <a:endParaRPr lang="en-US" sz="2200" b="0" u="none" strike="noStrike">
              <a:solidFill>
                <a:srgbClr val="000000"/>
              </a:solidFill>
              <a:effectLst/>
              <a:uFillTx/>
              <a:latin typeface="Arial"/>
              <a:ea typeface="Microsoft YaHei"/>
            </a:endParaRPr>
          </a:p>
          <a:p>
            <a:pPr>
              <a:lnSpc>
                <a:spcPct val="100000"/>
              </a:lnSpc>
              <a:spcBef>
                <a:spcPts val="624"/>
              </a:spcBef>
              <a:spcAft>
                <a:spcPts val="425"/>
              </a:spcAft>
            </a:pPr>
            <a:endParaRPr lang="en-US" sz="2200" b="0" u="none" strike="noStrike">
              <a:solidFill>
                <a:srgbClr val="000000"/>
              </a:solidFill>
              <a:effectLst/>
              <a:uFillTx/>
              <a:latin typeface="Arial"/>
              <a:ea typeface="Microsoft YaHei"/>
            </a:endParaRPr>
          </a:p>
        </p:txBody>
      </p:sp>
      <p:sp>
        <p:nvSpPr>
          <p:cNvPr id="257" name=""/>
          <p:cNvSpPr/>
          <p:nvPr/>
        </p:nvSpPr>
        <p:spPr>
          <a:xfrm>
            <a:off x="6858000" y="2379600"/>
            <a:ext cx="7314840" cy="31060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US" sz="2200" b="0" u="none" strike="noStrike">
              <a:solidFill>
                <a:srgbClr val="000000"/>
              </a:solidFill>
              <a:effectLst/>
              <a:uFillTx/>
              <a:latin typeface="Arial"/>
            </a:endParaRPr>
          </a:p>
          <a:p>
            <a:pPr>
              <a:lnSpc>
                <a:spcPct val="100000"/>
              </a:lnSpc>
            </a:pPr>
            <a:r>
              <a:rPr lang="en-US" sz="2200" b="0" u="none" strike="noStrike">
                <a:solidFill>
                  <a:srgbClr val="000000"/>
                </a:solidFill>
                <a:effectLst/>
                <a:uFillTx/>
                <a:latin typeface="Inter Bold"/>
              </a:rPr>
              <a:t>4. COPIER l'erreur dans Google</a:t>
            </a:r>
            <a:endParaRPr lang="en-US" sz="2200" b="0" u="none" strike="noStrike">
              <a:solidFill>
                <a:srgbClr val="000000"/>
              </a:solidFill>
              <a:effectLst/>
              <a:uFillTx/>
              <a:latin typeface="Arial"/>
            </a:endParaRPr>
          </a:p>
          <a:p>
            <a:pPr>
              <a:lnSpc>
                <a:spcPct val="100000"/>
              </a:lnSpc>
            </a:pPr>
            <a:r>
              <a:rPr lang="en-US" sz="2200" b="0" u="none" strike="noStrike">
                <a:solidFill>
                  <a:srgbClr val="000000"/>
                </a:solidFill>
                <a:effectLst/>
                <a:uFillTx/>
                <a:latin typeface="Inter Bold"/>
              </a:rPr>
              <a:t>- Ajouter "Ubuntu" ou "Linux"</a:t>
            </a:r>
            <a:endParaRPr lang="en-US" sz="2200" b="0" u="none" strike="noStrike">
              <a:solidFill>
                <a:srgbClr val="000000"/>
              </a:solidFill>
              <a:effectLst/>
              <a:uFillTx/>
              <a:latin typeface="Arial"/>
            </a:endParaRPr>
          </a:p>
          <a:p>
            <a:pPr>
              <a:lnSpc>
                <a:spcPct val="100000"/>
              </a:lnSpc>
            </a:pPr>
            <a:r>
              <a:rPr lang="en-US" sz="2200" b="0" u="none" strike="noStrike">
                <a:solidFill>
                  <a:srgbClr val="000000"/>
                </a:solidFill>
                <a:effectLst/>
                <a:uFillTx/>
                <a:latin typeface="Inter Bold"/>
              </a:rPr>
              <a:t>- Exemple : *"bash command not found ubuntu"</a:t>
            </a:r>
            <a:endParaRPr lang="en-US" sz="2200" b="0" u="none" strike="noStrike">
              <a:solidFill>
                <a:srgbClr val="000000"/>
              </a:solidFill>
              <a:effectLst/>
              <a:uFillTx/>
              <a:latin typeface="Arial"/>
            </a:endParaRPr>
          </a:p>
          <a:p>
            <a:pPr>
              <a:lnSpc>
                <a:spcPct val="100000"/>
              </a:lnSpc>
            </a:pPr>
            <a:endParaRPr lang="en-US" sz="2200" b="0" u="none" strike="noStrike">
              <a:solidFill>
                <a:srgbClr val="000000"/>
              </a:solidFill>
              <a:effectLst/>
              <a:uFillTx/>
              <a:latin typeface="Arial"/>
            </a:endParaRPr>
          </a:p>
          <a:p>
            <a:pPr>
              <a:lnSpc>
                <a:spcPct val="100000"/>
              </a:lnSpc>
            </a:pPr>
            <a:r>
              <a:rPr lang="en-US" sz="2200" b="0" u="none" strike="noStrike">
                <a:solidFill>
                  <a:srgbClr val="000000"/>
                </a:solidFill>
                <a:effectLst/>
                <a:uFillTx/>
                <a:latin typeface="Inter Bold"/>
              </a:rPr>
              <a:t>5. TESTER sur une machine virtuelle</a:t>
            </a:r>
            <a:endParaRPr lang="en-US" sz="2200" b="0" u="none" strike="noStrike">
              <a:solidFill>
                <a:srgbClr val="000000"/>
              </a:solidFill>
              <a:effectLst/>
              <a:uFillTx/>
              <a:latin typeface="Arial"/>
            </a:endParaRPr>
          </a:p>
          <a:p>
            <a:pPr>
              <a:lnSpc>
                <a:spcPct val="100000"/>
              </a:lnSpc>
            </a:pPr>
            <a:r>
              <a:rPr lang="en-US" sz="2200" b="0" u="none" strike="noStrike">
                <a:solidFill>
                  <a:srgbClr val="000000"/>
                </a:solidFill>
                <a:effectLst/>
                <a:uFillTx/>
                <a:latin typeface="Inter Bold"/>
              </a:rPr>
              <a:t>- Avant de toucher un vrai serveur</a:t>
            </a:r>
            <a:endParaRPr lang="en-US" sz="2200" b="0" u="none" strike="noStrike">
              <a:solidFill>
                <a:srgbClr val="000000"/>
              </a:solidFill>
              <a:effectLst/>
              <a:uFillTx/>
              <a:latin typeface="Arial"/>
            </a:endParaRPr>
          </a:p>
          <a:p>
            <a:pPr>
              <a:lnSpc>
                <a:spcPct val="100000"/>
              </a:lnSpc>
            </a:pPr>
            <a:r>
              <a:rPr lang="en-US" sz="2200" b="0" u="none" strike="noStrike">
                <a:solidFill>
                  <a:srgbClr val="000000"/>
                </a:solidFill>
                <a:effectLst/>
                <a:uFillTx/>
                <a:latin typeface="Inter Bold"/>
              </a:rPr>
              <a:t>- VirtualBox + Ubuntu = gratuit</a:t>
            </a:r>
            <a:endParaRPr lang="en-US" sz="2200" b="0" u="none" strike="noStrike">
              <a:solidFill>
                <a:srgbClr val="000000"/>
              </a:solidFill>
              <a:effectLst/>
              <a:uFillTx/>
              <a:latin typeface="Arial"/>
            </a:endParaRPr>
          </a:p>
          <a:p>
            <a:pPr>
              <a:lnSpc>
                <a:spcPct val="100000"/>
              </a:lnSpc>
            </a:pPr>
            <a:endParaRPr lang="en-U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Shape 0"/>
          <p:cNvSpPr/>
          <p:nvPr/>
        </p:nvSpPr>
        <p:spPr>
          <a:xfrm>
            <a:off x="2261520" y="556920"/>
            <a:ext cx="1239840" cy="298440"/>
          </a:xfrm>
          <a:prstGeom prst="roundRect">
            <a:avLst>
              <a:gd name="adj" fmla="val 17881"/>
            </a:avLst>
          </a:prstGeom>
          <a:solidFill>
            <a:srgbClr val="dadbf1"/>
          </a:solidFill>
          <a:ln w="0">
            <a:noFill/>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pic>
        <p:nvPicPr>
          <p:cNvPr id="259" name="Image 0" descr="preencoded.png"/>
          <p:cNvPicPr/>
          <p:nvPr/>
        </p:nvPicPr>
        <p:blipFill>
          <a:blip r:embed="rId1">
            <a:extLst>
              <a:ext uri="{96DAC541-7B7A-43D3-8B79-37D633B846F1}">
                <asvg:svgBlip xmlns:asvg="http://schemas.microsoft.com/office/drawing/2016/SVG/main" r:embed="rId2"/>
              </a:ext>
            </a:extLst>
          </a:blip>
          <a:stretch/>
        </p:blipFill>
        <p:spPr>
          <a:xfrm>
            <a:off x="2357280" y="643320"/>
            <a:ext cx="126000" cy="126000"/>
          </a:xfrm>
          <a:prstGeom prst="rect">
            <a:avLst/>
          </a:prstGeom>
          <a:noFill/>
          <a:ln w="0">
            <a:noFill/>
          </a:ln>
        </p:spPr>
      </p:pic>
      <p:sp>
        <p:nvSpPr>
          <p:cNvPr id="260" name="Text 1"/>
          <p:cNvSpPr/>
          <p:nvPr/>
        </p:nvSpPr>
        <p:spPr>
          <a:xfrm>
            <a:off x="2548800" y="604800"/>
            <a:ext cx="856440" cy="202680"/>
          </a:xfrm>
          <a:prstGeom prst="rect">
            <a:avLst/>
          </a:prstGeom>
          <a:noFill/>
          <a:ln w="0">
            <a:noFill/>
          </a:ln>
        </p:spPr>
        <p:style>
          <a:lnRef idx="0"/>
          <a:fillRef idx="0"/>
          <a:effectRef idx="0"/>
          <a:fontRef idx="minor"/>
        </p:style>
        <p:txBody>
          <a:bodyPr wrap="none" lIns="0" rIns="0" tIns="0" bIns="0" anchor="t">
            <a:noAutofit/>
          </a:bodyPr>
          <a:p>
            <a:pPr>
              <a:lnSpc>
                <a:spcPts val="1599"/>
              </a:lnSpc>
              <a:tabLst>
                <a:tab algn="l" pos="0"/>
              </a:tabLst>
            </a:pPr>
            <a:r>
              <a:rPr lang="en-US" sz="1000" b="0" u="none" strike="noStrike">
                <a:solidFill>
                  <a:srgbClr val="272525"/>
                </a:solidFill>
                <a:effectLst/>
                <a:uFillTx/>
                <a:latin typeface="Inter"/>
                <a:ea typeface="Inter"/>
              </a:rPr>
              <a:t>CONCLUSION</a:t>
            </a:r>
            <a:endParaRPr lang="en-US" sz="1000" b="0" u="none" strike="noStrike">
              <a:solidFill>
                <a:srgbClr val="000000"/>
              </a:solidFill>
              <a:effectLst/>
              <a:uFillTx/>
              <a:latin typeface="Arial"/>
            </a:endParaRPr>
          </a:p>
        </p:txBody>
      </p:sp>
      <p:sp>
        <p:nvSpPr>
          <p:cNvPr id="261" name="Text 2"/>
          <p:cNvSpPr/>
          <p:nvPr/>
        </p:nvSpPr>
        <p:spPr>
          <a:xfrm>
            <a:off x="2261520" y="921240"/>
            <a:ext cx="8627040" cy="497520"/>
          </a:xfrm>
          <a:prstGeom prst="rect">
            <a:avLst/>
          </a:prstGeom>
          <a:noFill/>
          <a:ln w="0">
            <a:noFill/>
          </a:ln>
        </p:spPr>
        <p:style>
          <a:lnRef idx="0"/>
          <a:fillRef idx="0"/>
          <a:effectRef idx="0"/>
          <a:fontRef idx="minor"/>
        </p:style>
        <p:txBody>
          <a:bodyPr wrap="none" lIns="0" rIns="0" tIns="0" bIns="0" anchor="t">
            <a:noAutofit/>
          </a:bodyPr>
          <a:p>
            <a:pPr>
              <a:lnSpc>
                <a:spcPts val="3900"/>
              </a:lnSpc>
              <a:tabLst>
                <a:tab algn="l" pos="0"/>
              </a:tabLst>
            </a:pPr>
            <a:r>
              <a:rPr lang="en-US" sz="3100" b="1" u="none" strike="noStrike">
                <a:solidFill>
                  <a:srgbClr val="000000"/>
                </a:solidFill>
                <a:effectLst/>
                <a:uFillTx/>
                <a:latin typeface="Inter Bold"/>
                <a:ea typeface="Inter Bold"/>
              </a:rPr>
              <a:t>Votre parcours Linux commence maintenant</a:t>
            </a:r>
            <a:endParaRPr lang="en-US" sz="3100" b="0" u="none" strike="noStrike">
              <a:solidFill>
                <a:srgbClr val="000000"/>
              </a:solidFill>
              <a:effectLst/>
              <a:uFillTx/>
              <a:latin typeface="Arial"/>
            </a:endParaRPr>
          </a:p>
        </p:txBody>
      </p:sp>
      <p:pic>
        <p:nvPicPr>
          <p:cNvPr id="262" name="Image 1" descr="preencoded.png"/>
          <p:cNvPicPr/>
          <p:nvPr/>
        </p:nvPicPr>
        <p:blipFill>
          <a:blip r:embed="rId3"/>
          <a:stretch/>
        </p:blipFill>
        <p:spPr>
          <a:xfrm>
            <a:off x="2261520" y="1839600"/>
            <a:ext cx="4856760" cy="4856760"/>
          </a:xfrm>
          <a:prstGeom prst="rect">
            <a:avLst/>
          </a:prstGeom>
          <a:noFill/>
          <a:ln w="0">
            <a:noFill/>
          </a:ln>
        </p:spPr>
      </p:pic>
      <p:sp>
        <p:nvSpPr>
          <p:cNvPr id="263" name="Shape 3"/>
          <p:cNvSpPr/>
          <p:nvPr/>
        </p:nvSpPr>
        <p:spPr>
          <a:xfrm>
            <a:off x="7517520" y="1839600"/>
            <a:ext cx="357480" cy="357480"/>
          </a:xfrm>
          <a:prstGeom prst="roundRect">
            <a:avLst>
              <a:gd name="adj" fmla="val 18672"/>
            </a:avLst>
          </a:prstGeom>
          <a:solidFill>
            <a:srgbClr val="dadbf1"/>
          </a:solidFill>
          <a:ln w="7620">
            <a:solidFill>
              <a:srgbClr val="c0c1d7"/>
            </a:solidFill>
            <a:round/>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264" name="Text 4"/>
          <p:cNvSpPr/>
          <p:nvPr/>
        </p:nvSpPr>
        <p:spPr>
          <a:xfrm>
            <a:off x="8037000" y="1894680"/>
            <a:ext cx="4035960" cy="248040"/>
          </a:xfrm>
          <a:prstGeom prst="rect">
            <a:avLst/>
          </a:prstGeom>
          <a:noFill/>
          <a:ln w="0">
            <a:noFill/>
          </a:ln>
        </p:spPr>
        <p:style>
          <a:lnRef idx="0"/>
          <a:fillRef idx="0"/>
          <a:effectRef idx="0"/>
          <a:fontRef idx="minor"/>
        </p:style>
        <p:txBody>
          <a:bodyPr wrap="none" lIns="0" rIns="0" tIns="0" bIns="0" anchor="t">
            <a:noAutofit/>
          </a:bodyPr>
          <a:p>
            <a:pPr>
              <a:lnSpc>
                <a:spcPts val="1950"/>
              </a:lnSpc>
              <a:tabLst>
                <a:tab algn="l" pos="0"/>
              </a:tabLst>
            </a:pPr>
            <a:r>
              <a:rPr lang="en-US" sz="1550" b="1" u="none" strike="noStrike">
                <a:solidFill>
                  <a:srgbClr val="272525"/>
                </a:solidFill>
                <a:effectLst/>
                <a:uFillTx/>
                <a:latin typeface="Inter Bold"/>
                <a:ea typeface="Inter Bold"/>
              </a:rPr>
              <a:t>Linux est essentiel</a:t>
            </a:r>
            <a:endParaRPr lang="en-US" sz="1550" b="0" u="none" strike="noStrike">
              <a:solidFill>
                <a:srgbClr val="000000"/>
              </a:solidFill>
              <a:effectLst/>
              <a:uFillTx/>
              <a:latin typeface="Arial"/>
            </a:endParaRPr>
          </a:p>
        </p:txBody>
      </p:sp>
      <p:sp>
        <p:nvSpPr>
          <p:cNvPr id="265" name="Text 5"/>
          <p:cNvSpPr/>
          <p:nvPr/>
        </p:nvSpPr>
        <p:spPr>
          <a:xfrm>
            <a:off x="8037000" y="2304000"/>
            <a:ext cx="4337640" cy="765000"/>
          </a:xfrm>
          <a:prstGeom prst="rect">
            <a:avLst/>
          </a:prstGeom>
          <a:noFill/>
          <a:ln w="0">
            <a:noFill/>
          </a:ln>
        </p:spPr>
        <p:style>
          <a:lnRef idx="0"/>
          <a:fillRef idx="0"/>
          <a:effectRef idx="0"/>
          <a:fontRef idx="minor"/>
        </p:style>
        <p:txBody>
          <a:bodyPr lIns="0" rIns="0" tIns="0" bIns="0" anchor="t">
            <a:noAutofit/>
          </a:bodyPr>
          <a:p>
            <a:pPr>
              <a:lnSpc>
                <a:spcPts val="2001"/>
              </a:lnSpc>
              <a:tabLst>
                <a:tab algn="l" pos="0"/>
              </a:tabLst>
            </a:pPr>
            <a:r>
              <a:rPr lang="en-US" sz="1250" b="0" u="none" strike="noStrike">
                <a:solidFill>
                  <a:srgbClr val="272525"/>
                </a:solidFill>
                <a:effectLst/>
                <a:uFillTx/>
                <a:latin typeface="Inter"/>
                <a:ea typeface="Inter"/>
              </a:rPr>
              <a:t>De l'administration système au développement cloud, Linux est au cœur de l'infrastructure technologique moderne.</a:t>
            </a:r>
            <a:endParaRPr lang="en-US" sz="1250" b="0" u="none" strike="noStrike">
              <a:solidFill>
                <a:srgbClr val="000000"/>
              </a:solidFill>
              <a:effectLst/>
              <a:uFillTx/>
              <a:latin typeface="Arial"/>
            </a:endParaRPr>
          </a:p>
        </p:txBody>
      </p:sp>
      <p:sp>
        <p:nvSpPr>
          <p:cNvPr id="266" name="Shape 6"/>
          <p:cNvSpPr/>
          <p:nvPr/>
        </p:nvSpPr>
        <p:spPr>
          <a:xfrm>
            <a:off x="7517520" y="3390480"/>
            <a:ext cx="357480" cy="357480"/>
          </a:xfrm>
          <a:prstGeom prst="roundRect">
            <a:avLst>
              <a:gd name="adj" fmla="val 18672"/>
            </a:avLst>
          </a:prstGeom>
          <a:solidFill>
            <a:srgbClr val="dadbf1"/>
          </a:solidFill>
          <a:ln w="7620">
            <a:solidFill>
              <a:srgbClr val="c0c1d7"/>
            </a:solidFill>
            <a:round/>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267" name="Text 7"/>
          <p:cNvSpPr/>
          <p:nvPr/>
        </p:nvSpPr>
        <p:spPr>
          <a:xfrm>
            <a:off x="8037000" y="3445200"/>
            <a:ext cx="3210840" cy="248040"/>
          </a:xfrm>
          <a:prstGeom prst="rect">
            <a:avLst/>
          </a:prstGeom>
          <a:noFill/>
          <a:ln w="0">
            <a:noFill/>
          </a:ln>
        </p:spPr>
        <p:style>
          <a:lnRef idx="0"/>
          <a:fillRef idx="0"/>
          <a:effectRef idx="0"/>
          <a:fontRef idx="minor"/>
        </p:style>
        <p:txBody>
          <a:bodyPr wrap="none" lIns="0" rIns="0" tIns="0" bIns="0" anchor="t">
            <a:noAutofit/>
          </a:bodyPr>
          <a:p>
            <a:pPr>
              <a:lnSpc>
                <a:spcPts val="1950"/>
              </a:lnSpc>
              <a:tabLst>
                <a:tab algn="l" pos="0"/>
              </a:tabLst>
            </a:pPr>
            <a:r>
              <a:rPr lang="en-US" sz="1550" b="1" u="none" strike="noStrike">
                <a:solidFill>
                  <a:srgbClr val="272525"/>
                </a:solidFill>
                <a:effectLst/>
                <a:uFillTx/>
                <a:latin typeface="Inter Bold"/>
                <a:ea typeface="Inter Bold"/>
              </a:rPr>
              <a:t>La pratique quotidienne est la clé</a:t>
            </a:r>
            <a:endParaRPr lang="en-US" sz="1550" b="0" u="none" strike="noStrike">
              <a:solidFill>
                <a:srgbClr val="000000"/>
              </a:solidFill>
              <a:effectLst/>
              <a:uFillTx/>
              <a:latin typeface="Arial"/>
            </a:endParaRPr>
          </a:p>
        </p:txBody>
      </p:sp>
      <p:sp>
        <p:nvSpPr>
          <p:cNvPr id="268" name="Text 8"/>
          <p:cNvSpPr/>
          <p:nvPr/>
        </p:nvSpPr>
        <p:spPr>
          <a:xfrm>
            <a:off x="8037000" y="3854880"/>
            <a:ext cx="4337640" cy="765000"/>
          </a:xfrm>
          <a:prstGeom prst="rect">
            <a:avLst/>
          </a:prstGeom>
          <a:noFill/>
          <a:ln w="0">
            <a:noFill/>
          </a:ln>
        </p:spPr>
        <p:style>
          <a:lnRef idx="0"/>
          <a:fillRef idx="0"/>
          <a:effectRef idx="0"/>
          <a:fontRef idx="minor"/>
        </p:style>
        <p:txBody>
          <a:bodyPr lIns="0" rIns="0" tIns="0" bIns="0" anchor="t">
            <a:noAutofit/>
          </a:bodyPr>
          <a:p>
            <a:pPr>
              <a:lnSpc>
                <a:spcPts val="2001"/>
              </a:lnSpc>
              <a:tabLst>
                <a:tab algn="l" pos="0"/>
              </a:tabLst>
            </a:pPr>
            <a:r>
              <a:rPr lang="en-US" sz="1250" b="0" u="none" strike="noStrike">
                <a:solidFill>
                  <a:srgbClr val="272525"/>
                </a:solidFill>
                <a:effectLst/>
                <a:uFillTx/>
                <a:latin typeface="Inter"/>
                <a:ea typeface="Inter"/>
              </a:rPr>
              <a:t>Installez une distribution Linux sur une machine virtuelle ou en dual-boot. Utilisez le terminal régulièrement pour développer vos compétences.</a:t>
            </a:r>
            <a:endParaRPr lang="en-US" sz="1250" b="0" u="none" strike="noStrike">
              <a:solidFill>
                <a:srgbClr val="000000"/>
              </a:solidFill>
              <a:effectLst/>
              <a:uFillTx/>
              <a:latin typeface="Arial"/>
            </a:endParaRPr>
          </a:p>
        </p:txBody>
      </p:sp>
      <p:sp>
        <p:nvSpPr>
          <p:cNvPr id="269" name="Shape 9"/>
          <p:cNvSpPr/>
          <p:nvPr/>
        </p:nvSpPr>
        <p:spPr>
          <a:xfrm>
            <a:off x="7517520" y="4941360"/>
            <a:ext cx="357480" cy="357480"/>
          </a:xfrm>
          <a:prstGeom prst="roundRect">
            <a:avLst>
              <a:gd name="adj" fmla="val 18672"/>
            </a:avLst>
          </a:prstGeom>
          <a:solidFill>
            <a:srgbClr val="dadbf1"/>
          </a:solidFill>
          <a:ln w="7620">
            <a:solidFill>
              <a:srgbClr val="c0c1d7"/>
            </a:solidFill>
            <a:round/>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270" name="Text 10"/>
          <p:cNvSpPr/>
          <p:nvPr/>
        </p:nvSpPr>
        <p:spPr>
          <a:xfrm>
            <a:off x="8037000" y="4996080"/>
            <a:ext cx="3150360" cy="248040"/>
          </a:xfrm>
          <a:prstGeom prst="rect">
            <a:avLst/>
          </a:prstGeom>
          <a:noFill/>
          <a:ln w="0">
            <a:noFill/>
          </a:ln>
        </p:spPr>
        <p:style>
          <a:lnRef idx="0"/>
          <a:fillRef idx="0"/>
          <a:effectRef idx="0"/>
          <a:fontRef idx="minor"/>
        </p:style>
        <p:txBody>
          <a:bodyPr wrap="none" lIns="0" rIns="0" tIns="0" bIns="0" anchor="t">
            <a:noAutofit/>
          </a:bodyPr>
          <a:p>
            <a:pPr>
              <a:lnSpc>
                <a:spcPts val="1950"/>
              </a:lnSpc>
              <a:tabLst>
                <a:tab algn="l" pos="0"/>
              </a:tabLst>
            </a:pPr>
            <a:r>
              <a:rPr lang="en-US" sz="1550" b="1" u="none" strike="noStrike">
                <a:solidFill>
                  <a:srgbClr val="272525"/>
                </a:solidFill>
                <a:effectLst/>
                <a:uFillTx/>
                <a:latin typeface="Inter Bold"/>
                <a:ea typeface="Inter Bold"/>
              </a:rPr>
              <a:t>Maîtriser Linux ouvre des portes</a:t>
            </a:r>
            <a:endParaRPr lang="en-US" sz="1550" b="0" u="none" strike="noStrike">
              <a:solidFill>
                <a:srgbClr val="000000"/>
              </a:solidFill>
              <a:effectLst/>
              <a:uFillTx/>
              <a:latin typeface="Arial"/>
            </a:endParaRPr>
          </a:p>
        </p:txBody>
      </p:sp>
      <p:sp>
        <p:nvSpPr>
          <p:cNvPr id="271" name="Text 11"/>
          <p:cNvSpPr/>
          <p:nvPr/>
        </p:nvSpPr>
        <p:spPr>
          <a:xfrm>
            <a:off x="8037000" y="5405400"/>
            <a:ext cx="4337640" cy="1020600"/>
          </a:xfrm>
          <a:prstGeom prst="rect">
            <a:avLst/>
          </a:prstGeom>
          <a:noFill/>
          <a:ln w="0">
            <a:noFill/>
          </a:ln>
        </p:spPr>
        <p:style>
          <a:lnRef idx="0"/>
          <a:fillRef idx="0"/>
          <a:effectRef idx="0"/>
          <a:fontRef idx="minor"/>
        </p:style>
        <p:txBody>
          <a:bodyPr lIns="0" rIns="0" tIns="0" bIns="0" anchor="t">
            <a:noAutofit/>
          </a:bodyPr>
          <a:p>
            <a:pPr>
              <a:lnSpc>
                <a:spcPts val="2001"/>
              </a:lnSpc>
              <a:tabLst>
                <a:tab algn="l" pos="0"/>
              </a:tabLst>
            </a:pPr>
            <a:r>
              <a:rPr lang="en-US" sz="1250" b="0" u="none" strike="noStrike">
                <a:solidFill>
                  <a:srgbClr val="272525"/>
                </a:solidFill>
                <a:effectLst/>
                <a:uFillTx/>
                <a:latin typeface="Inter"/>
                <a:ea typeface="Inter"/>
              </a:rPr>
              <a:t>Les compétences Linux sont très recherchées sur le marché du travail. Chaque heure investie dans l'apprentissage est un investissement dans votre carrière.</a:t>
            </a:r>
            <a:endParaRPr lang="en-US" sz="1250" b="0" u="none" strike="noStrike">
              <a:solidFill>
                <a:srgbClr val="000000"/>
              </a:solidFill>
              <a:effectLst/>
              <a:uFillTx/>
              <a:latin typeface="Arial"/>
            </a:endParaRPr>
          </a:p>
        </p:txBody>
      </p:sp>
      <p:sp>
        <p:nvSpPr>
          <p:cNvPr id="272" name="Shape 33"/>
          <p:cNvSpPr/>
          <p:nvPr/>
        </p:nvSpPr>
        <p:spPr>
          <a:xfrm>
            <a:off x="0" y="7772400"/>
            <a:ext cx="14628960" cy="455760"/>
          </a:xfrm>
          <a:prstGeom prst="roundRect">
            <a:avLst>
              <a:gd name="adj" fmla="val 4099"/>
            </a:avLst>
          </a:prstGeom>
          <a:solidFill>
            <a:srgbClr val="ffffff"/>
          </a:solidFill>
          <a:ln w="7620">
            <a:solidFill>
              <a:srgbClr val="ffffff"/>
            </a:solidFill>
            <a:round/>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
          <p:cNvSpPr/>
          <p:nvPr/>
        </p:nvSpPr>
        <p:spPr>
          <a:xfrm>
            <a:off x="2174400" y="770400"/>
            <a:ext cx="7999560" cy="57744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spcBef>
                <a:spcPts val="1191"/>
              </a:spcBef>
              <a:spcAft>
                <a:spcPts val="992"/>
              </a:spcAft>
            </a:pPr>
            <a:r>
              <a:rPr lang="en-US" sz="3200" b="1" u="none" strike="noStrike">
                <a:solidFill>
                  <a:srgbClr val="000000"/>
                </a:solidFill>
                <a:effectLst/>
                <a:uFillTx/>
                <a:latin typeface="Cambria"/>
              </a:rPr>
              <a:t>MESSAGE DE FIN</a:t>
            </a:r>
            <a:endParaRPr lang="en-US" sz="3200" b="0" u="none" strike="noStrike">
              <a:solidFill>
                <a:srgbClr val="000000"/>
              </a:solidFill>
              <a:effectLst/>
              <a:uFillTx/>
              <a:latin typeface="Arial"/>
            </a:endParaRPr>
          </a:p>
        </p:txBody>
      </p:sp>
      <p:sp>
        <p:nvSpPr>
          <p:cNvPr id="274" name="Shape 43"/>
          <p:cNvSpPr/>
          <p:nvPr/>
        </p:nvSpPr>
        <p:spPr>
          <a:xfrm>
            <a:off x="0" y="7772400"/>
            <a:ext cx="14628960" cy="455760"/>
          </a:xfrm>
          <a:prstGeom prst="roundRect">
            <a:avLst>
              <a:gd name="adj" fmla="val 4099"/>
            </a:avLst>
          </a:prstGeom>
          <a:solidFill>
            <a:srgbClr val="ffffff"/>
          </a:solidFill>
          <a:ln w="7620">
            <a:solidFill>
              <a:srgbClr val="ffffff"/>
            </a:solidFill>
            <a:round/>
          </a:ln>
        </p:spPr>
        <p:style>
          <a:lnRef idx="0"/>
          <a:fillRef idx="0"/>
          <a:effectRef idx="0"/>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Arial"/>
            </a:endParaRPr>
          </a:p>
        </p:txBody>
      </p:sp>
      <p:sp>
        <p:nvSpPr>
          <p:cNvPr id="275" name=""/>
          <p:cNvSpPr/>
          <p:nvPr/>
        </p:nvSpPr>
        <p:spPr>
          <a:xfrm>
            <a:off x="914400" y="1990800"/>
            <a:ext cx="8273160" cy="980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1" u="none" strike="noStrike">
                <a:solidFill>
                  <a:srgbClr val="000000"/>
                </a:solidFill>
                <a:effectLst/>
                <a:uFillTx/>
                <a:latin typeface="Cambria"/>
              </a:rPr>
              <a:t>Linux n’est pas difficile, il est exigeant.</a:t>
            </a:r>
            <a:endParaRPr lang="en-US" sz="1800" b="0" u="none" strike="noStrike">
              <a:solidFill>
                <a:srgbClr val="000000"/>
              </a:solidFill>
              <a:effectLst/>
              <a:uFillTx/>
              <a:latin typeface="Arial"/>
            </a:endParaRPr>
          </a:p>
          <a:p>
            <a:pPr>
              <a:lnSpc>
                <a:spcPct val="100000"/>
              </a:lnSpc>
            </a:pPr>
            <a:r>
              <a:rPr lang="en-US" sz="1800" b="1" u="none" strike="noStrike">
                <a:solidFill>
                  <a:srgbClr val="000000"/>
                </a:solidFill>
                <a:effectLst/>
                <a:uFillTx/>
                <a:latin typeface="Cambria"/>
              </a:rPr>
              <a:t>Les bases font toute la différence.</a:t>
            </a:r>
            <a:endParaRPr lang="en-US" sz="1800" b="0" u="none" strike="noStrike">
              <a:solidFill>
                <a:srgbClr val="000000"/>
              </a:solidFill>
              <a:effectLst/>
              <a:uFillTx/>
              <a:latin typeface="Arial"/>
            </a:endParaRPr>
          </a:p>
        </p:txBody>
      </p:sp>
      <p:sp>
        <p:nvSpPr>
          <p:cNvPr id="276" name=""/>
          <p:cNvSpPr/>
          <p:nvPr/>
        </p:nvSpPr>
        <p:spPr>
          <a:xfrm>
            <a:off x="4114800" y="4700160"/>
            <a:ext cx="6359760" cy="1699920"/>
          </a:xfrm>
          <a:prstGeom prst="rect">
            <a:avLst/>
          </a:prstGeom>
          <a:noFill/>
          <a:ln w="0">
            <a:noFill/>
          </a:ln>
        </p:spPr>
        <p:style>
          <a:lnRef idx="0"/>
          <a:fillRef idx="0"/>
          <a:effectRef idx="0"/>
          <a:fontRef idx="minor"/>
        </p:style>
        <p:txBody>
          <a:bodyPr lIns="90000" rIns="90000" tIns="45000" bIns="45000" anchor="t" anchorCtr="1">
            <a:spAutoFit/>
          </a:bodyPr>
          <a:p>
            <a:pPr>
              <a:lnSpc>
                <a:spcPct val="100000"/>
              </a:lnSpc>
            </a:pPr>
            <a:r>
              <a:rPr lang="en-US" sz="3600" b="1" u="none" strike="noStrike">
                <a:solidFill>
                  <a:srgbClr val="000000"/>
                </a:solidFill>
                <a:effectLst/>
                <a:uFillTx/>
                <a:latin typeface="Cambria"/>
              </a:rPr>
              <a:t>Merci pour votre attention.</a:t>
            </a:r>
            <a:endParaRPr lang="en-US" sz="3600" b="0" u="none" strike="noStrike">
              <a:solidFill>
                <a:srgbClr val="000000"/>
              </a:solidFill>
              <a:effectLst/>
              <a:uFillTx/>
              <a:latin typeface="Arial"/>
            </a:endParaRPr>
          </a:p>
          <a:p>
            <a:pPr>
              <a:lnSpc>
                <a:spcPct val="100000"/>
              </a:lnSpc>
            </a:pPr>
            <a:endParaRPr lang="en-US" sz="3600" b="0" u="none" strike="noStrike">
              <a:solidFill>
                <a:srgbClr val="000000"/>
              </a:solidFill>
              <a:effectLst/>
              <a:uFillTx/>
              <a:latin typeface="Arial"/>
            </a:endParaRPr>
          </a:p>
          <a:p>
            <a:pPr algn="ctr">
              <a:lnSpc>
                <a:spcPct val="100000"/>
              </a:lnSpc>
            </a:pPr>
            <a:r>
              <a:rPr lang="en-US" sz="3600" b="1" u="none" strike="noStrike">
                <a:solidFill>
                  <a:srgbClr val="000000"/>
                </a:solidFill>
                <a:effectLst/>
                <a:uFillTx/>
                <a:latin typeface="Cambria"/>
              </a:rPr>
              <a:t>Questions ?</a:t>
            </a:r>
            <a:endParaRPr lang="en-US" sz="3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93</TotalTime>
  <Application>LibreOffice/25.8.6.2$Windows_X86_64 LibreOffice_project/b4b39682cd9868fa725bc664aff94278d315bd04</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2026-01-17T15:42:01Z</dcterms:created>
  <dc:creator/>
  <dc:description/>
  <dc:language>en-US</dc:language>
  <cp:lastModifiedBy/>
  <dcterms:modified xsi:type="dcterms:W3CDTF">2026-06-06T16:50:47Z</dcterms:modified>
  <cp:revision>29</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vt:i4>
  </property>
  <property fmtid="{D5CDD505-2E9C-101B-9397-08002B2CF9AE}" pid="3" name="PresentationFormat">
    <vt:lpwstr>On-screen Show (16:9)</vt:lpwstr>
  </property>
  <property fmtid="{D5CDD505-2E9C-101B-9397-08002B2CF9AE}" pid="4" name="Slides">
    <vt:i4>10</vt:i4>
  </property>
</Properties>
</file>